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ContentType="application/vnd.openxmlformats-officedocument.presentationml.slide+xml" PartName="/ppt/slides/slide1.xml"/>
  <Override ContentType="application/vnd.openxmlformats-officedocument.presentationml.notesSlide+xml" PartName="/ppt/notesSlides/notesSlide1.xml"/>
  <Override ContentType="application/vnd.openxmlformats-officedocument.presentationml.slide+xml" PartName="/ppt/slides/slide2.xml"/>
  <Override ContentType="application/vnd.openxmlformats-officedocument.presentationml.notesSlide+xml" PartName="/ppt/notesSlides/notesSlide2.xml"/>
  <Override ContentType="application/vnd.openxmlformats-officedocument.presentationml.slide+xml" PartName="/ppt/slides/slide3.xml"/>
  <Override ContentType="application/vnd.openxmlformats-officedocument.presentationml.notesSlide+xml" PartName="/ppt/notesSlides/notesSlide3.xml"/>
  <Override ContentType="application/vnd.openxmlformats-officedocument.presentationml.slide+xml" PartName="/ppt/slides/slide4.xml"/>
  <Override ContentType="application/vnd.openxmlformats-officedocument.presentationml.notesSlide+xml" PartName="/ppt/notesSlides/notesSlide4.xml"/>
  <Override ContentType="application/vnd.openxmlformats-officedocument.presentationml.slide+xml" PartName="/ppt/slides/slide5.xml"/>
  <Override ContentType="application/vnd.openxmlformats-officedocument.presentationml.notesSlide+xml" PartName="/ppt/notesSlides/notesSlide5.xml"/>
  <Override ContentType="application/vnd.openxmlformats-officedocument.presentationml.slide+xml" PartName="/ppt/slides/slide6.xml"/>
  <Override ContentType="application/vnd.openxmlformats-officedocument.presentationml.notesSlide+xml" PartName="/ppt/notesSlides/notesSlide6.xml"/>
  <Override ContentType="application/vnd.openxmlformats-officedocument.presentationml.slide+xml" PartName="/ppt/slides/slide7.xml"/>
  <Override ContentType="application/vnd.openxmlformats-officedocument.presentationml.notesSlide+xml" PartName="/ppt/notesSlides/notesSlide7.xml"/>
  <Override ContentType="application/vnd.openxmlformats-officedocument.presentationml.slide+xml" PartName="/ppt/slides/slide8.xml"/>
  <Override ContentType="application/vnd.openxmlformats-officedocument.presentationml.notesSlide+xml" PartName="/ppt/notesSlides/notesSlide8.xml"/>
  <Override ContentType="application/vnd.openxmlformats-officedocument.presentationml.slide+xml" PartName="/ppt/slides/slide9.xml"/>
  <Override ContentType="application/vnd.openxmlformats-officedocument.presentationml.notesSlide+xml" PartName="/ppt/notesSlides/notesSlide9.xml"/>
  <Override ContentType="application/vnd.openxmlformats-officedocument.presentationml.slide+xml" PartName="/ppt/slides/slide10.xml"/>
  <Override ContentType="application/vnd.openxmlformats-officedocument.presentationml.notesSlide+xml" PartName="/ppt/notesSlides/notesSlide10.xml"/>
  <Override ContentType="application/vnd.openxmlformats-officedocument.presentationml.slide+xml" PartName="/ppt/slides/slide11.xml"/>
  <Override ContentType="application/vnd.openxmlformats-officedocument.presentationml.notesSlide+xml" PartName="/ppt/notesSlides/notesSlide11.xml"/>
  <Override ContentType="application/vnd.openxmlformats-officedocument.presentationml.slide+xml" PartName="/ppt/slides/slide12.xml"/>
  <Override ContentType="application/vnd.openxmlformats-officedocument.presentationml.notesSlide+xml" PartName="/ppt/notesSlides/notesSlide12.xml"/>
  <Override ContentType="application/vnd.openxmlformats-officedocument.presentationml.slide+xml" PartName="/ppt/slides/slide13.xml"/>
  <Override ContentType="application/vnd.openxmlformats-officedocument.presentationml.notesSlide+xml" PartName="/ppt/notesSlides/notesSlide13.xml"/>
  <Override ContentType="application/vnd.openxmlformats-officedocument.presentationml.slide+xml" PartName="/ppt/slides/slide14.xml"/>
  <Override ContentType="application/vnd.openxmlformats-officedocument.presentationml.notesSlide+xml" PartName="/ppt/notesSlides/notesSlide14.xml"/>
  <Override ContentType="application/vnd.openxmlformats-officedocument.presentationml.slide+xml" PartName="/ppt/slides/slide15.xml"/>
  <Override ContentType="application/vnd.openxmlformats-officedocument.presentationml.notesSlide+xml" PartName="/ppt/notesSlides/notesSlide1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88825"/>
  <p:notesSz cx="7010400" cy="9296400"/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7" orient="horz"/>
        <p:guide pos="3897" orient="horz"/>
        <p:guide pos="546" orient="horz"/>
        <p:guide pos="738" orient="horz"/>
        <p:guide pos="4319" orient="horz"/>
        <p:guide pos="1272" orient="horz"/>
        <p:guide pos="212"/>
        <p:guide pos="7468"/>
        <p:guide pos="3832" orient="horz"/>
        <p:guide pos="386" orient="horz"/>
        <p:guide pos="1024" orient="horz"/>
        <p:guide pos="2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28" orient="horz"/>
        <p:guide pos="2208"/>
      </p:guideLst>
    </p:cSldViewPr>
  </p:notes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-1" y="0"/>
            <a:ext cx="504979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766485" y="0"/>
            <a:ext cx="124391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7" name="Google Shape;7;n"/>
          <p:cNvCxnSpPr/>
          <p:nvPr/>
        </p:nvCxnSpPr>
        <p:spPr>
          <a:xfrm>
            <a:off x="5832389" y="0"/>
            <a:ext cx="0" cy="469557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-US"/>
              <a:t>Why Apex Cursors?</a:t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4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2d03ce6db4_0_0:notes"/>
          <p:cNvSpPr txBox="1"/>
          <p:nvPr>
            <p:ph idx="1" type="body"/>
          </p:nvPr>
        </p:nvSpPr>
        <p:spPr>
          <a:xfrm>
            <a:off x="407987" y="4415790"/>
            <a:ext cx="6194400" cy="41835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22d03ce6db4_0_0:notes"/>
          <p:cNvSpPr/>
          <p:nvPr>
            <p:ph idx="2" type="sldImg"/>
          </p:nvPr>
        </p:nvSpPr>
        <p:spPr>
          <a:xfrm>
            <a:off x="407988" y="696913"/>
            <a:ext cx="61944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_A" showMasterSp="0">
  <p:cSld name="Title Slide_A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360362" y="2691891"/>
            <a:ext cx="109083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050F"/>
              </a:buClr>
              <a:buSzPts val="5400"/>
              <a:buFont typeface="Arial"/>
              <a:buNone/>
              <a:defRPr sz="5400">
                <a:solidFill>
                  <a:srgbClr val="89050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" name="Google Shape;15;p2"/>
          <p:cNvCxnSpPr/>
          <p:nvPr/>
        </p:nvCxnSpPr>
        <p:spPr>
          <a:xfrm>
            <a:off x="353648" y="4091980"/>
            <a:ext cx="11583652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.png"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213" y="189569"/>
            <a:ext cx="2162128" cy="1803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5150" y="4152900"/>
            <a:ext cx="6543675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 txBox="1"/>
          <p:nvPr/>
        </p:nvSpPr>
        <p:spPr>
          <a:xfrm>
            <a:off x="9290709" y="4139475"/>
            <a:ext cx="273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800000"/>
                </a:solidFill>
              </a:rPr>
              <a:t>#LDNsCall #LC26</a:t>
            </a:r>
            <a:endParaRPr sz="1600">
              <a:solidFill>
                <a:srgbClr val="800000"/>
              </a:solidFill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345156" y="4913240"/>
            <a:ext cx="47226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/>
          <a:p>
            <a:pPr indent="-1397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​"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20" name="Google Shape;20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5232" y="410900"/>
            <a:ext cx="6443619" cy="158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912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">
  <p:cSld name="Basic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" type="body"/>
          </p:nvPr>
        </p:nvSpPr>
        <p:spPr>
          <a:xfrm>
            <a:off x="338325" y="1020943"/>
            <a:ext cx="11484900" cy="52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/>
            </a:lvl1pPr>
            <a:lvl2pPr indent="-3429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5pPr>
            <a:lvl6pPr indent="-342900" lvl="5" marL="2743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2">
  <p:cSld name="Basic 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338327" y="90720"/>
            <a:ext cx="11515535" cy="9080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338328" y="1021080"/>
            <a:ext cx="114848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​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column">
  <p:cSld name="2-colum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38329" y="1599480"/>
            <a:ext cx="556415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​"/>
              <a:defRPr/>
            </a:lvl4pPr>
            <a:lvl5pPr indent="-2921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6153636" y="1599480"/>
            <a:ext cx="557626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​"/>
              <a:defRPr/>
            </a:lvl4pPr>
            <a:lvl5pPr indent="-2921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type="title"/>
          </p:nvPr>
        </p:nvSpPr>
        <p:spPr>
          <a:xfrm>
            <a:off x="338327" y="90720"/>
            <a:ext cx="11515535" cy="9080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338325" y="1021073"/>
            <a:ext cx="114849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​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lumn">
  <p:cSld name="3_colum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idx="1" type="body"/>
          </p:nvPr>
        </p:nvSpPr>
        <p:spPr>
          <a:xfrm>
            <a:off x="338328" y="1599480"/>
            <a:ext cx="3749040" cy="4352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​"/>
              <a:defRPr/>
            </a:lvl4pPr>
            <a:lvl5pPr indent="-2921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4235127" y="1599480"/>
            <a:ext cx="3728166" cy="4352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​"/>
              <a:defRPr/>
            </a:lvl4pPr>
            <a:lvl5pPr indent="-2921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3" type="body"/>
          </p:nvPr>
        </p:nvSpPr>
        <p:spPr>
          <a:xfrm>
            <a:off x="8090178" y="1599480"/>
            <a:ext cx="3749040" cy="4352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​"/>
              <a:defRPr/>
            </a:lvl4pPr>
            <a:lvl5pPr indent="-2921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4" type="body"/>
          </p:nvPr>
        </p:nvSpPr>
        <p:spPr>
          <a:xfrm>
            <a:off x="338328" y="1021080"/>
            <a:ext cx="1148486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​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338327" y="90720"/>
            <a:ext cx="11515535" cy="9080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ird split">
  <p:cSld name="Third spli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38327" y="90720"/>
            <a:ext cx="11515535" cy="9080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38325" y="1601725"/>
            <a:ext cx="7608900" cy="48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​"/>
              <a:defRPr/>
            </a:lvl4pPr>
            <a:lvl5pPr indent="-2921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8312848" y="1601787"/>
            <a:ext cx="3542602" cy="4235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5pPr>
            <a:lvl6pPr indent="-355600" lvl="5" marL="2743200" algn="l">
              <a:spcBef>
                <a:spcPts val="6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spcBef>
                <a:spcPts val="36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spcBef>
                <a:spcPts val="36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spcBef>
                <a:spcPts val="36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42" name="Google Shape;42;p7"/>
          <p:cNvSpPr/>
          <p:nvPr/>
        </p:nvSpPr>
        <p:spPr>
          <a:xfrm flipH="1">
            <a:off x="8128017" y="1600200"/>
            <a:ext cx="64008" cy="6072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7"/>
          <p:cNvCxnSpPr/>
          <p:nvPr/>
        </p:nvCxnSpPr>
        <p:spPr>
          <a:xfrm>
            <a:off x="8128017" y="1600200"/>
            <a:ext cx="0" cy="423672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38328" y="1021080"/>
            <a:ext cx="1148486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5pPr>
            <a:lvl6pPr indent="-355600" lvl="5" marL="2743200" algn="l">
              <a:spcBef>
                <a:spcPts val="6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spcBef>
                <a:spcPts val="36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spcBef>
                <a:spcPts val="36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spcBef>
                <a:spcPts val="36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ird split 2">
  <p:cSld name="Third split 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338327" y="90720"/>
            <a:ext cx="11515535" cy="9080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338328" y="1601723"/>
            <a:ext cx="3502152" cy="4325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5pPr>
            <a:lvl6pPr indent="-355600" lvl="5" marL="2743200" algn="l">
              <a:spcBef>
                <a:spcPts val="6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spcBef>
                <a:spcPts val="36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spcBef>
                <a:spcPts val="36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spcBef>
                <a:spcPts val="36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206250" y="1603250"/>
            <a:ext cx="7649100" cy="47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​"/>
              <a:defRPr/>
            </a:lvl4pPr>
            <a:lvl5pPr indent="-2921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/>
          <p:nvPr/>
        </p:nvSpPr>
        <p:spPr>
          <a:xfrm>
            <a:off x="3966951" y="1600200"/>
            <a:ext cx="64008" cy="6072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8"/>
          <p:cNvCxnSpPr/>
          <p:nvPr/>
        </p:nvCxnSpPr>
        <p:spPr>
          <a:xfrm>
            <a:off x="4030959" y="1600200"/>
            <a:ext cx="0" cy="4326775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8"/>
          <p:cNvSpPr txBox="1"/>
          <p:nvPr>
            <p:ph idx="3" type="body"/>
          </p:nvPr>
        </p:nvSpPr>
        <p:spPr>
          <a:xfrm>
            <a:off x="338328" y="1021080"/>
            <a:ext cx="1148486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​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-column photos">
  <p:cSld name="4-column photo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/>
          <p:nvPr/>
        </p:nvSpPr>
        <p:spPr>
          <a:xfrm>
            <a:off x="6207877" y="381000"/>
            <a:ext cx="292375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9"/>
          <p:cNvSpPr txBox="1"/>
          <p:nvPr>
            <p:ph type="title"/>
          </p:nvPr>
        </p:nvSpPr>
        <p:spPr>
          <a:xfrm>
            <a:off x="338327" y="90720"/>
            <a:ext cx="11515535" cy="9080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/>
          <p:nvPr>
            <p:ph idx="2" type="pic"/>
          </p:nvPr>
        </p:nvSpPr>
        <p:spPr>
          <a:xfrm>
            <a:off x="332623" y="1703211"/>
            <a:ext cx="2727179" cy="390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25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​"/>
              <a:defRPr b="0" i="0" sz="1600" u="none" cap="none" strike="noStrike">
                <a:solidFill>
                  <a:srgbClr val="0079A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​"/>
              <a:defRPr b="0" i="0" sz="1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9"/>
          <p:cNvSpPr/>
          <p:nvPr>
            <p:ph idx="3" type="pic"/>
          </p:nvPr>
        </p:nvSpPr>
        <p:spPr>
          <a:xfrm>
            <a:off x="3257205" y="1703211"/>
            <a:ext cx="2727179" cy="390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25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​"/>
              <a:defRPr b="0" i="0" sz="1600" u="none" cap="none" strike="noStrike">
                <a:solidFill>
                  <a:srgbClr val="0079A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​"/>
              <a:defRPr b="0" i="0" sz="1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9"/>
          <p:cNvSpPr/>
          <p:nvPr>
            <p:ph idx="4" type="pic"/>
          </p:nvPr>
        </p:nvSpPr>
        <p:spPr>
          <a:xfrm>
            <a:off x="6181787" y="1703211"/>
            <a:ext cx="2727179" cy="390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25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​"/>
              <a:defRPr b="0" i="0" sz="1600" u="none" cap="none" strike="noStrike">
                <a:solidFill>
                  <a:srgbClr val="0079A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​"/>
              <a:defRPr b="0" i="0" sz="1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9"/>
          <p:cNvSpPr/>
          <p:nvPr>
            <p:ph idx="5" type="pic"/>
          </p:nvPr>
        </p:nvSpPr>
        <p:spPr>
          <a:xfrm>
            <a:off x="9106369" y="1703211"/>
            <a:ext cx="2727179" cy="390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25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​"/>
              <a:defRPr b="0" i="0" sz="1600" u="none" cap="none" strike="noStrike">
                <a:solidFill>
                  <a:srgbClr val="0079A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​"/>
              <a:defRPr b="0" i="0" sz="1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59" name="Google Shape;59;p9"/>
          <p:cNvCxnSpPr/>
          <p:nvPr/>
        </p:nvCxnSpPr>
        <p:spPr>
          <a:xfrm>
            <a:off x="338328" y="5702300"/>
            <a:ext cx="2715768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9"/>
          <p:cNvCxnSpPr/>
          <p:nvPr/>
        </p:nvCxnSpPr>
        <p:spPr>
          <a:xfrm>
            <a:off x="3264407" y="5702300"/>
            <a:ext cx="2715768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9"/>
          <p:cNvCxnSpPr/>
          <p:nvPr/>
        </p:nvCxnSpPr>
        <p:spPr>
          <a:xfrm>
            <a:off x="6187492" y="5702300"/>
            <a:ext cx="2715768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9"/>
          <p:cNvCxnSpPr/>
          <p:nvPr/>
        </p:nvCxnSpPr>
        <p:spPr>
          <a:xfrm>
            <a:off x="9113258" y="5702300"/>
            <a:ext cx="2715768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333375" y="5786195"/>
            <a:ext cx="2720975" cy="502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5pPr>
            <a:lvl6pPr indent="-3175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64" name="Google Shape;64;p9"/>
          <p:cNvSpPr txBox="1"/>
          <p:nvPr>
            <p:ph idx="6" type="body"/>
          </p:nvPr>
        </p:nvSpPr>
        <p:spPr>
          <a:xfrm>
            <a:off x="3264408" y="5786195"/>
            <a:ext cx="2720975" cy="502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5pPr>
            <a:lvl6pPr indent="-3175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65" name="Google Shape;65;p9"/>
          <p:cNvSpPr txBox="1"/>
          <p:nvPr>
            <p:ph idx="7" type="body"/>
          </p:nvPr>
        </p:nvSpPr>
        <p:spPr>
          <a:xfrm>
            <a:off x="6190488" y="5786195"/>
            <a:ext cx="2720975" cy="502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5pPr>
            <a:lvl6pPr indent="-3175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66" name="Google Shape;66;p9"/>
          <p:cNvSpPr txBox="1"/>
          <p:nvPr>
            <p:ph idx="8" type="body"/>
          </p:nvPr>
        </p:nvSpPr>
        <p:spPr>
          <a:xfrm>
            <a:off x="9113258" y="5786195"/>
            <a:ext cx="2720975" cy="502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5pPr>
            <a:lvl6pPr indent="-3175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67" name="Google Shape;67;p9"/>
          <p:cNvSpPr txBox="1"/>
          <p:nvPr>
            <p:ph idx="9" type="body"/>
          </p:nvPr>
        </p:nvSpPr>
        <p:spPr>
          <a:xfrm>
            <a:off x="338328" y="1021080"/>
            <a:ext cx="1148486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​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-column multi">
  <p:cSld name="4-column multi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6207877" y="381000"/>
            <a:ext cx="292375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0"/>
          <p:cNvSpPr txBox="1"/>
          <p:nvPr>
            <p:ph type="title"/>
          </p:nvPr>
        </p:nvSpPr>
        <p:spPr>
          <a:xfrm>
            <a:off x="338327" y="90720"/>
            <a:ext cx="11515535" cy="9080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338328" y="3526970"/>
            <a:ext cx="2715768" cy="2383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4pPr>
            <a:lvl5pPr indent="-279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00"/>
              <a:buChar char="​"/>
              <a:defRPr sz="8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2" type="body"/>
          </p:nvPr>
        </p:nvSpPr>
        <p:spPr>
          <a:xfrm>
            <a:off x="3272035" y="3526971"/>
            <a:ext cx="2715768" cy="238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4pPr>
            <a:lvl5pPr indent="-279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00"/>
              <a:buChar char="​"/>
              <a:defRPr sz="8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3" type="body"/>
          </p:nvPr>
        </p:nvSpPr>
        <p:spPr>
          <a:xfrm>
            <a:off x="6205742" y="3526971"/>
            <a:ext cx="2715768" cy="238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4pPr>
            <a:lvl5pPr indent="-279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00"/>
              <a:buChar char="​"/>
              <a:defRPr sz="8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4" type="body"/>
          </p:nvPr>
        </p:nvSpPr>
        <p:spPr>
          <a:xfrm>
            <a:off x="9139449" y="3526971"/>
            <a:ext cx="2715768" cy="238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4pPr>
            <a:lvl5pPr indent="-279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00"/>
              <a:buChar char="​"/>
              <a:defRPr sz="8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0"/>
          <p:cNvSpPr/>
          <p:nvPr>
            <p:ph idx="5" type="pic"/>
          </p:nvPr>
        </p:nvSpPr>
        <p:spPr>
          <a:xfrm>
            <a:off x="344424" y="1703212"/>
            <a:ext cx="2703576" cy="1695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25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​"/>
              <a:defRPr b="0" i="0" sz="1600" u="none" cap="none" strike="noStrike">
                <a:solidFill>
                  <a:srgbClr val="0079A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​"/>
              <a:defRPr b="0" i="0" sz="1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0"/>
          <p:cNvSpPr/>
          <p:nvPr>
            <p:ph idx="6" type="pic"/>
          </p:nvPr>
        </p:nvSpPr>
        <p:spPr>
          <a:xfrm>
            <a:off x="3266831" y="1703212"/>
            <a:ext cx="2723180" cy="1695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25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​"/>
              <a:defRPr b="0" i="0" sz="1600" u="none" cap="none" strike="noStrike">
                <a:solidFill>
                  <a:srgbClr val="0079A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​"/>
              <a:defRPr b="0" i="0" sz="1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0"/>
          <p:cNvSpPr/>
          <p:nvPr>
            <p:ph idx="7" type="pic"/>
          </p:nvPr>
        </p:nvSpPr>
        <p:spPr>
          <a:xfrm>
            <a:off x="6205415" y="1703212"/>
            <a:ext cx="2705660" cy="1695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25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​"/>
              <a:defRPr b="0" i="0" sz="1600" u="none" cap="none" strike="noStrike">
                <a:solidFill>
                  <a:srgbClr val="0079A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​"/>
              <a:defRPr b="0" i="0" sz="1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0"/>
          <p:cNvSpPr/>
          <p:nvPr>
            <p:ph idx="8" type="pic"/>
          </p:nvPr>
        </p:nvSpPr>
        <p:spPr>
          <a:xfrm>
            <a:off x="9126479" y="1703212"/>
            <a:ext cx="2724209" cy="1695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25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​"/>
              <a:defRPr b="0" i="0" sz="1600" u="none" cap="none" strike="noStrike">
                <a:solidFill>
                  <a:srgbClr val="0079A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​"/>
              <a:defRPr b="0" i="0" sz="1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79" name="Google Shape;79;p10"/>
          <p:cNvCxnSpPr/>
          <p:nvPr/>
        </p:nvCxnSpPr>
        <p:spPr>
          <a:xfrm>
            <a:off x="338328" y="3459480"/>
            <a:ext cx="2715768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" name="Google Shape;80;p10"/>
          <p:cNvCxnSpPr/>
          <p:nvPr/>
        </p:nvCxnSpPr>
        <p:spPr>
          <a:xfrm>
            <a:off x="3264407" y="3459480"/>
            <a:ext cx="2715768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" name="Google Shape;81;p10"/>
          <p:cNvCxnSpPr/>
          <p:nvPr/>
        </p:nvCxnSpPr>
        <p:spPr>
          <a:xfrm>
            <a:off x="6195307" y="3459480"/>
            <a:ext cx="2715768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" name="Google Shape;82;p10"/>
          <p:cNvCxnSpPr/>
          <p:nvPr/>
        </p:nvCxnSpPr>
        <p:spPr>
          <a:xfrm>
            <a:off x="9136140" y="3459480"/>
            <a:ext cx="2715768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10"/>
          <p:cNvSpPr txBox="1"/>
          <p:nvPr>
            <p:ph idx="9" type="body"/>
          </p:nvPr>
        </p:nvSpPr>
        <p:spPr>
          <a:xfrm>
            <a:off x="338328" y="1021080"/>
            <a:ext cx="1148486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​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-column">
  <p:cSld name="4-colum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/>
          <p:nvPr/>
        </p:nvSpPr>
        <p:spPr>
          <a:xfrm>
            <a:off x="6207877" y="381000"/>
            <a:ext cx="292375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1"/>
          <p:cNvSpPr txBox="1"/>
          <p:nvPr>
            <p:ph idx="1" type="body"/>
          </p:nvPr>
        </p:nvSpPr>
        <p:spPr>
          <a:xfrm>
            <a:off x="338328" y="1599480"/>
            <a:ext cx="2715768" cy="4335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 sz="20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​"/>
              <a:defRPr sz="16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Char char="​"/>
              <a:defRPr sz="9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2" type="body"/>
          </p:nvPr>
        </p:nvSpPr>
        <p:spPr>
          <a:xfrm>
            <a:off x="3272035" y="1599480"/>
            <a:ext cx="2715768" cy="4335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 sz="20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​"/>
              <a:defRPr sz="16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Char char="​"/>
              <a:defRPr sz="9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3" type="body"/>
          </p:nvPr>
        </p:nvSpPr>
        <p:spPr>
          <a:xfrm>
            <a:off x="6205742" y="1599480"/>
            <a:ext cx="2715768" cy="4335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 sz="20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​"/>
              <a:defRPr sz="16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Char char="​"/>
              <a:defRPr sz="9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4" type="body"/>
          </p:nvPr>
        </p:nvSpPr>
        <p:spPr>
          <a:xfrm>
            <a:off x="9139449" y="1599480"/>
            <a:ext cx="2715768" cy="4335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 sz="20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​"/>
              <a:defRPr sz="16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Char char="​"/>
              <a:defRPr sz="9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5" type="body"/>
          </p:nvPr>
        </p:nvSpPr>
        <p:spPr>
          <a:xfrm>
            <a:off x="338328" y="1021080"/>
            <a:ext cx="1148486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​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type="title"/>
          </p:nvPr>
        </p:nvSpPr>
        <p:spPr>
          <a:xfrm>
            <a:off x="338327" y="90720"/>
            <a:ext cx="11515535" cy="9080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lumn photos">
  <p:cSld name="3_column photo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/>
          <p:nvPr>
            <p:ph idx="2" type="pic"/>
          </p:nvPr>
        </p:nvSpPr>
        <p:spPr>
          <a:xfrm>
            <a:off x="336549" y="1597025"/>
            <a:ext cx="3752871" cy="3548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​"/>
              <a:defRPr b="0" i="0" sz="2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​"/>
              <a:defRPr b="0" i="0" sz="1600" u="none" cap="none" strike="noStrike">
                <a:solidFill>
                  <a:srgbClr val="0079A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​"/>
              <a:defRPr b="0" i="0" sz="1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2"/>
          <p:cNvSpPr/>
          <p:nvPr>
            <p:ph idx="3" type="pic"/>
          </p:nvPr>
        </p:nvSpPr>
        <p:spPr>
          <a:xfrm>
            <a:off x="4229382" y="1597026"/>
            <a:ext cx="3725862" cy="354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​"/>
              <a:defRPr b="0" i="0" sz="2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​"/>
              <a:defRPr b="0" i="0" sz="1600" u="none" cap="none" strike="noStrike">
                <a:solidFill>
                  <a:srgbClr val="0079A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​"/>
              <a:defRPr b="0" i="0" sz="1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12"/>
          <p:cNvSpPr/>
          <p:nvPr>
            <p:ph idx="4" type="pic"/>
          </p:nvPr>
        </p:nvSpPr>
        <p:spPr>
          <a:xfrm>
            <a:off x="8101820" y="1597026"/>
            <a:ext cx="3746255" cy="354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​"/>
              <a:defRPr b="0" i="0" sz="2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​"/>
              <a:defRPr b="0" i="0" sz="1600" u="none" cap="none" strike="noStrike">
                <a:solidFill>
                  <a:srgbClr val="0079A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​"/>
              <a:defRPr b="0" i="0" sz="1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96" name="Google Shape;96;p12"/>
          <p:cNvCxnSpPr/>
          <p:nvPr/>
        </p:nvCxnSpPr>
        <p:spPr>
          <a:xfrm>
            <a:off x="332897" y="5260975"/>
            <a:ext cx="3749040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12"/>
          <p:cNvSpPr txBox="1"/>
          <p:nvPr>
            <p:ph idx="1" type="body"/>
          </p:nvPr>
        </p:nvSpPr>
        <p:spPr>
          <a:xfrm>
            <a:off x="336549" y="5344870"/>
            <a:ext cx="3749040" cy="502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5pPr>
            <a:lvl6pPr indent="-3175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cxnSp>
        <p:nvCxnSpPr>
          <p:cNvPr id="98" name="Google Shape;98;p12"/>
          <p:cNvCxnSpPr/>
          <p:nvPr/>
        </p:nvCxnSpPr>
        <p:spPr>
          <a:xfrm>
            <a:off x="4229382" y="5261728"/>
            <a:ext cx="3732576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12"/>
          <p:cNvSpPr txBox="1"/>
          <p:nvPr>
            <p:ph idx="5" type="body"/>
          </p:nvPr>
        </p:nvSpPr>
        <p:spPr>
          <a:xfrm>
            <a:off x="4218268" y="5345623"/>
            <a:ext cx="3749040" cy="502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5pPr>
            <a:lvl6pPr indent="-3175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cxnSp>
        <p:nvCxnSpPr>
          <p:cNvPr id="100" name="Google Shape;100;p12"/>
          <p:cNvCxnSpPr/>
          <p:nvPr/>
        </p:nvCxnSpPr>
        <p:spPr>
          <a:xfrm>
            <a:off x="8101820" y="5261728"/>
            <a:ext cx="3749040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12"/>
          <p:cNvSpPr txBox="1"/>
          <p:nvPr>
            <p:ph idx="6" type="body"/>
          </p:nvPr>
        </p:nvSpPr>
        <p:spPr>
          <a:xfrm>
            <a:off x="8112687" y="5345623"/>
            <a:ext cx="3749040" cy="502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5pPr>
            <a:lvl6pPr indent="-3175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02" name="Google Shape;102;p12"/>
          <p:cNvSpPr txBox="1"/>
          <p:nvPr>
            <p:ph idx="7" type="body"/>
          </p:nvPr>
        </p:nvSpPr>
        <p:spPr>
          <a:xfrm>
            <a:off x="338328" y="1021080"/>
            <a:ext cx="1148486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​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type="title"/>
          </p:nvPr>
        </p:nvSpPr>
        <p:spPr>
          <a:xfrm>
            <a:off x="338327" y="90720"/>
            <a:ext cx="11515535" cy="9080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"/>
          <p:cNvSpPr txBox="1"/>
          <p:nvPr>
            <p:ph type="title"/>
          </p:nvPr>
        </p:nvSpPr>
        <p:spPr>
          <a:xfrm>
            <a:off x="338327" y="90720"/>
            <a:ext cx="11515535" cy="9080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910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338325" y="1599475"/>
            <a:ext cx="11515500" cy="50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​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​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​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/>
          <p:nvPr/>
        </p:nvSpPr>
        <p:spPr>
          <a:xfrm flipH="1">
            <a:off x="336549" y="0"/>
            <a:ext cx="11868912" cy="89119"/>
          </a:xfrm>
          <a:prstGeom prst="rect">
            <a:avLst/>
          </a:prstGeom>
          <a:solidFill>
            <a:srgbClr val="8910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png" id="12" name="Google Shape;12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16370" y="240603"/>
            <a:ext cx="909064" cy="75816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andy@andyinthecloud.com" TargetMode="External"/><Relationship Id="rId4" Type="http://schemas.openxmlformats.org/officeDocument/2006/relationships/hyperlink" Target="https://www.linkedin.com/in/andyfawcett/" TargetMode="External"/><Relationship Id="rId5" Type="http://schemas.openxmlformats.org/officeDocument/2006/relationships/image" Target="../media/image4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diagram-soql-dataset-access-today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diagram-cursor-rdbms-overview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diagram-cursor-soql-overview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demo1-virtual-datatable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demo2-reporting-drilldown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demo3-adaptive-async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mailto:andy@andyinthecloud.com" TargetMode="Externa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andy@andyinthecloud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type="ctrTitle"/>
          </p:nvPr>
        </p:nvSpPr>
        <p:spPr>
          <a:xfrm>
            <a:off x="360362" y="2691891"/>
            <a:ext cx="109083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050F"/>
              </a:buClr>
              <a:buSzPts val="5400"/>
              <a:buFont typeface="Arial"/>
              <a:buNone/>
            </a:pPr>
            <a:r>
              <a:rPr lang="en-US" sz="4600"/>
              <a:t>Scaling Apex and LWC with Apex Cursors</a:t>
            </a:r>
            <a:endParaRPr sz="4600"/>
          </a:p>
        </p:txBody>
      </p:sp>
      <p:sp>
        <p:nvSpPr>
          <p:cNvPr id="109" name="Google Shape;109;p13"/>
          <p:cNvSpPr txBox="1"/>
          <p:nvPr/>
        </p:nvSpPr>
        <p:spPr>
          <a:xfrm>
            <a:off x="412148" y="4374575"/>
            <a:ext cx="56823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/>
          <a:p>
            <a:pPr indent="-12065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900"/>
              <a:buChar char="​"/>
            </a:pPr>
            <a:r>
              <a:rPr b="1" lang="en-US" sz="1900">
                <a:solidFill>
                  <a:srgbClr val="800000"/>
                </a:solidFill>
              </a:rPr>
              <a:t>Andrew Fawcett</a:t>
            </a:r>
            <a:r>
              <a:rPr lang="en-US" sz="1900">
                <a:solidFill>
                  <a:srgbClr val="800000"/>
                </a:solidFill>
              </a:rPr>
              <a:t>, AndyInTheCloud Consulting Ltd</a:t>
            </a:r>
            <a:endParaRPr sz="1900">
              <a:solidFill>
                <a:srgbClr val="800000"/>
              </a:solidFill>
            </a:endParaRPr>
          </a:p>
          <a:p>
            <a:pPr indent="-12065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00"/>
              <a:buChar char="​"/>
            </a:pPr>
            <a:r>
              <a:rPr lang="en-US" sz="1900" u="sng">
                <a:solidFill>
                  <a:schemeClr val="hlink"/>
                </a:solidFill>
                <a:hlinkClick r:id="rId3"/>
              </a:rPr>
              <a:t>andy@andyinthecloud.com</a:t>
            </a:r>
            <a:r>
              <a:rPr lang="en-US" sz="1900">
                <a:solidFill>
                  <a:srgbClr val="800000"/>
                </a:solidFill>
              </a:rPr>
              <a:t> </a:t>
            </a:r>
            <a:endParaRPr sz="1900">
              <a:solidFill>
                <a:srgbClr val="800000"/>
              </a:solidFill>
            </a:endParaRPr>
          </a:p>
          <a:p>
            <a:pPr indent="-12065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00"/>
              <a:buChar char="​"/>
            </a:pPr>
            <a:r>
              <a:rPr lang="en-US" sz="1900" u="sng">
                <a:solidFill>
                  <a:schemeClr val="hlink"/>
                </a:solidFill>
                <a:hlinkClick r:id="rId4"/>
              </a:rPr>
              <a:t>https://www.linkedin.com/in/andyfawcett/</a:t>
            </a:r>
            <a:r>
              <a:rPr lang="en-US" sz="1900">
                <a:solidFill>
                  <a:srgbClr val="800000"/>
                </a:solidFill>
              </a:rPr>
              <a:t> </a:t>
            </a:r>
            <a:endParaRPr sz="1900">
              <a:solidFill>
                <a:srgbClr val="800000"/>
              </a:solidFill>
            </a:endParaRPr>
          </a:p>
          <a:p>
            <a:pPr indent="-101600" lvl="0" marL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Char char="​"/>
            </a:pPr>
            <a:r>
              <a:t/>
            </a:r>
            <a:endParaRPr sz="1600">
              <a:solidFill>
                <a:srgbClr val="800000"/>
              </a:solidFill>
            </a:endParaRPr>
          </a:p>
          <a:p>
            <a:pPr indent="-101600" lvl="0" marL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Char char="​"/>
            </a:pPr>
            <a:r>
              <a:rPr lang="en-US" sz="1600">
                <a:solidFill>
                  <a:srgbClr val="800000"/>
                </a:solidFill>
              </a:rPr>
              <a:t>	</a:t>
            </a:r>
            <a:endParaRPr sz="1600">
              <a:solidFill>
                <a:srgbClr val="800000"/>
              </a:solidFill>
            </a:endParaRPr>
          </a:p>
        </p:txBody>
      </p:sp>
      <p:pic>
        <p:nvPicPr>
          <p:cNvPr id="110" name="Google Shape;110;p13" title="AndyInTheCLoud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150" y="5529200"/>
            <a:ext cx="1018150" cy="10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/>
          <p:nvPr>
            <p:ph idx="1" type="body"/>
          </p:nvPr>
        </p:nvSpPr>
        <p:spPr>
          <a:xfrm>
            <a:off x="338325" y="1050000"/>
            <a:ext cx="114849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UI paging with OFFSET/LIMIT vs async processing in fixed-size chunks.</a:t>
            </a:r>
            <a:endParaRPr/>
          </a:p>
        </p:txBody>
      </p:sp>
      <p:pic>
        <p:nvPicPr>
          <p:cNvPr id="117" name="diagram-soql-dataset-access-toda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25" y="1450000"/>
            <a:ext cx="11484900" cy="543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Accessing and processing datasets today in SOQL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/>
          <p:nvPr>
            <p:ph idx="1" type="body"/>
          </p:nvPr>
        </p:nvSpPr>
        <p:spPr>
          <a:xfrm>
            <a:off x="338325" y="1050000"/>
            <a:ext cx="114849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Traverse a query result incrementally instead of returning the full set at once.</a:t>
            </a:r>
            <a:endParaRPr/>
          </a:p>
        </p:txBody>
      </p:sp>
      <p:pic>
        <p:nvPicPr>
          <p:cNvPr id="118" name="diagram-cursor-rdbms-overview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25" y="1450000"/>
            <a:ext cx="11484900" cy="71035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What is a SQL Cursor?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/>
          <p:nvPr>
            <p:ph idx="1" type="body"/>
          </p:nvPr>
        </p:nvSpPr>
        <p:spPr>
          <a:xfrm>
            <a:off x="338325" y="1050000"/>
            <a:ext cx="114849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SQL cursor concepts on Salesforce: Database.getCursor(SOQL) and incremental fetch in Apex.</a:t>
            </a:r>
            <a:endParaRPr/>
          </a:p>
        </p:txBody>
      </p:sp>
      <p:pic>
        <p:nvPicPr>
          <p:cNvPr id="117" name="diagram-cursor-soql-overview" title="cursor-soql-overview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25" y="1450000"/>
            <a:ext cx="11484900" cy="71035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What is a SOQL Cursor?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usecases-interactive"/>
          <p:cNvSpPr txBox="1"/>
          <p:nvPr/>
        </p:nvSpPr>
        <p:spPr>
          <a:xfrm>
            <a:off x="338325" y="1513500"/>
            <a:ext cx="5400000" cy="15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64" lIns="91440" rIns="91440" tIns="36576" wrap="square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400" b="1">
                <a:solidFill>
                  <a:srgbClr val="4A6FA5"/>
                </a:solidFill>
              </a:rPr>
              <a:t>Interactive</a:t>
            </a:r>
            <a:endParaRPr/>
          </a:p>
          <a:p>
            <a:pPr indent="-285750" lvl="0" marL="4572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Analyst large data view</a:t>
            </a:r>
            <a:endParaRPr/>
          </a:p>
          <a:p>
            <a:pPr indent="-285750" lvl="0" marL="45720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Reporting and drilldown</a:t>
            </a:r>
            <a:endParaRPr/>
          </a:p>
          <a:p>
            <a:pPr indent="-285750" lvl="0" marL="45720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Preview job records to process</a:t>
            </a:r>
            <a:endParaRPr/>
          </a:p>
        </p:txBody>
      </p:sp>
      <p:sp>
        <p:nvSpPr>
          <p:cNvPr id="117" name="usecases-batch"/>
          <p:cNvSpPr txBox="1"/>
          <p:nvPr/>
        </p:nvSpPr>
        <p:spPr>
          <a:xfrm>
            <a:off x="6423225" y="1513500"/>
            <a:ext cx="5400000" cy="15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64" lIns="91440" rIns="91440" tIns="36576" wrap="square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400" b="1">
                <a:solidFill>
                  <a:srgbClr val="5A7A3A"/>
                </a:solidFill>
              </a:rPr>
              <a:t>Batch</a:t>
            </a:r>
            <a:endParaRPr/>
          </a:p>
          <a:p>
            <a:pPr indent="-285750" lvl="0" marL="4572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Orchestrate process execution</a:t>
            </a:r>
            <a:endParaRPr/>
          </a:p>
          <a:p>
            <a:pPr indent="-285750" lvl="0" marL="45720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Look ahead to optimize resource usage</a:t>
            </a:r>
            <a:endParaRPr/>
          </a:p>
          <a:p>
            <a:pPr indent="-285750" lvl="0" marL="45720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Safer immutable record set</a:t>
            </a:r>
            <a:endParaRPr/>
          </a:p>
        </p:txBody>
      </p:sp>
      <p:sp>
        <p:nvSpPr>
          <p:cNvPr id="120" name="terminal-pagination"/>
          <p:cNvSpPr txBox="1"/>
          <p:nvPr/>
        </p:nvSpPr>
        <p:spPr>
          <a:xfrm>
            <a:off x="338325" y="3213500"/>
            <a:ext cx="5400000" cy="1850000"/>
          </a:xfrm>
          <a:prstGeom prst="rect">
            <a:avLst/>
          </a:prstGeom>
          <a:solidFill>
            <a:srgbClr val="1E1E1E"/>
          </a:solidFill>
          <a:ln w="12700">
            <a:solidFill>
              <a:srgbClr val="4A6FA5"/>
            </a:solidFill>
          </a:ln>
        </p:spPr>
        <p:txBody>
          <a:bodyPr anchorCtr="0" anchor="t" bIns="190000" lIns="91440" rIns="91440" tIns="50000" wrap="square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700" typeface="Consolas">
                <a:solidFill>
                  <a:srgbClr val="569CD6"/>
                </a:solidFill>
              </a:rPr>
              <a:t>Database.PaginationCursor</a:t>
            </a:r>
            <a:r>
              <a:rPr lang="en-US" sz="1700" typeface="Consolas">
                <a:solidFill>
                  <a:srgbClr val="D4D4D4"/>
                </a:solidFill>
              </a:rPr>
              <a:t> c =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700" typeface="Consolas">
                <a:solidFill>
                  <a:srgbClr val="DCDCAA"/>
                </a:solidFill>
              </a:rPr>
              <a:t>  Database.getPaginationCursor(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700" typeface="Consolas">
                <a:solidFill>
                  <a:srgbClr val="CE9178"/>
                </a:solidFill>
              </a:rPr>
              <a:t>    soql, AccessLevel.USER_MODE);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700" typeface="Consolas">
                <a:solidFill>
                  <a:srgbClr val="D4D4D4"/>
                </a:solidFill>
              </a:rPr>
              <a:t>Database.CursorFetchResult r =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200"/>
              </a:spcAft>
              <a:buNone/>
            </a:pPr>
            <a:r>
              <a:rPr lang="en-US" sz="1700" typeface="Consolas">
                <a:solidFill>
                  <a:srgbClr val="DCDCAA"/>
                </a:solidFill>
              </a:rPr>
              <a:t>  c.fetchPage(start, pageSize);</a:t>
            </a:r>
            <a:endParaRPr/>
          </a:p>
        </p:txBody>
      </p:sp>
      <p:sp>
        <p:nvSpPr>
          <p:cNvPr id="121" name="terminal-standard"/>
          <p:cNvSpPr txBox="1"/>
          <p:nvPr/>
        </p:nvSpPr>
        <p:spPr>
          <a:xfrm>
            <a:off x="6423225" y="3213500"/>
            <a:ext cx="5400000" cy="1850000"/>
          </a:xfrm>
          <a:prstGeom prst="rect">
            <a:avLst/>
          </a:prstGeom>
          <a:solidFill>
            <a:srgbClr val="1E1E1E"/>
          </a:solidFill>
          <a:ln w="12700">
            <a:solidFill>
              <a:srgbClr val="5A7A3A"/>
            </a:solidFill>
          </a:ln>
        </p:spPr>
        <p:txBody>
          <a:bodyPr anchorCtr="0" anchor="t" bIns="190000" lIns="91440" rIns="91440" tIns="50000" wrap="square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700" typeface="Consolas">
                <a:solidFill>
                  <a:srgbClr val="4EC9B0"/>
                </a:solidFill>
              </a:rPr>
              <a:t>Database.Cursor</a:t>
            </a:r>
            <a:r>
              <a:rPr lang="en-US" sz="1700" typeface="Consolas">
                <a:solidFill>
                  <a:srgbClr val="D4D4D4"/>
                </a:solidFill>
              </a:rPr>
              <a:t> c =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700" typeface="Consolas">
                <a:solidFill>
                  <a:srgbClr val="DCDCAA"/>
                </a:solidFill>
              </a:rPr>
              <a:t>  Database.getCursor(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700" typeface="Consolas">
                <a:solidFill>
                  <a:srgbClr val="CE9178"/>
                </a:solidFill>
              </a:rPr>
              <a:t>    soql, AccessLevel.USER_MODE);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700" typeface="Consolas">
                <a:solidFill>
                  <a:srgbClr val="D4D4D4"/>
                </a:solidFill>
              </a:rPr>
              <a:t>List&lt;Account&gt; batch =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200"/>
              </a:spcAft>
              <a:buNone/>
            </a:pPr>
            <a:r>
              <a:rPr lang="en-US" sz="1700" typeface="Consolas">
                <a:solidFill>
                  <a:srgbClr val="DCDCAA"/>
                </a:solidFill>
              </a:rPr>
              <a:t>  c.fetch(offset, pageSize);</a:t>
            </a:r>
            <a:endParaRPr/>
          </a:p>
        </p:txBody>
      </p:sp>
      <p:sp>
        <p:nvSpPr>
          <p:cNvPr id="118" name="architecture-band"/>
          <p:cNvSpPr/>
          <p:nvPr/>
        </p:nvSpPr>
        <p:spPr>
          <a:xfrm>
            <a:off x="338325" y="5363500"/>
            <a:ext cx="11484900" cy="980000"/>
          </a:xfrm>
          <a:prstGeom prst="rect">
            <a:avLst/>
          </a:prstGeom>
          <a:solidFill>
            <a:srgbClr val="F7F7F7"/>
          </a:solidFill>
          <a:ln>
            <a:solidFill>
              <a:srgbClr val="CCCC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9" name="usecases-architecture"/>
          <p:cNvSpPr txBox="1"/>
          <p:nvPr/>
        </p:nvSpPr>
        <p:spPr>
          <a:xfrm>
            <a:off x="338325" y="5363500"/>
            <a:ext cx="11484900" cy="98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54864" lIns="91440" rIns="91440" tIns="36576" wrap="square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400" b="1">
                <a:solidFill>
                  <a:srgbClr val="891019"/>
                </a:solidFill>
              </a:rPr>
              <a:t>Architecture</a:t>
            </a:r>
            <a:endParaRPr/>
          </a:p>
          <a:p>
            <a:pPr indent="0" lvl="0" marL="0" rtl="0" algn="ctr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800"/>
              <a:t>24hr cached large record sets | Scalable replacement to SOQL OFFSET | Bidirectional navigation</a:t>
            </a:r>
            <a:endParaRPr/>
          </a:p>
        </p:txBody>
      </p:sp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Usecases for Apex Cursors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demo1-virtual-datatable" title="Apex Cursor Demo - Infinite Loadi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412" y="1150000"/>
            <a:ext cx="10970000" cy="5291992"/>
          </a:xfrm>
          <a:prstGeom prst="rect">
            <a:avLst/>
          </a:prstGeom>
          <a:effectLst>
            <a:outerShdw blurRad="63500" dist="47625" dir="2700000" algn="ctr" rotWithShape="0">
              <a:srgbClr val="000000">
                <a:alpha val="38000"/>
              </a:srgbClr>
            </a:outerShdw>
          </a:effectLst>
        </p:spPr>
      </p:pic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Demo 1: Virtual Data Table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highlight-code-1"/>
          <p:cNvSpPr txBox="1"/>
          <p:nvPr/>
        </p:nvSpPr>
        <p:spPr>
          <a:xfrm>
            <a:off x="338325" y="1603500"/>
            <a:ext cx="3748300" cy="2450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60000" lIns="72000" rIns="72000" tIns="55000" wrap="square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4EC9B0"/>
                </a:solidFill>
              </a:rPr>
              <a:t>Database.Cursor</a:t>
            </a:r>
            <a:r>
              <a:rPr lang="en-US" sz="1500" typeface="Consolas">
                <a:solidFill>
                  <a:srgbClr val="D4D4D4"/>
                </a:solidFill>
              </a:rPr>
              <a:t> c =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  Database.getCursor(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soql,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16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AccessLevel.USER_MODE);</a:t>
            </a:r>
            <a:endParaRPr/>
          </a:p>
        </p:txBody>
      </p:sp>
      <p:sp>
        <p:nvSpPr>
          <p:cNvPr id="202" name="highlight-badge-1"/>
          <p:cNvSpPr txBox="1"/>
          <p:nvPr/>
        </p:nvSpPr>
        <p:spPr>
          <a:xfrm>
            <a:off x="127125" y="1392300"/>
            <a:ext cx="480000" cy="480000"/>
          </a:xfrm>
          <a:prstGeom prst="ellipse">
            <a:avLst/>
          </a:prstGeom>
          <a:solidFill>
            <a:srgbClr val="891019"/>
          </a:solidFill>
          <a:ln>
            <a:noFill/>
          </a:ln>
          <a:effectLst>
            <a:outerShdw blurRad="57150" dist="38100" dir="2700000" algn="ctr" rotWithShape="0">
              <a:srgbClr val="000000">
                <a:alpha val="45000"/>
              </a:srgbClr>
            </a:outerShdw>
          </a:effectLst>
        </p:spPr>
        <p:txBody>
          <a:bodyPr anchor="ctr" anchorCtr="1" wrap="none" lIns="0" rIns="0" tIns="0" bIns="0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FFFFFF"/>
                </a:solidFill>
              </a:rPr>
              <a:t>1</a:t>
            </a:r>
            <a:endParaRPr/>
          </a:p>
        </p:txBody>
      </p:sp>
      <p:sp>
        <p:nvSpPr>
          <p:cNvPr id="203" name="highlight-code-2"/>
          <p:cNvSpPr txBox="1"/>
          <p:nvPr/>
        </p:nvSpPr>
        <p:spPr>
          <a:xfrm>
            <a:off x="4206625" y="1603500"/>
            <a:ext cx="3748300" cy="2450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60000" lIns="72000" rIns="72000" tIns="55000" wrap="square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List&lt;Account&gt; batch =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  c.fetch(offset,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batchSize);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result.hasMore =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16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offset &lt; c.getNumRecords();</a:t>
            </a:r>
            <a:endParaRPr/>
          </a:p>
        </p:txBody>
      </p:sp>
      <p:sp>
        <p:nvSpPr>
          <p:cNvPr id="204" name="highlight-badge-2"/>
          <p:cNvSpPr txBox="1"/>
          <p:nvPr/>
        </p:nvSpPr>
        <p:spPr>
          <a:xfrm>
            <a:off x="3995425" y="1392300"/>
            <a:ext cx="480000" cy="480000"/>
          </a:xfrm>
          <a:prstGeom prst="ellipse">
            <a:avLst/>
          </a:prstGeom>
          <a:solidFill>
            <a:srgbClr val="891019"/>
          </a:solidFill>
          <a:ln>
            <a:noFill/>
          </a:ln>
          <a:effectLst>
            <a:outerShdw blurRad="57150" dist="38100" dir="2700000" algn="ctr" rotWithShape="0">
              <a:srgbClr val="000000">
                <a:alpha val="45000"/>
              </a:srgbClr>
            </a:outerShdw>
          </a:effectLst>
        </p:spPr>
        <p:txBody>
          <a:bodyPr anchor="ctr" anchorCtr="1" wrap="none" lIns="0" rIns="0" tIns="0" bIns="0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FFFFFF"/>
                </a:solidFill>
              </a:rPr>
              <a:t>2</a:t>
            </a:r>
            <a:endParaRPr/>
          </a:p>
        </p:txBody>
      </p:sp>
      <p:sp>
        <p:nvSpPr>
          <p:cNvPr id="205" name="highlight-code-3"/>
          <p:cNvSpPr txBox="1"/>
          <p:nvPr/>
        </p:nvSpPr>
        <p:spPr>
          <a:xfrm>
            <a:off x="8074925" y="1603500"/>
            <a:ext cx="3748300" cy="2450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60000" lIns="72000" rIns="72000" tIns="55000" wrap="square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569CD6"/>
                </a:solidFill>
              </a:rPr>
              <a:t>const result = await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  loadMoreRecords({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request, useSessionCache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16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  });</a:t>
            </a:r>
            <a:endParaRPr/>
          </a:p>
        </p:txBody>
      </p:sp>
      <p:sp>
        <p:nvSpPr>
          <p:cNvPr id="206" name="highlight-badge-3"/>
          <p:cNvSpPr txBox="1"/>
          <p:nvPr/>
        </p:nvSpPr>
        <p:spPr>
          <a:xfrm>
            <a:off x="7863725" y="1392300"/>
            <a:ext cx="480000" cy="480000"/>
          </a:xfrm>
          <a:prstGeom prst="ellipse">
            <a:avLst/>
          </a:prstGeom>
          <a:solidFill>
            <a:srgbClr val="891019"/>
          </a:solidFill>
          <a:ln>
            <a:noFill/>
          </a:ln>
          <a:effectLst>
            <a:outerShdw blurRad="57150" dist="38100" dir="2700000" algn="ctr" rotWithShape="0">
              <a:srgbClr val="000000">
                <a:alpha val="45000"/>
              </a:srgbClr>
            </a:outerShdw>
          </a:effectLst>
        </p:spPr>
        <p:txBody>
          <a:bodyPr anchor="ctr" anchorCtr="1" wrap="none" lIns="0" rIns="0" tIns="0" bIns="0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FFFFFF"/>
                </a:solidFill>
              </a:rPr>
              <a:t>3</a:t>
            </a:r>
            <a:endParaRPr/>
          </a:p>
        </p:txBody>
      </p:sp>
      <p:sp>
        <p:nvSpPr>
          <p:cNvPr id="207" name="highlight-info-panel"/>
          <p:cNvSpPr txBox="1"/>
          <p:nvPr/>
        </p:nvSpPr>
        <p:spPr>
          <a:xfrm>
            <a:off x="338325" y="4173500"/>
            <a:ext cx="11484900" cy="19500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20000" lIns="140000" rIns="120000" tIns="120000" wrap="square">
            <a:no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Infinite scroll loads 50 rows at a time — no SOQL OFFSET</a:t>
            </a:r>
            <a:endParaRPr/>
          </a:p>
          <a:p>
            <a:pPr indent="-285750" lvl="0" marL="457200" rtl="0" algn="l">
              <a:lnSpc>
                <a:spcPct val="115000"/>
              </a:lnSpc>
              <a:spcBef>
                <a:spcPts val="22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Cursor held in LWC state or Cache.Session across Apex calls</a:t>
            </a:r>
            <a:endParaRPr/>
          </a:p>
          <a:p>
            <a:pPr indent="-285750" lvl="0" marL="457200" rtl="0" algn="l">
              <a:lnSpc>
                <a:spcPct val="115000"/>
              </a:lnSpc>
              <a:spcBef>
                <a:spcPts val="22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Live limit panel surfaces cursor, fetch, and row governor usage</a:t>
            </a:r>
            <a:endParaRPr/>
          </a:p>
          <a:p>
            <a:pPr indent="-285750" lvl="0" marL="457200" rtl="0" algn="l">
              <a:lnSpc>
                <a:spcPct val="115000"/>
              </a:lnSpc>
              <a:spcBef>
                <a:spcPts val="220"/>
              </a:spcBef>
              <a:spcAft>
                <a:spcPts val="12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Switch between standard and pagination cursor modes in one LWC</a:t>
            </a:r>
            <a:endParaRPr/>
          </a:p>
        </p:txBody>
      </p:sp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Demo 1: Highlights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demo2-reporting-drilldown" title="Apex Cursor Demo - Reporting Drill-Dow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412" y="1150000"/>
            <a:ext cx="10970000" cy="5077734"/>
          </a:xfrm>
          <a:prstGeom prst="rect">
            <a:avLst/>
          </a:prstGeom>
          <a:effectLst>
            <a:outerShdw blurRad="63500" dist="47625" dir="2700000" algn="ctr" rotWithShape="0">
              <a:srgbClr val="000000">
                <a:alpha val="38000"/>
              </a:srgbClr>
            </a:outerShdw>
          </a:effectLst>
        </p:spPr>
      </p:pic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Demo 2: Interactive Reporting and Drilldown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highlight-code-1"/>
          <p:cNvSpPr txBox="1"/>
          <p:nvPr/>
        </p:nvSpPr>
        <p:spPr>
          <a:xfrm>
            <a:off x="338325" y="1603500"/>
            <a:ext cx="3748300" cy="2450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60000" lIns="72000" rIns="72000" tIns="55000" wrap="square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569CD6"/>
                </a:solidFill>
              </a:rPr>
              <a:t>Database.PaginationCursor</a:t>
            </a:r>
            <a:r>
              <a:rPr lang="en-US" sz="1500" typeface="Consolas">
                <a:solidFill>
                  <a:srgbClr val="D4D4D4"/>
                </a:solidFill>
              </a:rPr>
              <a:t> pc =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  Database.getPaginationCursor(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soql,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AccessLevel.USER_MODE);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Cache.Session.put(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16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sessionKey(product), pc);</a:t>
            </a:r>
            <a:endParaRPr/>
          </a:p>
        </p:txBody>
      </p:sp>
      <p:sp>
        <p:nvSpPr>
          <p:cNvPr id="202" name="highlight-badge-1"/>
          <p:cNvSpPr txBox="1"/>
          <p:nvPr/>
        </p:nvSpPr>
        <p:spPr>
          <a:xfrm>
            <a:off x="127125" y="1392300"/>
            <a:ext cx="480000" cy="480000"/>
          </a:xfrm>
          <a:prstGeom prst="ellipse">
            <a:avLst/>
          </a:prstGeom>
          <a:solidFill>
            <a:srgbClr val="891019"/>
          </a:solidFill>
          <a:ln>
            <a:noFill/>
          </a:ln>
          <a:effectLst>
            <a:outerShdw blurRad="57150" dist="38100" dir="2700000" algn="ctr" rotWithShape="0">
              <a:srgbClr val="000000">
                <a:alpha val="45000"/>
              </a:srgbClr>
            </a:outerShdw>
          </a:effectLst>
        </p:spPr>
        <p:txBody>
          <a:bodyPr anchor="ctr" anchorCtr="1" wrap="none" lIns="0" rIns="0" tIns="0" bIns="0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FFFFFF"/>
                </a:solidFill>
              </a:rPr>
              <a:t>1</a:t>
            </a:r>
            <a:endParaRPr/>
          </a:p>
        </p:txBody>
      </p:sp>
      <p:sp>
        <p:nvSpPr>
          <p:cNvPr id="203" name="highlight-code-2"/>
          <p:cNvSpPr txBox="1"/>
          <p:nvPr/>
        </p:nvSpPr>
        <p:spPr>
          <a:xfrm>
            <a:off x="4206625" y="1603500"/>
            <a:ext cx="3748300" cy="2450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60000" lIns="72000" rIns="72000" tIns="55000" wrap="square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fetchResult = pc.fetchPage(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dayIndex, 1);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deletedRows =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  fetchResult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16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.getNumDeletedRecords();</a:t>
            </a:r>
            <a:endParaRPr/>
          </a:p>
        </p:txBody>
      </p:sp>
      <p:sp>
        <p:nvSpPr>
          <p:cNvPr id="204" name="highlight-badge-2"/>
          <p:cNvSpPr txBox="1"/>
          <p:nvPr/>
        </p:nvSpPr>
        <p:spPr>
          <a:xfrm>
            <a:off x="3995425" y="1392300"/>
            <a:ext cx="480000" cy="480000"/>
          </a:xfrm>
          <a:prstGeom prst="ellipse">
            <a:avLst/>
          </a:prstGeom>
          <a:solidFill>
            <a:srgbClr val="891019"/>
          </a:solidFill>
          <a:ln>
            <a:noFill/>
          </a:ln>
          <a:effectLst>
            <a:outerShdw blurRad="57150" dist="38100" dir="2700000" algn="ctr" rotWithShape="0">
              <a:srgbClr val="000000">
                <a:alpha val="45000"/>
              </a:srgbClr>
            </a:outerShdw>
          </a:effectLst>
        </p:spPr>
        <p:txBody>
          <a:bodyPr anchor="ctr" anchorCtr="1" wrap="none" lIns="0" rIns="0" tIns="0" bIns="0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FFFFFF"/>
                </a:solidFill>
              </a:rPr>
              <a:t>2</a:t>
            </a:r>
            <a:endParaRPr/>
          </a:p>
        </p:txBody>
      </p:sp>
      <p:sp>
        <p:nvSpPr>
          <p:cNvPr id="205" name="highlight-code-3"/>
          <p:cNvSpPr txBox="1"/>
          <p:nvPr/>
        </p:nvSpPr>
        <p:spPr>
          <a:xfrm>
            <a:off x="8074925" y="1603500"/>
            <a:ext cx="3748300" cy="2450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60000" lIns="72000" rIns="72000" tIns="55000" wrap="square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569CD6"/>
                </a:solidFill>
              </a:rPr>
              <a:t>const detail = await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  fetchDetailRange({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product,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startIndex, endIndex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16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  });</a:t>
            </a:r>
            <a:endParaRPr/>
          </a:p>
        </p:txBody>
      </p:sp>
      <p:sp>
        <p:nvSpPr>
          <p:cNvPr id="206" name="highlight-badge-3"/>
          <p:cNvSpPr txBox="1"/>
          <p:nvPr/>
        </p:nvSpPr>
        <p:spPr>
          <a:xfrm>
            <a:off x="7863725" y="1392300"/>
            <a:ext cx="480000" cy="480000"/>
          </a:xfrm>
          <a:prstGeom prst="ellipse">
            <a:avLst/>
          </a:prstGeom>
          <a:solidFill>
            <a:srgbClr val="891019"/>
          </a:solidFill>
          <a:ln>
            <a:noFill/>
          </a:ln>
          <a:effectLst>
            <a:outerShdw blurRad="57150" dist="38100" dir="2700000" algn="ctr" rotWithShape="0">
              <a:srgbClr val="000000">
                <a:alpha val="45000"/>
              </a:srgbClr>
            </a:outerShdw>
          </a:effectLst>
        </p:spPr>
        <p:txBody>
          <a:bodyPr anchor="ctr" anchorCtr="1" wrap="none" lIns="0" rIns="0" tIns="0" bIns="0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FFFFFF"/>
                </a:solidFill>
              </a:rPr>
              <a:t>3</a:t>
            </a:r>
            <a:endParaRPr/>
          </a:p>
        </p:txBody>
      </p:sp>
      <p:sp>
        <p:nvSpPr>
          <p:cNvPr id="207" name="highlight-info-panel"/>
          <p:cNvSpPr txBox="1"/>
          <p:nvPr/>
        </p:nvSpPr>
        <p:spPr>
          <a:xfrm>
            <a:off x="338325" y="4173500"/>
            <a:ext cx="11484900" cy="19500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20000" lIns="140000" rIns="120000" tIns="120000" wrap="square">
            <a:no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PaginationCursor builds the monthly chart with one fetchPage per month</a:t>
            </a:r>
            <a:endParaRPr/>
          </a:p>
          <a:p>
            <a:pPr indent="-285750" lvl="0" marL="457200" rtl="0" algn="l">
              <a:lnSpc>
                <a:spcPct val="115000"/>
              </a:lnSpc>
              <a:spcBef>
                <a:spcPts val="22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Session cache keeps the cursor for brush-selection drill-down</a:t>
            </a:r>
            <a:endParaRPr/>
          </a:p>
          <a:p>
            <a:pPr indent="-285750" lvl="0" marL="457200" rtl="0" algn="l">
              <a:lnSpc>
                <a:spcPct val="115000"/>
              </a:lnSpc>
              <a:spcBef>
                <a:spcPts val="22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Index-based fetchPage maps chart range to daily observation rows</a:t>
            </a:r>
            <a:endParaRPr/>
          </a:p>
          <a:p>
            <a:pPr indent="-285750" lvl="0" marL="457200" rtl="0" algn="l">
              <a:lnSpc>
                <a:spcPct val="115000"/>
              </a:lnSpc>
              <a:spcBef>
                <a:spcPts val="220"/>
              </a:spcBef>
              <a:spcAft>
                <a:spcPts val="12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fetchPage reports deleted rows when underlying data changes</a:t>
            </a:r>
            <a:endParaRPr/>
          </a:p>
        </p:txBody>
      </p:sp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Demo 2: Highlights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demo3-adaptive-async" title="Apex Cursor Demo - Adaptive Async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412" y="1150000"/>
            <a:ext cx="10970000" cy="5249023"/>
          </a:xfrm>
          <a:prstGeom prst="rect">
            <a:avLst/>
          </a:prstGeom>
          <a:effectLst>
            <a:outerShdw blurRad="63500" dist="47625" dir="2700000" algn="ctr" rotWithShape="0">
              <a:srgbClr val="000000">
                <a:alpha val="38000"/>
              </a:srgbClr>
            </a:outerShdw>
          </a:effectLst>
        </p:spPr>
      </p:pic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Demo 3: Adaptive Async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highlight-code-1"/>
          <p:cNvSpPr txBox="1"/>
          <p:nvPr/>
        </p:nvSpPr>
        <p:spPr>
          <a:xfrm>
            <a:off x="338325" y="1603500"/>
            <a:ext cx="3748300" cy="2450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60000" lIns="72000" rIns="72000" tIns="55000" wrap="square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Database.Cursor cursor =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  Database.getCursor(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soql,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AccessLevel.USER_MODE);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System.enqueueJob(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new AdaptiveOrderWorkerQueueable(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16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runId, cursor, 1), options);</a:t>
            </a:r>
            <a:endParaRPr/>
          </a:p>
        </p:txBody>
      </p:sp>
      <p:sp>
        <p:nvSpPr>
          <p:cNvPr id="202" name="highlight-badge-1"/>
          <p:cNvSpPr txBox="1"/>
          <p:nvPr/>
        </p:nvSpPr>
        <p:spPr>
          <a:xfrm>
            <a:off x="127125" y="1392300"/>
            <a:ext cx="480000" cy="480000"/>
          </a:xfrm>
          <a:prstGeom prst="ellipse">
            <a:avLst/>
          </a:prstGeom>
          <a:solidFill>
            <a:srgbClr val="891019"/>
          </a:solidFill>
          <a:ln>
            <a:noFill/>
          </a:ln>
          <a:effectLst>
            <a:outerShdw blurRad="57150" dist="38100" dir="2700000" algn="ctr" rotWithShape="0">
              <a:srgbClr val="000000">
                <a:alpha val="45000"/>
              </a:srgbClr>
            </a:outerShdw>
          </a:effectLst>
        </p:spPr>
        <p:txBody>
          <a:bodyPr anchor="ctr" anchorCtr="1" wrap="none" lIns="0" rIns="0" tIns="0" bIns="0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FFFFFF"/>
                </a:solidFill>
              </a:rPr>
              <a:t>1</a:t>
            </a:r>
            <a:endParaRPr/>
          </a:p>
        </p:txBody>
      </p:sp>
      <p:sp>
        <p:nvSpPr>
          <p:cNvPr id="203" name="highlight-code-2"/>
          <p:cNvSpPr txBox="1"/>
          <p:nvPr/>
        </p:nvSpPr>
        <p:spPr>
          <a:xfrm>
            <a:off x="4206625" y="1603500"/>
            <a:ext cx="3748300" cy="2450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60000" lIns="72000" rIns="72000" tIns="55000" wrap="square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569CD6"/>
                </a:solidFill>
              </a:rPr>
              <a:t>for (Order row 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  cursor.fetch(pos,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batchSize))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  rowCallouts =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    rowCalloutsFor(row);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160"/>
              </a:spcAft>
              <a:buNone/>
            </a:pPr>
            <a:r>
              <a:rPr lang="en-US" sz="1500" typeface="Consolas">
                <a:solidFill>
                  <a:srgbClr val="6A9955"/>
                </a:solidFill>
              </a:rPr>
              <a:t>  // pack to callout budget</a:t>
            </a:r>
            <a:endParaRPr/>
          </a:p>
        </p:txBody>
      </p:sp>
      <p:sp>
        <p:nvSpPr>
          <p:cNvPr id="204" name="highlight-badge-2"/>
          <p:cNvSpPr txBox="1"/>
          <p:nvPr/>
        </p:nvSpPr>
        <p:spPr>
          <a:xfrm>
            <a:off x="3995425" y="1392300"/>
            <a:ext cx="480000" cy="480000"/>
          </a:xfrm>
          <a:prstGeom prst="ellipse">
            <a:avLst/>
          </a:prstGeom>
          <a:solidFill>
            <a:srgbClr val="891019"/>
          </a:solidFill>
          <a:ln>
            <a:noFill/>
          </a:ln>
          <a:effectLst>
            <a:outerShdw blurRad="57150" dist="38100" dir="2700000" algn="ctr" rotWithShape="0">
              <a:srgbClr val="000000">
                <a:alpha val="45000"/>
              </a:srgbClr>
            </a:outerShdw>
          </a:effectLst>
        </p:spPr>
        <p:txBody>
          <a:bodyPr anchor="ctr" anchorCtr="1" wrap="none" lIns="0" rIns="0" tIns="0" bIns="0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FFFFFF"/>
                </a:solidFill>
              </a:rPr>
              <a:t>2</a:t>
            </a:r>
            <a:endParaRPr/>
          </a:p>
        </p:txBody>
      </p:sp>
      <p:sp>
        <p:nvSpPr>
          <p:cNvPr id="205" name="highlight-code-3"/>
          <p:cNvSpPr txBox="1"/>
          <p:nvPr/>
        </p:nvSpPr>
        <p:spPr>
          <a:xfrm>
            <a:off x="8074925" y="1603500"/>
            <a:ext cx="3748300" cy="2450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60000" lIns="72000" rIns="72000" tIns="55000" wrap="square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569CD6"/>
                </a:solidFill>
              </a:rPr>
              <a:t>if (moreOrders)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  sequence++;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  System.enqueueJob(this);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569CD6"/>
                </a:solidFill>
              </a:rPr>
              <a:t>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16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System.attachFinalizer(this);</a:t>
            </a:r>
            <a:endParaRPr/>
          </a:p>
        </p:txBody>
      </p:sp>
      <p:sp>
        <p:nvSpPr>
          <p:cNvPr id="206" name="highlight-badge-3"/>
          <p:cNvSpPr txBox="1"/>
          <p:nvPr/>
        </p:nvSpPr>
        <p:spPr>
          <a:xfrm>
            <a:off x="7863725" y="1392300"/>
            <a:ext cx="480000" cy="480000"/>
          </a:xfrm>
          <a:prstGeom prst="ellipse">
            <a:avLst/>
          </a:prstGeom>
          <a:solidFill>
            <a:srgbClr val="891019"/>
          </a:solidFill>
          <a:ln>
            <a:noFill/>
          </a:ln>
          <a:effectLst>
            <a:outerShdw blurRad="57150" dist="38100" dir="2700000" algn="ctr" rotWithShape="0">
              <a:srgbClr val="000000">
                <a:alpha val="45000"/>
              </a:srgbClr>
            </a:outerShdw>
          </a:effectLst>
        </p:spPr>
        <p:txBody>
          <a:bodyPr anchor="ctr" anchorCtr="1" wrap="none" lIns="0" rIns="0" tIns="0" bIns="0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FFFFFF"/>
                </a:solidFill>
              </a:rPr>
              <a:t>3</a:t>
            </a:r>
            <a:endParaRPr/>
          </a:p>
        </p:txBody>
      </p:sp>
      <p:sp>
        <p:nvSpPr>
          <p:cNvPr id="207" name="highlight-info-panel"/>
          <p:cNvSpPr txBox="1"/>
          <p:nvPr/>
        </p:nvSpPr>
        <p:spPr>
          <a:xfrm>
            <a:off x="338325" y="4173500"/>
            <a:ext cx="11484900" cy="19500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20000" lIns="140000" rIns="120000" tIns="120000" wrap="square">
            <a:no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One cursor opened in Apex and passed through chained queueable jobs</a:t>
            </a:r>
            <a:endParaRPr/>
          </a:p>
          <a:p>
            <a:pPr indent="-285750" lvl="0" marL="457200" rtl="0" algn="l">
              <a:lnSpc>
                <a:spcPct val="115000"/>
              </a:lnSpc>
              <a:spcBef>
                <a:spcPts val="22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Chunk size adapts to remaining HTTP callout budget per transaction</a:t>
            </a:r>
            <a:endParaRPr/>
          </a:p>
          <a:p>
            <a:pPr indent="-285750" lvl="0" marL="457200" rtl="0" algn="l">
              <a:lnSpc>
                <a:spcPct val="115000"/>
              </a:lnSpc>
              <a:spcBef>
                <a:spcPts val="22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Finalizer publishes platform events after each chunk commits</a:t>
            </a:r>
            <a:endParaRPr/>
          </a:p>
          <a:p>
            <a:pPr indent="-285750" lvl="0" marL="457200" rtl="0" algn="l">
              <a:lnSpc>
                <a:spcPct val="115000"/>
              </a:lnSpc>
              <a:spcBef>
                <a:spcPts val="220"/>
              </a:spcBef>
              <a:spcAft>
                <a:spcPts val="12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Cursor position travels on the job — no Database.Stateful required</a:t>
            </a:r>
            <a:endParaRPr/>
          </a:p>
        </p:txBody>
      </p:sp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Demo 3: Highlights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limits-table-shadow"/>
          <p:cNvSpPr/>
          <p:nvPr/>
        </p:nvSpPr>
        <p:spPr>
          <a:xfrm>
            <a:off x="338325" y="2128500"/>
            <a:ext cx="11484900" cy="24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2" name="limits-hdr-bg-0"/>
          <p:cNvSpPr/>
          <p:nvPr/>
        </p:nvSpPr>
        <p:spPr>
          <a:xfrm>
            <a:off x="338325" y="2128500"/>
            <a:ext cx="5742450" cy="460000"/>
          </a:xfrm>
          <a:prstGeom prst="rect">
            <a:avLst/>
          </a:prstGeom>
          <a:solidFill>
            <a:srgbClr val="891019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3" name="limits-hdr-0"/>
          <p:cNvSpPr txBox="1"/>
          <p:nvPr/>
        </p:nvSpPr>
        <p:spPr>
          <a:xfrm>
            <a:off x="338325" y="2128500"/>
            <a:ext cx="5742450" cy="46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 lIns="110000" rIns="40000" tIns="0" b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FFFFFF"/>
                </a:solidFill>
              </a:rPr>
              <a:t>Limit</a:t>
            </a:r>
            <a:endParaRPr/>
          </a:p>
        </p:txBody>
      </p:sp>
      <p:sp>
        <p:nvSpPr>
          <p:cNvPr id="204" name="limits-hdr-bg-1"/>
          <p:cNvSpPr/>
          <p:nvPr/>
        </p:nvSpPr>
        <p:spPr>
          <a:xfrm>
            <a:off x="6080775" y="2128500"/>
            <a:ext cx="2871225" cy="460000"/>
          </a:xfrm>
          <a:prstGeom prst="rect">
            <a:avLst/>
          </a:prstGeom>
          <a:solidFill>
            <a:srgbClr val="4A6FA5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limits-hdr-1"/>
          <p:cNvSpPr txBox="1"/>
          <p:nvPr/>
        </p:nvSpPr>
        <p:spPr>
          <a:xfrm>
            <a:off x="6080775" y="2128500"/>
            <a:ext cx="2871225" cy="46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 lIns="40000" rIns="40000" tIns="0" b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FFFFFF"/>
                </a:solidFill>
              </a:rPr>
              <a:t>Pagination</a:t>
            </a:r>
            <a:endParaRPr/>
          </a:p>
        </p:txBody>
      </p:sp>
      <p:sp>
        <p:nvSpPr>
          <p:cNvPr id="206" name="limits-hdr-bg-2"/>
          <p:cNvSpPr/>
          <p:nvPr/>
        </p:nvSpPr>
        <p:spPr>
          <a:xfrm>
            <a:off x="8952000" y="2128500"/>
            <a:ext cx="2871225" cy="460000"/>
          </a:xfrm>
          <a:prstGeom prst="rect">
            <a:avLst/>
          </a:prstGeom>
          <a:solidFill>
            <a:srgbClr val="5A7A3A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7" name="limits-hdr-2"/>
          <p:cNvSpPr txBox="1"/>
          <p:nvPr/>
        </p:nvSpPr>
        <p:spPr>
          <a:xfrm>
            <a:off x="8952000" y="2128500"/>
            <a:ext cx="2871225" cy="46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 lIns="40000" rIns="40000" tIns="0" b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FFFFFF"/>
                </a:solidFill>
              </a:rPr>
              <a:t>Standard</a:t>
            </a:r>
            <a:endParaRPr/>
          </a:p>
        </p:txBody>
      </p:sp>
      <p:sp>
        <p:nvSpPr>
          <p:cNvPr id="208" name="limits-row-0-bg-0"/>
          <p:cNvSpPr/>
          <p:nvPr/>
        </p:nvSpPr>
        <p:spPr>
          <a:xfrm>
            <a:off x="338325" y="2588500"/>
            <a:ext cx="5742450" cy="400000"/>
          </a:xfrm>
          <a:prstGeom prst="rect">
            <a:avLst/>
          </a:prstGeom>
          <a:solidFill>
            <a:srgbClr val="F9FAFC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9" name="limits-row-0-0"/>
          <p:cNvSpPr txBox="1"/>
          <p:nvPr/>
        </p:nvSpPr>
        <p:spPr>
          <a:xfrm>
            <a:off x="338325" y="2588500"/>
            <a:ext cx="5742450" cy="40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 lIns="110000" rIns="40000" tIns="0" b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b="1">
                <a:solidFill>
                  <a:srgbClr val="333333"/>
                </a:solidFill>
              </a:rPr>
              <a:t>Cursors (per transaction)</a:t>
            </a:r>
            <a:endParaRPr/>
          </a:p>
        </p:txBody>
      </p:sp>
      <p:sp>
        <p:nvSpPr>
          <p:cNvPr id="210" name="limits-row-0-bg-1"/>
          <p:cNvSpPr/>
          <p:nvPr/>
        </p:nvSpPr>
        <p:spPr>
          <a:xfrm>
            <a:off x="6080775" y="2588500"/>
            <a:ext cx="2871225" cy="400000"/>
          </a:xfrm>
          <a:prstGeom prst="rect">
            <a:avLst/>
          </a:prstGeom>
          <a:solidFill>
            <a:srgbClr val="F9FAFC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1" name="limits-row-0-1"/>
          <p:cNvSpPr txBox="1"/>
          <p:nvPr/>
        </p:nvSpPr>
        <p:spPr>
          <a:xfrm>
            <a:off x="6080775" y="2588500"/>
            <a:ext cx="2871225" cy="40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 lIns="40000" rIns="40000" tIns="0" b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44444"/>
                </a:solidFill>
              </a:rPr>
              <a:t>50</a:t>
            </a:r>
            <a:endParaRPr/>
          </a:p>
        </p:txBody>
      </p:sp>
      <p:sp>
        <p:nvSpPr>
          <p:cNvPr id="212" name="limits-row-0-bg-2"/>
          <p:cNvSpPr/>
          <p:nvPr/>
        </p:nvSpPr>
        <p:spPr>
          <a:xfrm>
            <a:off x="8952000" y="2588500"/>
            <a:ext cx="2871225" cy="400000"/>
          </a:xfrm>
          <a:prstGeom prst="rect">
            <a:avLst/>
          </a:prstGeom>
          <a:solidFill>
            <a:srgbClr val="F9FAFC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3" name="limits-row-0-2"/>
          <p:cNvSpPr txBox="1"/>
          <p:nvPr/>
        </p:nvSpPr>
        <p:spPr>
          <a:xfrm>
            <a:off x="8952000" y="2588500"/>
            <a:ext cx="2871225" cy="40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 lIns="40000" rIns="40000" tIns="0" b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44444"/>
                </a:solidFill>
              </a:rPr>
              <a:t>50</a:t>
            </a:r>
            <a:endParaRPr/>
          </a:p>
        </p:txBody>
      </p:sp>
      <p:sp>
        <p:nvSpPr>
          <p:cNvPr id="214" name="limits-row-1-bg-0"/>
          <p:cNvSpPr/>
          <p:nvPr/>
        </p:nvSpPr>
        <p:spPr>
          <a:xfrm>
            <a:off x="338325" y="2988500"/>
            <a:ext cx="5742450" cy="4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5" name="limits-row-1-0"/>
          <p:cNvSpPr txBox="1"/>
          <p:nvPr/>
        </p:nvSpPr>
        <p:spPr>
          <a:xfrm>
            <a:off x="338325" y="2988500"/>
            <a:ext cx="5742450" cy="40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 lIns="110000" rIns="40000" tIns="0" b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b="1">
                <a:solidFill>
                  <a:srgbClr val="333333"/>
                </a:solidFill>
              </a:rPr>
              <a:t>Max rows per cursor</a:t>
            </a:r>
            <a:endParaRPr/>
          </a:p>
        </p:txBody>
      </p:sp>
      <p:sp>
        <p:nvSpPr>
          <p:cNvPr id="216" name="limits-row-1-bg-1"/>
          <p:cNvSpPr/>
          <p:nvPr/>
        </p:nvSpPr>
        <p:spPr>
          <a:xfrm>
            <a:off x="6080775" y="2988500"/>
            <a:ext cx="2871225" cy="4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7" name="limits-row-1-1"/>
          <p:cNvSpPr txBox="1"/>
          <p:nvPr/>
        </p:nvSpPr>
        <p:spPr>
          <a:xfrm>
            <a:off x="6080775" y="2988500"/>
            <a:ext cx="2871225" cy="40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 lIns="40000" rIns="40000" tIns="0" b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44444"/>
                </a:solidFill>
              </a:rPr>
              <a:t>100,000</a:t>
            </a:r>
            <a:endParaRPr/>
          </a:p>
        </p:txBody>
      </p:sp>
      <p:sp>
        <p:nvSpPr>
          <p:cNvPr id="218" name="limits-row-1-bg-2"/>
          <p:cNvSpPr/>
          <p:nvPr/>
        </p:nvSpPr>
        <p:spPr>
          <a:xfrm>
            <a:off x="8952000" y="2988500"/>
            <a:ext cx="2871225" cy="4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9" name="limits-row-1-2"/>
          <p:cNvSpPr txBox="1"/>
          <p:nvPr/>
        </p:nvSpPr>
        <p:spPr>
          <a:xfrm>
            <a:off x="8952000" y="2988500"/>
            <a:ext cx="2871225" cy="40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 lIns="40000" rIns="40000" tIns="0" b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44444"/>
                </a:solidFill>
              </a:rPr>
              <a:t>50,000,000</a:t>
            </a:r>
            <a:endParaRPr/>
          </a:p>
        </p:txBody>
      </p:sp>
      <p:sp>
        <p:nvSpPr>
          <p:cNvPr id="220" name="limits-row-2-bg-0"/>
          <p:cNvSpPr/>
          <p:nvPr/>
        </p:nvSpPr>
        <p:spPr>
          <a:xfrm>
            <a:off x="338325" y="3388500"/>
            <a:ext cx="5742450" cy="400000"/>
          </a:xfrm>
          <a:prstGeom prst="rect">
            <a:avLst/>
          </a:prstGeom>
          <a:solidFill>
            <a:srgbClr val="F9FAFC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1" name="limits-row-2-0"/>
          <p:cNvSpPr txBox="1"/>
          <p:nvPr/>
        </p:nvSpPr>
        <p:spPr>
          <a:xfrm>
            <a:off x="338325" y="3388500"/>
            <a:ext cx="5742450" cy="40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 lIns="110000" rIns="40000" tIns="0" b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b="1">
                <a:solidFill>
                  <a:srgbClr val="333333"/>
                </a:solidFill>
              </a:rPr>
              <a:t>Fetch calls (per transaction)</a:t>
            </a:r>
            <a:endParaRPr/>
          </a:p>
        </p:txBody>
      </p:sp>
      <p:sp>
        <p:nvSpPr>
          <p:cNvPr id="222" name="limits-row-2-bg-1"/>
          <p:cNvSpPr/>
          <p:nvPr/>
        </p:nvSpPr>
        <p:spPr>
          <a:xfrm>
            <a:off x="6080775" y="3388500"/>
            <a:ext cx="2871225" cy="400000"/>
          </a:xfrm>
          <a:prstGeom prst="rect">
            <a:avLst/>
          </a:prstGeom>
          <a:solidFill>
            <a:srgbClr val="F9FAFC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3" name="limits-row-2-1"/>
          <p:cNvSpPr txBox="1"/>
          <p:nvPr/>
        </p:nvSpPr>
        <p:spPr>
          <a:xfrm>
            <a:off x="6080775" y="3388500"/>
            <a:ext cx="2871225" cy="40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 lIns="40000" rIns="40000" tIns="0" b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44444"/>
                </a:solidFill>
              </a:rPr>
              <a:t>100</a:t>
            </a:r>
            <a:endParaRPr/>
          </a:p>
        </p:txBody>
      </p:sp>
      <p:sp>
        <p:nvSpPr>
          <p:cNvPr id="224" name="limits-row-2-bg-2"/>
          <p:cNvSpPr/>
          <p:nvPr/>
        </p:nvSpPr>
        <p:spPr>
          <a:xfrm>
            <a:off x="8952000" y="3388500"/>
            <a:ext cx="2871225" cy="400000"/>
          </a:xfrm>
          <a:prstGeom prst="rect">
            <a:avLst/>
          </a:prstGeom>
          <a:solidFill>
            <a:srgbClr val="F9FAFC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5" name="limits-row-2-2"/>
          <p:cNvSpPr txBox="1"/>
          <p:nvPr/>
        </p:nvSpPr>
        <p:spPr>
          <a:xfrm>
            <a:off x="8952000" y="3388500"/>
            <a:ext cx="2871225" cy="40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 lIns="40000" rIns="40000" tIns="0" b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44444"/>
                </a:solidFill>
              </a:rPr>
              <a:t>100</a:t>
            </a:r>
            <a:endParaRPr/>
          </a:p>
        </p:txBody>
      </p:sp>
      <p:sp>
        <p:nvSpPr>
          <p:cNvPr id="226" name="limits-row-3-bg-0"/>
          <p:cNvSpPr/>
          <p:nvPr/>
        </p:nvSpPr>
        <p:spPr>
          <a:xfrm>
            <a:off x="338325" y="3788500"/>
            <a:ext cx="5742450" cy="4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7" name="limits-row-3-0"/>
          <p:cNvSpPr txBox="1"/>
          <p:nvPr/>
        </p:nvSpPr>
        <p:spPr>
          <a:xfrm>
            <a:off x="338325" y="3788500"/>
            <a:ext cx="5742450" cy="40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 lIns="110000" rIns="40000" tIns="0" b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b="1">
                <a:solidFill>
                  <a:srgbClr val="333333"/>
                </a:solidFill>
              </a:rPr>
              <a:t>Daily cursors (per org)</a:t>
            </a:r>
            <a:endParaRPr/>
          </a:p>
        </p:txBody>
      </p:sp>
      <p:sp>
        <p:nvSpPr>
          <p:cNvPr id="228" name="limits-row-3-bg-1"/>
          <p:cNvSpPr/>
          <p:nvPr/>
        </p:nvSpPr>
        <p:spPr>
          <a:xfrm>
            <a:off x="6080775" y="3788500"/>
            <a:ext cx="2871225" cy="4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9" name="limits-row-3-1"/>
          <p:cNvSpPr txBox="1"/>
          <p:nvPr/>
        </p:nvSpPr>
        <p:spPr>
          <a:xfrm>
            <a:off x="6080775" y="3788500"/>
            <a:ext cx="2871225" cy="40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 lIns="40000" rIns="40000" tIns="0" b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44444"/>
                </a:solidFill>
              </a:rPr>
              <a:t>200,000</a:t>
            </a:r>
            <a:endParaRPr/>
          </a:p>
        </p:txBody>
      </p:sp>
      <p:sp>
        <p:nvSpPr>
          <p:cNvPr id="230" name="limits-row-3-bg-2"/>
          <p:cNvSpPr/>
          <p:nvPr/>
        </p:nvSpPr>
        <p:spPr>
          <a:xfrm>
            <a:off x="8952000" y="3788500"/>
            <a:ext cx="2871225" cy="4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limits-row-3-2"/>
          <p:cNvSpPr txBox="1"/>
          <p:nvPr/>
        </p:nvSpPr>
        <p:spPr>
          <a:xfrm>
            <a:off x="8952000" y="3788500"/>
            <a:ext cx="2871225" cy="40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 lIns="40000" rIns="40000" tIns="0" b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44444"/>
                </a:solidFill>
              </a:rPr>
              <a:t>10,000</a:t>
            </a:r>
            <a:endParaRPr/>
          </a:p>
        </p:txBody>
      </p:sp>
      <p:sp>
        <p:nvSpPr>
          <p:cNvPr id="232" name="limits-row-4-bg-0"/>
          <p:cNvSpPr/>
          <p:nvPr/>
        </p:nvSpPr>
        <p:spPr>
          <a:xfrm>
            <a:off x="338325" y="4188500"/>
            <a:ext cx="5742450" cy="400000"/>
          </a:xfrm>
          <a:prstGeom prst="rect">
            <a:avLst/>
          </a:prstGeom>
          <a:solidFill>
            <a:srgbClr val="F9FAFC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3" name="limits-row-4-0"/>
          <p:cNvSpPr txBox="1"/>
          <p:nvPr/>
        </p:nvSpPr>
        <p:spPr>
          <a:xfrm>
            <a:off x="338325" y="4188500"/>
            <a:ext cx="5742450" cy="40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 lIns="110000" rIns="40000" tIns="0" b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b="1">
                <a:solidFill>
                  <a:srgbClr val="333333"/>
                </a:solidFill>
              </a:rPr>
              <a:t>Daily cursor rows (per org)</a:t>
            </a:r>
            <a:endParaRPr/>
          </a:p>
        </p:txBody>
      </p:sp>
      <p:sp>
        <p:nvSpPr>
          <p:cNvPr id="234" name="limits-row-4-bg-1"/>
          <p:cNvSpPr/>
          <p:nvPr/>
        </p:nvSpPr>
        <p:spPr>
          <a:xfrm>
            <a:off x="6080775" y="4188500"/>
            <a:ext cx="2871225" cy="400000"/>
          </a:xfrm>
          <a:prstGeom prst="rect">
            <a:avLst/>
          </a:prstGeom>
          <a:solidFill>
            <a:srgbClr val="F9FAFC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5" name="limits-row-4-1"/>
          <p:cNvSpPr txBox="1"/>
          <p:nvPr/>
        </p:nvSpPr>
        <p:spPr>
          <a:xfrm>
            <a:off x="6080775" y="4188500"/>
            <a:ext cx="2871225" cy="40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 lIns="40000" rIns="40000" tIns="0" b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44444"/>
                </a:solidFill>
              </a:rPr>
              <a:t>1,000,000,000</a:t>
            </a:r>
            <a:endParaRPr/>
          </a:p>
        </p:txBody>
      </p:sp>
      <p:sp>
        <p:nvSpPr>
          <p:cNvPr id="236" name="limits-row-4-bg-2"/>
          <p:cNvSpPr/>
          <p:nvPr/>
        </p:nvSpPr>
        <p:spPr>
          <a:xfrm>
            <a:off x="8952000" y="4188500"/>
            <a:ext cx="2871225" cy="400000"/>
          </a:xfrm>
          <a:prstGeom prst="rect">
            <a:avLst/>
          </a:prstGeom>
          <a:solidFill>
            <a:srgbClr val="F9FAFC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7" name="limits-row-4-2"/>
          <p:cNvSpPr txBox="1"/>
          <p:nvPr/>
        </p:nvSpPr>
        <p:spPr>
          <a:xfrm>
            <a:off x="8952000" y="4188500"/>
            <a:ext cx="2871225" cy="40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 lIns="40000" rIns="40000" tIns="0" b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44444"/>
                </a:solidFill>
              </a:rPr>
              <a:t>1,000,000,000</a:t>
            </a:r>
            <a:endParaRPr/>
          </a:p>
        </p:txBody>
      </p:sp>
      <p:sp>
        <p:nvSpPr>
          <p:cNvPr id="239" name="limits-info-panel"/>
          <p:cNvSpPr txBox="1"/>
          <p:nvPr/>
        </p:nvSpPr>
        <p:spPr>
          <a:xfrm>
            <a:off x="338325" y="4698500"/>
            <a:ext cx="11484900" cy="9000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="t" anchorCtr="0" wrap="square" lIns="130000" rIns="110000" tIns="110000" bIns="110000">
            <a:no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750"/>
              <a:t>Max rows per cursor caps each cursor's result set size — not a per-transaction row governor.</a:t>
            </a:r>
            <a:endParaRPr/>
          </a:p>
          <a:p>
            <a:pPr indent="-2857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750"/>
              <a:t>Fetch calls are shared: Cursor.fetch and PaginationCursor.fetchPage both count toward the 100-call limit.</a:t>
            </a:r>
            <a:endParaRPr/>
          </a:p>
        </p:txBody>
      </p:sp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Limits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p-card-bg-201"/>
          <p:cNvSpPr/>
          <p:nvPr/>
        </p:nvSpPr>
        <p:spPr>
          <a:xfrm>
            <a:off x="338325" y="2116500"/>
            <a:ext cx="5662450" cy="1120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2" name="tip-emoji-202"/>
          <p:cNvSpPr txBox="1"/>
          <p:nvPr/>
        </p:nvSpPr>
        <p:spPr>
          <a:xfrm>
            <a:off x="428325" y="25065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>
            <a:noAutofit/>
          </a:bodyPr>
          <a:lstStyle/>
          <a:p>
            <a:pPr algn="ctr">
              <a:buNone/>
            </a:pPr>
            <a:r>
              <a:rPr lang="en-US" sz="3200"/>
              <a:t>🔍</a:t>
            </a:r>
            <a:endParaRPr/>
          </a:p>
        </p:txBody>
      </p:sp>
      <p:sp>
        <p:nvSpPr>
          <p:cNvPr id="203" name="tip-content-203"/>
          <p:cNvSpPr txBox="1"/>
          <p:nvPr/>
        </p:nvSpPr>
        <p:spPr>
          <a:xfrm>
            <a:off x="858325" y="2201500"/>
            <a:ext cx="5057450" cy="950000"/>
          </a:xfrm>
          <a:prstGeom prst="rect">
            <a:avLst/>
          </a:prstGeom>
          <a:noFill/>
          <a:ln>
            <a:noFill/>
          </a:ln>
        </p:spPr>
        <p:txBody>
          <a:bodyPr anchor="t" anchorCtr="0" wrap="square" lIns="27432" rIns="27432" tIns="0" bIns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1650" b="1">
                <a:solidFill>
                  <a:srgbClr val="4A6FA5"/>
                </a:solidFill>
              </a:rPr>
              <a:t>Instrument limits first</a:t>
            </a:r>
            <a:endParaRPr/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44"/>
                </a:solidFill>
              </a:rPr>
              <a:t>Show cursor, fetch, and row limits in the UI before users hit governor walls.</a:t>
            </a:r>
            <a:endParaRPr/>
          </a:p>
        </p:txBody>
      </p:sp>
      <p:sp>
        <p:nvSpPr>
          <p:cNvPr id="204" name="tip-card-bg-204"/>
          <p:cNvSpPr/>
          <p:nvPr/>
        </p:nvSpPr>
        <p:spPr>
          <a:xfrm>
            <a:off x="6160775" y="2116500"/>
            <a:ext cx="5662450" cy="1120000"/>
          </a:xfrm>
          <a:prstGeom prst="roundRect">
            <a:avLst>
              <a:gd name="adj" fmla="val 8000"/>
            </a:avLst>
          </a:prstGeom>
          <a:solidFill>
            <a:srgbClr val="F3FAF4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5" name="tip-emoji-205"/>
          <p:cNvSpPr txBox="1"/>
          <p:nvPr/>
        </p:nvSpPr>
        <p:spPr>
          <a:xfrm>
            <a:off x="6250775" y="25065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>
            <a:noAutofit/>
          </a:bodyPr>
          <a:lstStyle/>
          <a:p>
            <a:pPr algn="ctr">
              <a:buNone/>
            </a:pPr>
            <a:r>
              <a:rPr lang="en-US" sz="3200"/>
              <a:t>📦</a:t>
            </a:r>
            <a:endParaRPr/>
          </a:p>
        </p:txBody>
      </p:sp>
      <p:sp>
        <p:nvSpPr>
          <p:cNvPr id="206" name="tip-content-206"/>
          <p:cNvSpPr txBox="1"/>
          <p:nvPr/>
        </p:nvSpPr>
        <p:spPr>
          <a:xfrm>
            <a:off x="6680775" y="2201500"/>
            <a:ext cx="5057450" cy="950000"/>
          </a:xfrm>
          <a:prstGeom prst="rect">
            <a:avLst/>
          </a:prstGeom>
          <a:noFill/>
          <a:ln>
            <a:noFill/>
          </a:ln>
        </p:spPr>
        <p:txBody>
          <a:bodyPr anchor="t" anchorCtr="0" wrap="square" lIns="27432" rIns="27432" tIns="0" bIns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1650" b="1">
                <a:solidFill>
                  <a:srgbClr val="5A7A3A"/>
                </a:solidFill>
              </a:rPr>
              <a:t>Session cache vs LWC state</a:t>
            </a:r>
            <a:endParaRPr/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44"/>
                </a:solidFill>
              </a:rPr>
              <a:t>Cache.Session survives Apex calls; LWC-held cursor avoids server-side state.</a:t>
            </a:r>
            <a:endParaRPr/>
          </a:p>
        </p:txBody>
      </p:sp>
      <p:sp>
        <p:nvSpPr>
          <p:cNvPr id="207" name="tip-card-bg-207"/>
          <p:cNvSpPr/>
          <p:nvPr/>
        </p:nvSpPr>
        <p:spPr>
          <a:xfrm>
            <a:off x="338325" y="3366500"/>
            <a:ext cx="5662450" cy="1120000"/>
          </a:xfrm>
          <a:prstGeom prst="roundRect">
            <a:avLst>
              <a:gd name="adj" fmla="val 8000"/>
            </a:avLst>
          </a:prstGeom>
          <a:solidFill>
            <a:srgbClr val="FFF9F2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8" name="tip-emoji-208"/>
          <p:cNvSpPr txBox="1"/>
          <p:nvPr/>
        </p:nvSpPr>
        <p:spPr>
          <a:xfrm>
            <a:off x="428325" y="37565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>
            <a:noAutofit/>
          </a:bodyPr>
          <a:lstStyle/>
          <a:p>
            <a:pPr algn="ctr">
              <a:buNone/>
            </a:pPr>
            <a:r>
              <a:rPr lang="en-US" sz="3200"/>
              <a:t>📄</a:t>
            </a:r>
            <a:endParaRPr/>
          </a:p>
        </p:txBody>
      </p:sp>
      <p:sp>
        <p:nvSpPr>
          <p:cNvPr id="209" name="tip-content-209"/>
          <p:cNvSpPr txBox="1"/>
          <p:nvPr/>
        </p:nvSpPr>
        <p:spPr>
          <a:xfrm>
            <a:off x="858325" y="3451500"/>
            <a:ext cx="5057450" cy="950000"/>
          </a:xfrm>
          <a:prstGeom prst="rect">
            <a:avLst/>
          </a:prstGeom>
          <a:noFill/>
          <a:ln>
            <a:noFill/>
          </a:ln>
        </p:spPr>
        <p:txBody>
          <a:bodyPr anchor="t" anchorCtr="0" wrap="square" lIns="27432" rIns="27432" tIns="0" bIns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1650" b="1">
                <a:solidFill>
                  <a:srgbClr val="C47A20"/>
                </a:solidFill>
              </a:rPr>
              <a:t>Pagination for drill-down</a:t>
            </a:r>
            <a:endParaRPr/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44"/>
                </a:solidFill>
              </a:rPr>
              <a:t>PaginationCursor + fetchPage for deleted rows and chart index ranges.</a:t>
            </a:r>
            <a:endParaRPr/>
          </a:p>
        </p:txBody>
      </p:sp>
      <p:sp>
        <p:nvSpPr>
          <p:cNvPr id="210" name="tip-card-bg-210"/>
          <p:cNvSpPr/>
          <p:nvPr/>
        </p:nvSpPr>
        <p:spPr>
          <a:xfrm>
            <a:off x="6160775" y="3366500"/>
            <a:ext cx="5662450" cy="1120000"/>
          </a:xfrm>
          <a:prstGeom prst="roundRect">
            <a:avLst>
              <a:gd name="adj" fmla="val 8000"/>
            </a:avLst>
          </a:prstGeom>
          <a:solidFill>
            <a:srgbClr val="FEF5F6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1" name="tip-emoji-211"/>
          <p:cNvSpPr txBox="1"/>
          <p:nvPr/>
        </p:nvSpPr>
        <p:spPr>
          <a:xfrm>
            <a:off x="6250775" y="37565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>
            <a:noAutofit/>
          </a:bodyPr>
          <a:lstStyle/>
          <a:p>
            <a:pPr algn="ctr">
              <a:buNone/>
            </a:pPr>
            <a:r>
              <a:rPr lang="en-US" sz="3200"/>
              <a:t>📐</a:t>
            </a:r>
            <a:endParaRPr/>
          </a:p>
        </p:txBody>
      </p:sp>
      <p:sp>
        <p:nvSpPr>
          <p:cNvPr id="212" name="tip-content-212"/>
          <p:cNvSpPr txBox="1"/>
          <p:nvPr/>
        </p:nvSpPr>
        <p:spPr>
          <a:xfrm>
            <a:off x="6680775" y="3451500"/>
            <a:ext cx="5057450" cy="950000"/>
          </a:xfrm>
          <a:prstGeom prst="rect">
            <a:avLst/>
          </a:prstGeom>
          <a:noFill/>
          <a:ln>
            <a:noFill/>
          </a:ln>
        </p:spPr>
        <p:txBody>
          <a:bodyPr anchor="t" anchorCtr="0" wrap="square" lIns="27432" rIns="27432" tIns="0" bIns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1650" b="1">
                <a:solidFill>
                  <a:srgbClr val="891019"/>
                </a:solidFill>
              </a:rPr>
              <a:t>Stable ORDER BY</a:t>
            </a:r>
            <a:endParaRPr/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44"/>
                </a:solidFill>
              </a:rPr>
              <a:t>Sort on a unique key so offsets and page indexes stay predictable.</a:t>
            </a:r>
            <a:endParaRPr/>
          </a:p>
        </p:txBody>
      </p:sp>
      <p:sp>
        <p:nvSpPr>
          <p:cNvPr id="213" name="tip-card-bg-213"/>
          <p:cNvSpPr/>
          <p:nvPr/>
        </p:nvSpPr>
        <p:spPr>
          <a:xfrm>
            <a:off x="338325" y="4616500"/>
            <a:ext cx="5662450" cy="1120000"/>
          </a:xfrm>
          <a:prstGeom prst="roundRect">
            <a:avLst>
              <a:gd name="adj" fmla="val 8000"/>
            </a:avLst>
          </a:prstGeom>
          <a:solidFill>
            <a:srgbClr val="F0F6FF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4" name="tip-emoji-214"/>
          <p:cNvSpPr txBox="1"/>
          <p:nvPr/>
        </p:nvSpPr>
        <p:spPr>
          <a:xfrm>
            <a:off x="428325" y="50065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>
            <a:noAutofit/>
          </a:bodyPr>
          <a:lstStyle/>
          <a:p>
            <a:pPr algn="ctr">
              <a:buNone/>
            </a:pPr>
            <a:r>
              <a:rPr lang="en-US" sz="3200"/>
              <a:t>⚡</a:t>
            </a:r>
            <a:endParaRPr/>
          </a:p>
        </p:txBody>
      </p:sp>
      <p:sp>
        <p:nvSpPr>
          <p:cNvPr id="215" name="tip-content-215"/>
          <p:cNvSpPr txBox="1"/>
          <p:nvPr/>
        </p:nvSpPr>
        <p:spPr>
          <a:xfrm>
            <a:off x="858325" y="4701500"/>
            <a:ext cx="5057450" cy="950000"/>
          </a:xfrm>
          <a:prstGeom prst="rect">
            <a:avLst/>
          </a:prstGeom>
          <a:noFill/>
          <a:ln>
            <a:noFill/>
          </a:ln>
        </p:spPr>
        <p:txBody>
          <a:bodyPr anchor="t" anchorCtr="0" wrap="square" lIns="27432" rIns="27432" tIns="0" bIns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1650" b="1">
                <a:solidFill>
                  <a:srgbClr val="2E6DB4"/>
                </a:solidFill>
              </a:rPr>
              <a:t>Right-size each fetch</a:t>
            </a:r>
            <a:endParaRPr/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44"/>
                </a:solidFill>
              </a:rPr>
              <a:t>Smaller batches feel snappier; larger batches mean fewer fetch calls.</a:t>
            </a:r>
            <a:endParaRPr/>
          </a:p>
        </p:txBody>
      </p:sp>
      <p:sp>
        <p:nvSpPr>
          <p:cNvPr id="216" name="tip-card-bg-216"/>
          <p:cNvSpPr/>
          <p:nvPr/>
        </p:nvSpPr>
        <p:spPr>
          <a:xfrm>
            <a:off x="6160775" y="4616500"/>
            <a:ext cx="5662450" cy="1120000"/>
          </a:xfrm>
          <a:prstGeom prst="roundRect">
            <a:avLst>
              <a:gd name="adj" fmla="val 8000"/>
            </a:avLst>
          </a:prstGeom>
          <a:solidFill>
            <a:srgbClr val="F7F5FA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7" name="tip-emoji-217"/>
          <p:cNvSpPr txBox="1"/>
          <p:nvPr/>
        </p:nvSpPr>
        <p:spPr>
          <a:xfrm>
            <a:off x="6250775" y="50065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>
            <a:noAutofit/>
          </a:bodyPr>
          <a:lstStyle/>
          <a:p>
            <a:pPr algn="ctr">
              <a:buNone/>
            </a:pPr>
            <a:r>
              <a:rPr lang="en-US" sz="3200"/>
              <a:t>🛡️</a:t>
            </a:r>
            <a:endParaRPr/>
          </a:p>
        </p:txBody>
      </p:sp>
      <p:sp>
        <p:nvSpPr>
          <p:cNvPr id="218" name="tip-content-218"/>
          <p:cNvSpPr txBox="1"/>
          <p:nvPr/>
        </p:nvSpPr>
        <p:spPr>
          <a:xfrm>
            <a:off x="6680775" y="4701500"/>
            <a:ext cx="5057450" cy="950000"/>
          </a:xfrm>
          <a:prstGeom prst="rect">
            <a:avLst/>
          </a:prstGeom>
          <a:noFill/>
          <a:ln>
            <a:noFill/>
          </a:ln>
        </p:spPr>
        <p:txBody>
          <a:bodyPr anchor="t" anchorCtr="0" wrap="square" lIns="27432" rIns="27432" tIns="0" bIns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1650" b="1">
                <a:solidFill>
                  <a:srgbClr val="6B5B95"/>
                </a:solidFill>
              </a:rPr>
              <a:t>USER_MODE by default</a:t>
            </a:r>
            <a:endParaRPr/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44"/>
                </a:solidFill>
              </a:rPr>
              <a:t>Pass AccessLevel.USER_MODE on getCursor unless elevated access is required.</a:t>
            </a:r>
            <a:endParaRPr/>
          </a:p>
        </p:txBody>
      </p:sp>
      <p:sp>
        <p:nvSpPr>
          <p:cNvPr id="118" name="tips-subtitle"/>
          <p:cNvSpPr txBox="1"/>
          <p:nvPr/>
        </p:nvSpPr>
        <p:spPr>
          <a:xfrm>
            <a:off x="338325" y="995000"/>
            <a:ext cx="11484900" cy="1500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Autofit/>
          </a:bodyPr>
          <a:lstStyle/>
          <a:p>
            <a:pPr algn="l">
              <a:buNone/>
            </a:pPr>
            <a:r>
              <a:rPr lang="en-US" sz="1500" i="1">
                <a:solidFill>
                  <a:srgbClr val="666666"/>
                </a:solidFill>
              </a:rPr>
              <a:t>Practical patterns from the Apex Cursor demos</a:t>
            </a:r>
            <a:endParaRPr/>
          </a:p>
        </p:txBody>
      </p:sp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Tips and Tricks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ctrTitle"/>
          </p:nvPr>
        </p:nvSpPr>
        <p:spPr>
          <a:xfrm>
            <a:off x="360362" y="2691891"/>
            <a:ext cx="109083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050F"/>
              </a:buClr>
              <a:buSzPts val="5400"/>
              <a:buFont typeface="Arial"/>
              <a:buNone/>
            </a:pPr>
            <a:r>
              <a:rPr lang="en-US"/>
              <a:t>Q&amp;A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412162" y="4374565"/>
            <a:ext cx="47226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/>
          <a:p>
            <a:pPr indent="-12065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900"/>
              <a:buChar char="​"/>
            </a:pPr>
            <a:r>
              <a:rPr lang="en-US" sz="1900">
                <a:solidFill>
                  <a:srgbClr val="800000"/>
                </a:solidFill>
              </a:rPr>
              <a:t>Andrew Fawcett</a:t>
            </a:r>
            <a:endParaRPr sz="1900">
              <a:solidFill>
                <a:srgbClr val="800000"/>
              </a:solidFill>
            </a:endParaRPr>
          </a:p>
          <a:p>
            <a:pPr indent="-12065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00"/>
              <a:buChar char="​"/>
            </a:pPr>
            <a:r>
              <a:rPr lang="en-US" sz="1900" u="sng">
                <a:solidFill>
                  <a:schemeClr val="hlink"/>
                </a:solidFill>
                <a:hlinkClick r:id="rId3"/>
              </a:rPr>
              <a:t>andy@andyinthecloud.com</a:t>
            </a:r>
            <a:r>
              <a:rPr lang="en-US" sz="1900">
                <a:solidFill>
                  <a:srgbClr val="800000"/>
                </a:solidFill>
              </a:rPr>
              <a:t> | LinkedIn</a:t>
            </a:r>
            <a:endParaRPr sz="1900">
              <a:solidFill>
                <a:srgbClr val="800000"/>
              </a:solidFill>
            </a:endParaRPr>
          </a:p>
          <a:p>
            <a:pPr indent="-12065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00"/>
              <a:buChar char="​"/>
            </a:pPr>
            <a:r>
              <a:t/>
            </a:r>
            <a:endParaRPr sz="1900">
              <a:solidFill>
                <a:srgbClr val="800000"/>
              </a:solidFill>
            </a:endParaRPr>
          </a:p>
          <a:p>
            <a:pPr indent="-101600" lvl="0" marL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Char char="​"/>
            </a:pPr>
            <a:r>
              <a:t/>
            </a:r>
            <a:endParaRPr sz="1600">
              <a:solidFill>
                <a:srgbClr val="800000"/>
              </a:solidFill>
            </a:endParaRPr>
          </a:p>
          <a:p>
            <a:pPr indent="-101600" lvl="0" marL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Char char="​"/>
            </a:pPr>
            <a:r>
              <a:rPr lang="en-US" sz="1600">
                <a:solidFill>
                  <a:srgbClr val="800000"/>
                </a:solidFill>
              </a:rPr>
              <a:t>	</a:t>
            </a:r>
            <a:endParaRPr sz="1600">
              <a:solidFill>
                <a:srgbClr val="800000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ctrTitle"/>
          </p:nvPr>
        </p:nvSpPr>
        <p:spPr>
          <a:xfrm>
            <a:off x="360362" y="2691891"/>
            <a:ext cx="109083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050F"/>
              </a:buClr>
              <a:buSzPts val="5400"/>
              <a:buFont typeface="Arial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95" name="Google Shape;195;p23"/>
          <p:cNvSpPr txBox="1"/>
          <p:nvPr/>
        </p:nvSpPr>
        <p:spPr>
          <a:xfrm>
            <a:off x="412162" y="4374565"/>
            <a:ext cx="47226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/>
          <a:p>
            <a:pPr indent="-12065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900"/>
              <a:buChar char="​"/>
            </a:pPr>
            <a:r>
              <a:rPr lang="en-US" sz="1900">
                <a:solidFill>
                  <a:srgbClr val="800000"/>
                </a:solidFill>
              </a:rPr>
              <a:t>Andrew Fawcett</a:t>
            </a:r>
            <a:endParaRPr sz="1900">
              <a:solidFill>
                <a:srgbClr val="800000"/>
              </a:solidFill>
            </a:endParaRPr>
          </a:p>
          <a:p>
            <a:pPr indent="-12065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00"/>
              <a:buChar char="​"/>
            </a:pPr>
            <a:r>
              <a:rPr lang="en-US" sz="1900" u="sng">
                <a:solidFill>
                  <a:schemeClr val="hlink"/>
                </a:solidFill>
                <a:hlinkClick r:id="rId3"/>
              </a:rPr>
              <a:t>andy@andyinthecloud.com</a:t>
            </a:r>
            <a:r>
              <a:rPr lang="en-US" sz="1900">
                <a:solidFill>
                  <a:srgbClr val="800000"/>
                </a:solidFill>
              </a:rPr>
              <a:t> | LinkedIn</a:t>
            </a:r>
            <a:endParaRPr sz="1900">
              <a:solidFill>
                <a:srgbClr val="800000"/>
              </a:solidFill>
            </a:endParaRPr>
          </a:p>
          <a:p>
            <a:pPr indent="-12065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00"/>
              <a:buChar char="​"/>
            </a:pPr>
            <a:r>
              <a:t/>
            </a:r>
            <a:endParaRPr sz="1900">
              <a:solidFill>
                <a:srgbClr val="800000"/>
              </a:solidFill>
            </a:endParaRPr>
          </a:p>
          <a:p>
            <a:pPr indent="-101600" lvl="0" marL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Char char="​"/>
            </a:pPr>
            <a:r>
              <a:t/>
            </a:r>
            <a:endParaRPr sz="1600">
              <a:solidFill>
                <a:srgbClr val="800000"/>
              </a:solidFill>
            </a:endParaRPr>
          </a:p>
          <a:p>
            <a:pPr indent="-101600" lvl="0" marL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Char char="​"/>
            </a:pPr>
            <a:r>
              <a:rPr lang="en-US" sz="1600">
                <a:solidFill>
                  <a:srgbClr val="800000"/>
                </a:solidFill>
              </a:rPr>
              <a:t>	</a:t>
            </a:r>
            <a:endParaRPr sz="1600">
              <a:solidFill>
                <a:srgbClr val="800000"/>
              </a:solidFill>
            </a:endParaRPr>
          </a:p>
          <a:p>
            <a:pPr indent="-120650" lvl="0" marL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900"/>
              <a:buChar char="​"/>
            </a:pPr>
            <a:r>
              <a:t/>
            </a:r>
            <a:endParaRPr sz="1900">
              <a:solidFill>
                <a:srgbClr val="800000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Salesforce 2014 Interim">
      <a:dk1>
        <a:srgbClr val="262626"/>
      </a:dk1>
      <a:lt1>
        <a:srgbClr val="FFFFFF"/>
      </a:lt1>
      <a:dk2>
        <a:srgbClr val="003C4D"/>
      </a:dk2>
      <a:lt2>
        <a:srgbClr val="D9E0E2"/>
      </a:lt2>
      <a:accent1>
        <a:srgbClr val="00A1E0"/>
      </a:accent1>
      <a:accent2>
        <a:srgbClr val="7C868D"/>
      </a:accent2>
      <a:accent3>
        <a:srgbClr val="008675"/>
      </a:accent3>
      <a:accent4>
        <a:srgbClr val="5C068C"/>
      </a:accent4>
      <a:accent5>
        <a:srgbClr val="E98300"/>
      </a:accent5>
      <a:accent6>
        <a:srgbClr val="F1C300"/>
      </a:accent6>
      <a:hlink>
        <a:srgbClr val="0075A4"/>
      </a:hlink>
      <a:folHlink>
        <a:srgbClr val="9430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ondon's Calling">
  <a:themeElements>
    <a:clrScheme name="Salesforce Color Pallet - June 2015 2">
      <a:dk1>
        <a:srgbClr val="1C1C1C"/>
      </a:dk1>
      <a:lt1>
        <a:srgbClr val="FFFFFF"/>
      </a:lt1>
      <a:dk2>
        <a:srgbClr val="19325C"/>
      </a:dk2>
      <a:lt2>
        <a:srgbClr val="D0D9DE"/>
      </a:lt2>
      <a:accent1>
        <a:srgbClr val="00A1E0"/>
      </a:accent1>
      <a:accent2>
        <a:srgbClr val="7C868D"/>
      </a:accent2>
      <a:accent3>
        <a:srgbClr val="00B2A9"/>
      </a:accent3>
      <a:accent4>
        <a:srgbClr val="963CBD"/>
      </a:accent4>
      <a:accent5>
        <a:srgbClr val="ED8B00"/>
      </a:accent5>
      <a:accent6>
        <a:srgbClr val="FFC72C"/>
      </a:accent6>
      <a:hlink>
        <a:srgbClr val="001871"/>
      </a:hlink>
      <a:folHlink>
        <a:srgbClr val="963C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