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notesSlide+xml" PartName="/ppt/notesSlides/notesSlide1.xml"/>
  <Override ContentType="application/vnd.openxmlformats-officedocument.presentationml.slide+xml" PartName="/ppt/slides/slide2.xml"/>
  <Override ContentType="application/vnd.openxmlformats-officedocument.presentationml.notesSlide+xml" PartName="/ppt/notesSlides/notesSlide2.xml"/>
  <Override ContentType="application/vnd.openxmlformats-officedocument.presentationml.slide+xml" PartName="/ppt/slides/slide3.xml"/>
  <Override ContentType="application/vnd.openxmlformats-officedocument.presentationml.notesSlide+xml" PartName="/ppt/notesSlides/notesSlide3.xml"/>
  <Override ContentType="application/vnd.openxmlformats-officedocument.presentationml.slide+xml" PartName="/ppt/slides/slide4.xml"/>
  <Override ContentType="application/vnd.openxmlformats-officedocument.presentationml.notesSlide+xml" PartName="/ppt/notesSlides/notesSlide4.xml"/>
  <Override ContentType="application/vnd.openxmlformats-officedocument.presentationml.slide+xml" PartName="/ppt/slides/slide5.xml"/>
  <Override ContentType="application/vnd.openxmlformats-officedocument.presentationml.notesSlide+xml" PartName="/ppt/notesSlides/notesSlide5.xml"/>
  <Override ContentType="application/vnd.openxmlformats-officedocument.presentationml.slide+xml" PartName="/ppt/slides/slide6.xml"/>
  <Override ContentType="application/vnd.openxmlformats-officedocument.presentationml.notesSlide+xml" PartName="/ppt/notesSlides/notesSlide6.xml"/>
  <Override ContentType="application/vnd.openxmlformats-officedocument.presentationml.slide+xml" PartName="/ppt/slides/slide7.xml"/>
  <Override ContentType="application/vnd.openxmlformats-officedocument.presentationml.notesSlide+xml" PartName="/ppt/notesSlides/notesSlide7.xml"/>
  <Override ContentType="application/vnd.openxmlformats-officedocument.presentationml.slide+xml" PartName="/ppt/slides/slide8.xml"/>
  <Override ContentType="application/vnd.openxmlformats-officedocument.presentationml.notesSlide+xml" PartName="/ppt/notesSlides/notesSlide8.xml"/>
  <Override ContentType="application/vnd.openxmlformats-officedocument.presentationml.slide+xml" PartName="/ppt/slides/slide9.xml"/>
  <Override ContentType="application/vnd.openxmlformats-officedocument.presentationml.notesSlide+xml" PartName="/ppt/notesSlides/notesSlide9.xml"/>
  <Override ContentType="application/vnd.openxmlformats-officedocument.presentationml.slide+xml" PartName="/ppt/slides/slide10.xml"/>
  <Override ContentType="application/vnd.openxmlformats-officedocument.presentationml.notesSlide+xml" PartName="/ppt/notesSlides/notesSlide10.xml"/>
  <Override ContentType="application/vnd.openxmlformats-officedocument.presentationml.slide+xml" PartName="/ppt/slides/slide11.xml"/>
  <Override ContentType="application/vnd.openxmlformats-officedocument.presentationml.notesSlide+xml" PartName="/ppt/notesSlides/notesSlide11.xml"/>
  <Override ContentType="application/vnd.openxmlformats-officedocument.presentationml.slide+xml" PartName="/ppt/slides/slide12.xml"/>
  <Override ContentType="application/vnd.openxmlformats-officedocument.presentationml.notesSlide+xml" PartName="/ppt/notesSlides/notesSlide12.xml"/>
  <Override ContentType="application/vnd.openxmlformats-officedocument.presentationml.slide+xml" PartName="/ppt/slides/slide13.xml"/>
  <Override ContentType="application/vnd.openxmlformats-officedocument.presentationml.notesSlide+xml" PartName="/ppt/notesSlides/notesSlide13.xml"/>
  <Override ContentType="application/vnd.openxmlformats-officedocument.presentationml.slide+xml" PartName="/ppt/slides/slide14.xml"/>
  <Override ContentType="application/vnd.openxmlformats-officedocument.presentationml.notesSlide+xml" PartName="/ppt/notesSlides/notesSlide14.xml"/>
  <Override ContentType="application/vnd.openxmlformats-officedocument.presentationml.slide+xml" PartName="/ppt/slides/slide15.xml"/>
  <Override ContentType="application/vnd.openxmlformats-officedocument.presentationml.notesSlide+xml" PartName="/ppt/notesSlides/notesSlide15.xml"/>
  <Override ContentType="application/vnd.openxmlformats-officedocument.presentationml.slide+xml" PartName="/ppt/slides/slide16.xml"/>
  <Override ContentType="application/vnd.openxmlformats-officedocument.presentationml.notesSlide+xml" PartName="/ppt/notesSlides/notesSlide16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6858000" cx="12188825"/>
  <p:notesSz cx="7010400" cy="9296400"/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47" orient="horz"/>
        <p:guide pos="3897" orient="horz"/>
        <p:guide pos="546" orient="horz"/>
        <p:guide pos="738" orient="horz"/>
        <p:guide pos="4319" orient="horz"/>
        <p:guide pos="1272" orient="horz"/>
        <p:guide pos="212"/>
        <p:guide pos="7468"/>
        <p:guide pos="3832" orient="horz"/>
        <p:guide pos="386" orient="horz"/>
        <p:guide pos="1024" orient="horz"/>
        <p:guide pos="220"/>
      </p:guideLst>
    </p:cSldViewPr>
  </p:slide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pos="2928" orient="horz"/>
        <p:guide pos="2208"/>
      </p:guideLst>
    </p:cSldViewPr>
  </p:notesViewPr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-1" y="0"/>
            <a:ext cx="5049795" cy="464820"/>
          </a:xfrm>
          <a:prstGeom prst="rect">
            <a:avLst/>
          </a:prstGeom>
          <a:noFill/>
          <a:ln>
            <a:noFill/>
          </a:ln>
        </p:spPr>
        <p:txBody>
          <a:bodyPr anchorCtr="0" anchor="t" bIns="46575" lIns="93175" spcFirstLastPara="1" rIns="93175" wrap="square" tIns="465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5766485" y="0"/>
            <a:ext cx="1243915" cy="464820"/>
          </a:xfrm>
          <a:prstGeom prst="rect">
            <a:avLst/>
          </a:prstGeom>
          <a:noFill/>
          <a:ln>
            <a:noFill/>
          </a:ln>
        </p:spPr>
        <p:txBody>
          <a:bodyPr anchorCtr="0" anchor="t" bIns="46575" lIns="93175" spcFirstLastPara="1" rIns="93175" wrap="square" tIns="465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  <a:noFill/>
          <a:ln>
            <a:noFill/>
          </a:ln>
        </p:spPr>
        <p:txBody>
          <a:bodyPr anchorCtr="0" anchor="t" bIns="46575" lIns="93175" spcFirstLastPara="1" rIns="93175" wrap="square" tIns="4657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7" name="Google Shape;7;n"/>
          <p:cNvCxnSpPr/>
          <p:nvPr/>
        </p:nvCxnSpPr>
        <p:spPr>
          <a:xfrm>
            <a:off x="5832389" y="0"/>
            <a:ext cx="0" cy="469557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Char char="-"/>
            </a:pPr>
            <a:r>
              <a:rPr lang="en-US"/>
              <a:t>Why Apex Cursors?</a:t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4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4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2d03ce6db4_0_0:notes"/>
          <p:cNvSpPr txBox="1"/>
          <p:nvPr>
            <p:ph idx="1" type="body"/>
          </p:nvPr>
        </p:nvSpPr>
        <p:spPr>
          <a:xfrm>
            <a:off x="407987" y="4415790"/>
            <a:ext cx="6194400" cy="418350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g22d03ce6db4_0_0:notes"/>
          <p:cNvSpPr/>
          <p:nvPr>
            <p:ph idx="2" type="sldImg"/>
          </p:nvPr>
        </p:nvSpPr>
        <p:spPr>
          <a:xfrm>
            <a:off x="407988" y="696913"/>
            <a:ext cx="6194400" cy="3486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_A" showMasterSp="0">
  <p:cSld name="Title Slide_A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type="ctrTitle"/>
          </p:nvPr>
        </p:nvSpPr>
        <p:spPr>
          <a:xfrm>
            <a:off x="360362" y="2691891"/>
            <a:ext cx="10908300" cy="1210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050F"/>
              </a:buClr>
              <a:buSzPts val="5400"/>
              <a:buFont typeface="Arial"/>
              <a:buNone/>
              <a:defRPr sz="5400">
                <a:solidFill>
                  <a:srgbClr val="89050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5" name="Google Shape;15;p2"/>
          <p:cNvCxnSpPr/>
          <p:nvPr/>
        </p:nvCxnSpPr>
        <p:spPr>
          <a:xfrm>
            <a:off x="353648" y="4091980"/>
            <a:ext cx="11583652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Logo.png" id="16" name="Google Shape;16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4213" y="189569"/>
            <a:ext cx="2162128" cy="18032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45150" y="4152900"/>
            <a:ext cx="6543675" cy="270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2"/>
          <p:cNvSpPr txBox="1"/>
          <p:nvPr/>
        </p:nvSpPr>
        <p:spPr>
          <a:xfrm>
            <a:off x="9290709" y="4139475"/>
            <a:ext cx="2733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800000"/>
                </a:solidFill>
              </a:rPr>
              <a:t>#LDNsCall #LC26</a:t>
            </a:r>
            <a:endParaRPr sz="1600">
              <a:solidFill>
                <a:srgbClr val="800000"/>
              </a:solidFill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345156" y="4913240"/>
            <a:ext cx="4722600" cy="10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-1397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​"/>
            </a:pPr>
            <a:r>
              <a:t/>
            </a:r>
            <a:endParaRPr sz="2000">
              <a:solidFill>
                <a:schemeClr val="dk1"/>
              </a:solidFill>
            </a:endParaRPr>
          </a:p>
        </p:txBody>
      </p:sp>
      <p:pic>
        <p:nvPicPr>
          <p:cNvPr id="20" name="Google Shape;20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05232" y="410900"/>
            <a:ext cx="6443619" cy="158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orient="horz" pos="912">
          <p15:clr>
            <a:srgbClr val="FBAE40"/>
          </p15:clr>
        </p15:guide>
        <p15:guide id="2" pos="3839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sic">
  <p:cSld name="Basic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idx="1" type="body"/>
          </p:nvPr>
        </p:nvSpPr>
        <p:spPr>
          <a:xfrm>
            <a:off x="338325" y="1020943"/>
            <a:ext cx="11484900" cy="52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None/>
              <a:defRPr sz="2400"/>
            </a:lvl1pPr>
            <a:lvl2pPr indent="-342900" lvl="1" marL="9144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sic 2">
  <p:cSld name="Basic 2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338328" y="1021080"/>
            <a:ext cx="11484864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-column">
  <p:cSld name="2-column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idx="1" type="body"/>
          </p:nvPr>
        </p:nvSpPr>
        <p:spPr>
          <a:xfrm>
            <a:off x="338329" y="1599480"/>
            <a:ext cx="5564156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2" type="body"/>
          </p:nvPr>
        </p:nvSpPr>
        <p:spPr>
          <a:xfrm>
            <a:off x="6153636" y="1599480"/>
            <a:ext cx="5576268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3" type="body"/>
          </p:nvPr>
        </p:nvSpPr>
        <p:spPr>
          <a:xfrm>
            <a:off x="338325" y="1021073"/>
            <a:ext cx="11484900" cy="4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olumn">
  <p:cSld name="3_column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idx="1" type="body"/>
          </p:nvPr>
        </p:nvSpPr>
        <p:spPr>
          <a:xfrm>
            <a:off x="338328" y="1599480"/>
            <a:ext cx="3749040" cy="43524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2" type="body"/>
          </p:nvPr>
        </p:nvSpPr>
        <p:spPr>
          <a:xfrm>
            <a:off x="4235127" y="1599480"/>
            <a:ext cx="3728166" cy="43524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3" type="body"/>
          </p:nvPr>
        </p:nvSpPr>
        <p:spPr>
          <a:xfrm>
            <a:off x="8090178" y="1599480"/>
            <a:ext cx="3749040" cy="43524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4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ird split">
  <p:cSld name="Third spli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338325" y="1601725"/>
            <a:ext cx="7608900" cy="481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7"/>
          <p:cNvSpPr txBox="1"/>
          <p:nvPr>
            <p:ph idx="2" type="body"/>
          </p:nvPr>
        </p:nvSpPr>
        <p:spPr>
          <a:xfrm>
            <a:off x="8312848" y="1601787"/>
            <a:ext cx="3542602" cy="42351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2pPr>
            <a:lvl3pPr indent="-355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3pPr>
            <a:lvl4pPr indent="-355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4pPr>
            <a:lvl5pPr indent="-355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5pPr>
            <a:lvl6pPr indent="-355600" lvl="5" marL="2743200" algn="l"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6pPr>
            <a:lvl7pPr indent="-355600" lvl="6" marL="32004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7pPr>
            <a:lvl8pPr indent="-355600" lvl="7" marL="36576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8pPr>
            <a:lvl9pPr indent="-355600" lvl="8" marL="41148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/>
        </p:txBody>
      </p:sp>
      <p:sp>
        <p:nvSpPr>
          <p:cNvPr id="42" name="Google Shape;42;p7"/>
          <p:cNvSpPr/>
          <p:nvPr/>
        </p:nvSpPr>
        <p:spPr>
          <a:xfrm flipH="1">
            <a:off x="8128017" y="1600200"/>
            <a:ext cx="64008" cy="6072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" name="Google Shape;43;p7"/>
          <p:cNvCxnSpPr/>
          <p:nvPr/>
        </p:nvCxnSpPr>
        <p:spPr>
          <a:xfrm>
            <a:off x="8128017" y="1600200"/>
            <a:ext cx="0" cy="423672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2pPr>
            <a:lvl3pPr indent="-355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3pPr>
            <a:lvl4pPr indent="-355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4pPr>
            <a:lvl5pPr indent="-355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5pPr>
            <a:lvl6pPr indent="-355600" lvl="5" marL="2743200" algn="l"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6pPr>
            <a:lvl7pPr indent="-355600" lvl="6" marL="32004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7pPr>
            <a:lvl8pPr indent="-355600" lvl="7" marL="36576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8pPr>
            <a:lvl9pPr indent="-355600" lvl="8" marL="41148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ird split 2">
  <p:cSld name="Third split 2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" type="body"/>
          </p:nvPr>
        </p:nvSpPr>
        <p:spPr>
          <a:xfrm>
            <a:off x="338328" y="1601723"/>
            <a:ext cx="3502152" cy="43252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2pPr>
            <a:lvl3pPr indent="-355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3pPr>
            <a:lvl4pPr indent="-355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4pPr>
            <a:lvl5pPr indent="-355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5pPr>
            <a:lvl6pPr indent="-355600" lvl="5" marL="2743200" algn="l"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6pPr>
            <a:lvl7pPr indent="-355600" lvl="6" marL="32004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7pPr>
            <a:lvl8pPr indent="-355600" lvl="7" marL="36576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8pPr>
            <a:lvl9pPr indent="-355600" lvl="8" marL="41148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2" type="body"/>
          </p:nvPr>
        </p:nvSpPr>
        <p:spPr>
          <a:xfrm>
            <a:off x="4206250" y="1603250"/>
            <a:ext cx="7649100" cy="47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8"/>
          <p:cNvSpPr/>
          <p:nvPr/>
        </p:nvSpPr>
        <p:spPr>
          <a:xfrm>
            <a:off x="3966951" y="1600200"/>
            <a:ext cx="64008" cy="6072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" name="Google Shape;50;p8"/>
          <p:cNvCxnSpPr/>
          <p:nvPr/>
        </p:nvCxnSpPr>
        <p:spPr>
          <a:xfrm>
            <a:off x="4030959" y="1600200"/>
            <a:ext cx="0" cy="4326775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" name="Google Shape;51;p8"/>
          <p:cNvSpPr txBox="1"/>
          <p:nvPr>
            <p:ph idx="3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-column photos">
  <p:cSld name="4-column photos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9"/>
          <p:cNvSpPr/>
          <p:nvPr/>
        </p:nvSpPr>
        <p:spPr>
          <a:xfrm>
            <a:off x="6207877" y="381000"/>
            <a:ext cx="292375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9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9"/>
          <p:cNvSpPr/>
          <p:nvPr>
            <p:ph idx="2" type="pic"/>
          </p:nvPr>
        </p:nvSpPr>
        <p:spPr>
          <a:xfrm>
            <a:off x="332623" y="1703211"/>
            <a:ext cx="2727179" cy="3908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9"/>
          <p:cNvSpPr/>
          <p:nvPr>
            <p:ph idx="3" type="pic"/>
          </p:nvPr>
        </p:nvSpPr>
        <p:spPr>
          <a:xfrm>
            <a:off x="3257205" y="1703211"/>
            <a:ext cx="2727179" cy="3908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9"/>
          <p:cNvSpPr/>
          <p:nvPr>
            <p:ph idx="4" type="pic"/>
          </p:nvPr>
        </p:nvSpPr>
        <p:spPr>
          <a:xfrm>
            <a:off x="6181787" y="1703211"/>
            <a:ext cx="2727179" cy="3908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9"/>
          <p:cNvSpPr/>
          <p:nvPr>
            <p:ph idx="5" type="pic"/>
          </p:nvPr>
        </p:nvSpPr>
        <p:spPr>
          <a:xfrm>
            <a:off x="9106369" y="1703211"/>
            <a:ext cx="2727179" cy="3908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59" name="Google Shape;59;p9"/>
          <p:cNvCxnSpPr/>
          <p:nvPr/>
        </p:nvCxnSpPr>
        <p:spPr>
          <a:xfrm>
            <a:off x="338328" y="570230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" name="Google Shape;60;p9"/>
          <p:cNvCxnSpPr/>
          <p:nvPr/>
        </p:nvCxnSpPr>
        <p:spPr>
          <a:xfrm>
            <a:off x="3264407" y="570230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1" name="Google Shape;61;p9"/>
          <p:cNvCxnSpPr/>
          <p:nvPr/>
        </p:nvCxnSpPr>
        <p:spPr>
          <a:xfrm>
            <a:off x="6187492" y="570230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" name="Google Shape;62;p9"/>
          <p:cNvCxnSpPr/>
          <p:nvPr/>
        </p:nvCxnSpPr>
        <p:spPr>
          <a:xfrm>
            <a:off x="9113258" y="570230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" name="Google Shape;63;p9"/>
          <p:cNvSpPr txBox="1"/>
          <p:nvPr>
            <p:ph idx="1" type="body"/>
          </p:nvPr>
        </p:nvSpPr>
        <p:spPr>
          <a:xfrm>
            <a:off x="333375" y="5786195"/>
            <a:ext cx="2720975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64" name="Google Shape;64;p9"/>
          <p:cNvSpPr txBox="1"/>
          <p:nvPr>
            <p:ph idx="6" type="body"/>
          </p:nvPr>
        </p:nvSpPr>
        <p:spPr>
          <a:xfrm>
            <a:off x="3264408" y="5786195"/>
            <a:ext cx="2720975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65" name="Google Shape;65;p9"/>
          <p:cNvSpPr txBox="1"/>
          <p:nvPr>
            <p:ph idx="7" type="body"/>
          </p:nvPr>
        </p:nvSpPr>
        <p:spPr>
          <a:xfrm>
            <a:off x="6190488" y="5786195"/>
            <a:ext cx="2720975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66" name="Google Shape;66;p9"/>
          <p:cNvSpPr txBox="1"/>
          <p:nvPr>
            <p:ph idx="8" type="body"/>
          </p:nvPr>
        </p:nvSpPr>
        <p:spPr>
          <a:xfrm>
            <a:off x="9113258" y="5786195"/>
            <a:ext cx="2720975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67" name="Google Shape;67;p9"/>
          <p:cNvSpPr txBox="1"/>
          <p:nvPr>
            <p:ph idx="9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-column multi">
  <p:cSld name="4-column multi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/>
          <p:nvPr/>
        </p:nvSpPr>
        <p:spPr>
          <a:xfrm>
            <a:off x="6207877" y="381000"/>
            <a:ext cx="292375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338328" y="3526970"/>
            <a:ext cx="2715768" cy="23833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1800"/>
            </a:lvl1pPr>
            <a:lvl2pPr indent="-3302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279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00"/>
              <a:buChar char="​"/>
              <a:defRPr sz="8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2" type="body"/>
          </p:nvPr>
        </p:nvSpPr>
        <p:spPr>
          <a:xfrm>
            <a:off x="3272035" y="3526971"/>
            <a:ext cx="2715768" cy="23833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1800"/>
            </a:lvl1pPr>
            <a:lvl2pPr indent="-3302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279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00"/>
              <a:buChar char="​"/>
              <a:defRPr sz="8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0"/>
          <p:cNvSpPr txBox="1"/>
          <p:nvPr>
            <p:ph idx="3" type="body"/>
          </p:nvPr>
        </p:nvSpPr>
        <p:spPr>
          <a:xfrm>
            <a:off x="6205742" y="3526971"/>
            <a:ext cx="2715768" cy="23833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1800"/>
            </a:lvl1pPr>
            <a:lvl2pPr indent="-3302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279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00"/>
              <a:buChar char="​"/>
              <a:defRPr sz="8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10"/>
          <p:cNvSpPr txBox="1"/>
          <p:nvPr>
            <p:ph idx="4" type="body"/>
          </p:nvPr>
        </p:nvSpPr>
        <p:spPr>
          <a:xfrm>
            <a:off x="9139449" y="3526971"/>
            <a:ext cx="2715768" cy="23833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1800"/>
            </a:lvl1pPr>
            <a:lvl2pPr indent="-3302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279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00"/>
              <a:buChar char="​"/>
              <a:defRPr sz="8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0"/>
          <p:cNvSpPr/>
          <p:nvPr>
            <p:ph idx="5" type="pic"/>
          </p:nvPr>
        </p:nvSpPr>
        <p:spPr>
          <a:xfrm>
            <a:off x="344424" y="1703212"/>
            <a:ext cx="2703576" cy="1695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6" name="Google Shape;76;p10"/>
          <p:cNvSpPr/>
          <p:nvPr>
            <p:ph idx="6" type="pic"/>
          </p:nvPr>
        </p:nvSpPr>
        <p:spPr>
          <a:xfrm>
            <a:off x="3266831" y="1703212"/>
            <a:ext cx="2723180" cy="1695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0"/>
          <p:cNvSpPr/>
          <p:nvPr>
            <p:ph idx="7" type="pic"/>
          </p:nvPr>
        </p:nvSpPr>
        <p:spPr>
          <a:xfrm>
            <a:off x="6205415" y="1703212"/>
            <a:ext cx="2705660" cy="1695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0"/>
          <p:cNvSpPr/>
          <p:nvPr>
            <p:ph idx="8" type="pic"/>
          </p:nvPr>
        </p:nvSpPr>
        <p:spPr>
          <a:xfrm>
            <a:off x="9126479" y="1703212"/>
            <a:ext cx="2724209" cy="1695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79" name="Google Shape;79;p10"/>
          <p:cNvCxnSpPr/>
          <p:nvPr/>
        </p:nvCxnSpPr>
        <p:spPr>
          <a:xfrm>
            <a:off x="338328" y="345948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0" name="Google Shape;80;p10"/>
          <p:cNvCxnSpPr/>
          <p:nvPr/>
        </p:nvCxnSpPr>
        <p:spPr>
          <a:xfrm>
            <a:off x="3264407" y="345948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1" name="Google Shape;81;p10"/>
          <p:cNvCxnSpPr/>
          <p:nvPr/>
        </p:nvCxnSpPr>
        <p:spPr>
          <a:xfrm>
            <a:off x="6195307" y="345948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2" name="Google Shape;82;p10"/>
          <p:cNvCxnSpPr/>
          <p:nvPr/>
        </p:nvCxnSpPr>
        <p:spPr>
          <a:xfrm>
            <a:off x="9136140" y="345948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" name="Google Shape;83;p10"/>
          <p:cNvSpPr txBox="1"/>
          <p:nvPr>
            <p:ph idx="9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-column">
  <p:cSld name="4-column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1"/>
          <p:cNvSpPr/>
          <p:nvPr/>
        </p:nvSpPr>
        <p:spPr>
          <a:xfrm>
            <a:off x="6207877" y="381000"/>
            <a:ext cx="292375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1"/>
          <p:cNvSpPr txBox="1"/>
          <p:nvPr>
            <p:ph idx="1" type="body"/>
          </p:nvPr>
        </p:nvSpPr>
        <p:spPr>
          <a:xfrm>
            <a:off x="338328" y="1599480"/>
            <a:ext cx="2715768" cy="43358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 sz="20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 sz="1800"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 sz="1600"/>
            </a:lvl4pPr>
            <a:lvl5pPr indent="-28575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Char char="​"/>
              <a:defRPr sz="9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7" name="Google Shape;87;p11"/>
          <p:cNvSpPr txBox="1"/>
          <p:nvPr>
            <p:ph idx="2" type="body"/>
          </p:nvPr>
        </p:nvSpPr>
        <p:spPr>
          <a:xfrm>
            <a:off x="3272035" y="1599480"/>
            <a:ext cx="2715768" cy="43358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 sz="20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 sz="1800"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 sz="1600"/>
            </a:lvl4pPr>
            <a:lvl5pPr indent="-28575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Char char="​"/>
              <a:defRPr sz="9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11"/>
          <p:cNvSpPr txBox="1"/>
          <p:nvPr>
            <p:ph idx="3" type="body"/>
          </p:nvPr>
        </p:nvSpPr>
        <p:spPr>
          <a:xfrm>
            <a:off x="6205742" y="1599480"/>
            <a:ext cx="2715768" cy="43358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 sz="20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 sz="1800"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 sz="1600"/>
            </a:lvl4pPr>
            <a:lvl5pPr indent="-28575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Char char="​"/>
              <a:defRPr sz="9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1"/>
          <p:cNvSpPr txBox="1"/>
          <p:nvPr>
            <p:ph idx="4" type="body"/>
          </p:nvPr>
        </p:nvSpPr>
        <p:spPr>
          <a:xfrm>
            <a:off x="9139449" y="1599480"/>
            <a:ext cx="2715768" cy="43358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 sz="20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 sz="1800"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 sz="1600"/>
            </a:lvl4pPr>
            <a:lvl5pPr indent="-28575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Char char="​"/>
              <a:defRPr sz="9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0" name="Google Shape;90;p11"/>
          <p:cNvSpPr txBox="1"/>
          <p:nvPr>
            <p:ph idx="5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1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olumn photos">
  <p:cSld name="3_column photos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2"/>
          <p:cNvSpPr/>
          <p:nvPr>
            <p:ph idx="2" type="pic"/>
          </p:nvPr>
        </p:nvSpPr>
        <p:spPr>
          <a:xfrm>
            <a:off x="336549" y="1597025"/>
            <a:ext cx="3752871" cy="35485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Arial"/>
              <a:buChar char="​"/>
              <a:defRPr b="0" i="0" sz="2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2"/>
          <p:cNvSpPr/>
          <p:nvPr>
            <p:ph idx="3" type="pic"/>
          </p:nvPr>
        </p:nvSpPr>
        <p:spPr>
          <a:xfrm>
            <a:off x="4229382" y="1597026"/>
            <a:ext cx="3725862" cy="3548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Arial"/>
              <a:buChar char="​"/>
              <a:defRPr b="0" i="0" sz="2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p12"/>
          <p:cNvSpPr/>
          <p:nvPr>
            <p:ph idx="4" type="pic"/>
          </p:nvPr>
        </p:nvSpPr>
        <p:spPr>
          <a:xfrm>
            <a:off x="8101820" y="1597026"/>
            <a:ext cx="3746255" cy="3548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Arial"/>
              <a:buChar char="​"/>
              <a:defRPr b="0" i="0" sz="2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96" name="Google Shape;96;p12"/>
          <p:cNvCxnSpPr/>
          <p:nvPr/>
        </p:nvCxnSpPr>
        <p:spPr>
          <a:xfrm>
            <a:off x="332897" y="5260975"/>
            <a:ext cx="3749040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" name="Google Shape;97;p12"/>
          <p:cNvSpPr txBox="1"/>
          <p:nvPr>
            <p:ph idx="1" type="body"/>
          </p:nvPr>
        </p:nvSpPr>
        <p:spPr>
          <a:xfrm>
            <a:off x="336549" y="5344870"/>
            <a:ext cx="3749040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cxnSp>
        <p:nvCxnSpPr>
          <p:cNvPr id="98" name="Google Shape;98;p12"/>
          <p:cNvCxnSpPr/>
          <p:nvPr/>
        </p:nvCxnSpPr>
        <p:spPr>
          <a:xfrm>
            <a:off x="4229382" y="5261728"/>
            <a:ext cx="3732576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p12"/>
          <p:cNvSpPr txBox="1"/>
          <p:nvPr>
            <p:ph idx="5" type="body"/>
          </p:nvPr>
        </p:nvSpPr>
        <p:spPr>
          <a:xfrm>
            <a:off x="4218268" y="5345623"/>
            <a:ext cx="3749040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cxnSp>
        <p:nvCxnSpPr>
          <p:cNvPr id="100" name="Google Shape;100;p12"/>
          <p:cNvCxnSpPr/>
          <p:nvPr/>
        </p:nvCxnSpPr>
        <p:spPr>
          <a:xfrm>
            <a:off x="8101820" y="5261728"/>
            <a:ext cx="3749040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1" name="Google Shape;101;p12"/>
          <p:cNvSpPr txBox="1"/>
          <p:nvPr>
            <p:ph idx="6" type="body"/>
          </p:nvPr>
        </p:nvSpPr>
        <p:spPr>
          <a:xfrm>
            <a:off x="8112687" y="5345623"/>
            <a:ext cx="3749040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102" name="Google Shape;102;p12"/>
          <p:cNvSpPr txBox="1"/>
          <p:nvPr>
            <p:ph idx="7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p12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1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89101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0" name="Google Shape;10;p1"/>
          <p:cNvSpPr txBox="1"/>
          <p:nvPr>
            <p:ph idx="1" type="body"/>
          </p:nvPr>
        </p:nvSpPr>
        <p:spPr>
          <a:xfrm>
            <a:off x="338325" y="1599475"/>
            <a:ext cx="11515500" cy="50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​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​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​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/>
          <p:nvPr/>
        </p:nvSpPr>
        <p:spPr>
          <a:xfrm flipH="1">
            <a:off x="336549" y="0"/>
            <a:ext cx="11868912" cy="89119"/>
          </a:xfrm>
          <a:prstGeom prst="rect">
            <a:avLst/>
          </a:prstGeom>
          <a:solidFill>
            <a:srgbClr val="8910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go.png" id="12" name="Google Shape;12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0816370" y="240603"/>
            <a:ext cx="909064" cy="75816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mailto:andy@andyinthecloud.com" TargetMode="External"/><Relationship Id="rId4" Type="http://schemas.openxmlformats.org/officeDocument/2006/relationships/hyperlink" Target="https://www.linkedin.com/in/andyfawcett/" TargetMode="External"/><Relationship Id="rId5" Type="http://schemas.openxmlformats.org/officeDocument/2006/relationships/image" Target="../media/image4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diagram-soql-dataset-access-today.png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diagram-cursor-rdbms-overview.png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diagram-cursor-soql-overview.png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demo1-virtual-datatable.png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demo2-reporting-drilldown.png"/></Relationships>
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demo3-adaptive-async.png"/></Relationships>
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mailto:andy@andyinthecloud.com" TargetMode="External"/><Relationship Id="rId4" Type="http://schemas.openxmlformats.org/officeDocument/2006/relationships/image" Target="../media/qa-github-qrcode.png"/><Relationship Id="rId5" Type="http://schemas.openxmlformats.org/officeDocument/2006/relationships/hyperlink" Target="https://afawcett.github.io/landingpages/sessions/apex-cursors-lc26.html" TargetMode="External"/></Relationships>
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mailto:andy@andyinthecloud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type="ctrTitle"/>
          </p:nvPr>
        </p:nvSpPr>
        <p:spPr>
          <a:xfrm>
            <a:off x="360362" y="2691891"/>
            <a:ext cx="10908300" cy="1210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050F"/>
              </a:buClr>
              <a:buSzPts val="5400"/>
              <a:buFont typeface="Arial"/>
              <a:buNone/>
            </a:pPr>
            <a:r>
              <a:rPr lang="en-US" sz="4600"/>
              <a:t>Scaling Apex and LWC with Apex Cursors</a:t>
            </a:r>
            <a:endParaRPr sz="4600"/>
          </a:p>
        </p:txBody>
      </p:sp>
      <p:sp>
        <p:nvSpPr>
          <p:cNvPr id="109" name="Google Shape;109;p13"/>
          <p:cNvSpPr txBox="1"/>
          <p:nvPr/>
        </p:nvSpPr>
        <p:spPr>
          <a:xfrm>
            <a:off x="412148" y="4374575"/>
            <a:ext cx="5682300" cy="10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-12065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b="1" lang="en-US" sz="1900">
                <a:solidFill>
                  <a:srgbClr val="800000"/>
                </a:solidFill>
              </a:rPr>
              <a:t>Andrew Fawcett</a:t>
            </a:r>
            <a:r>
              <a:rPr lang="en-US" sz="1900">
                <a:solidFill>
                  <a:srgbClr val="800000"/>
                </a:solidFill>
              </a:rPr>
              <a:t>, AndyInTheCloud Consulting Ltd</a:t>
            </a:r>
            <a:endParaRPr sz="1900">
              <a:solidFill>
                <a:srgbClr val="800000"/>
              </a:solidFill>
            </a:endParaRPr>
          </a:p>
          <a:p>
            <a:pPr indent="-12065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lang="en-US" sz="1900" u="sng">
                <a:solidFill>
                  <a:schemeClr val="hlink"/>
                </a:solidFill>
                <a:hlinkClick r:id="rId3"/>
              </a:rPr>
              <a:t>andy@andyinthecloud.com</a:t>
            </a:r>
            <a:r>
              <a:rPr lang="en-US" sz="1900">
                <a:solidFill>
                  <a:srgbClr val="800000"/>
                </a:solidFill>
              </a:rPr>
              <a:t> </a:t>
            </a:r>
            <a:endParaRPr sz="1900">
              <a:solidFill>
                <a:srgbClr val="800000"/>
              </a:solidFill>
            </a:endParaRPr>
          </a:p>
          <a:p>
            <a:pPr indent="-12065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lang="en-US" sz="1900" u="sng">
                <a:solidFill>
                  <a:schemeClr val="hlink"/>
                </a:solidFill>
                <a:hlinkClick r:id="rId4"/>
              </a:rPr>
              <a:t>https://www.linkedin.com/in/andyfawcett/</a:t>
            </a:r>
            <a:r>
              <a:rPr lang="en-US" sz="1900">
                <a:solidFill>
                  <a:srgbClr val="800000"/>
                </a:solidFill>
              </a:rPr>
              <a:t> </a:t>
            </a:r>
            <a:endParaRPr sz="1900">
              <a:solidFill>
                <a:srgbClr val="800000"/>
              </a:solidFill>
            </a:endParaRPr>
          </a:p>
          <a:p>
            <a:pPr indent="-101600" lvl="0" marL="0" rtl="0" algn="l"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600"/>
              <a:buChar char="​"/>
            </a:pPr>
            <a:r>
              <a:t/>
            </a:r>
            <a:endParaRPr sz="1600">
              <a:solidFill>
                <a:srgbClr val="800000"/>
              </a:solidFill>
            </a:endParaRPr>
          </a:p>
          <a:p>
            <a:pPr indent="-101600" lvl="0" marL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600"/>
              <a:buChar char="​"/>
            </a:pPr>
            <a:r>
              <a:rPr lang="en-US" sz="1600">
                <a:solidFill>
                  <a:srgbClr val="800000"/>
                </a:solidFill>
              </a:rPr>
              <a:t>	</a:t>
            </a:r>
            <a:endParaRPr sz="1600">
              <a:solidFill>
                <a:srgbClr val="800000"/>
              </a:solidFill>
            </a:endParaRPr>
          </a:p>
        </p:txBody>
      </p:sp>
      <p:pic>
        <p:nvPicPr>
          <p:cNvPr id="110" name="Google Shape;110;p13" title="AndyInTheCLoud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150" y="5529200"/>
            <a:ext cx="1018150" cy="10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 txBox="1"/>
          <p:nvPr>
            <p:ph idx="1" type="body"/>
          </p:nvPr>
        </p:nvSpPr>
        <p:spPr>
          <a:xfrm>
            <a:off x="338325" y="1050000"/>
            <a:ext cx="114849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>UI paging with OFFSET/LIMIT vs async processing in fixed-size chunks.</a:t>
            </a:r>
            <a:endParaRPr/>
          </a:p>
        </p:txBody>
      </p:sp>
      <p:pic>
        <p:nvPicPr>
          <p:cNvPr id="117" name="diagram-soql-dataset-access-today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325" y="1450000"/>
            <a:ext cx="11484900" cy="5432825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Accessing and processing datasets today in SOQL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 txBox="1"/>
          <p:nvPr>
            <p:ph idx="1" type="body"/>
          </p:nvPr>
        </p:nvSpPr>
        <p:spPr>
          <a:xfrm>
            <a:off x="338325" y="1050000"/>
            <a:ext cx="114849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>Traverse a query result incrementally instead of returning the full set at once.</a:t>
            </a:r>
            <a:endParaRPr/>
          </a:p>
        </p:txBody>
      </p:sp>
      <p:pic>
        <p:nvPicPr>
          <p:cNvPr id="118" name="diagram-cursor-rdbms-overview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325" y="1450000"/>
            <a:ext cx="11484900" cy="7103509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What is a SQL Cursor?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 txBox="1"/>
          <p:nvPr>
            <p:ph idx="1" type="body"/>
          </p:nvPr>
        </p:nvSpPr>
        <p:spPr>
          <a:xfrm>
            <a:off x="338325" y="1050000"/>
            <a:ext cx="114849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/>
              <a:t>SQL cursor concepts on Salesforce: Database.getCursor(SOQL) and incremental fetch in Apex.</a:t>
            </a:r>
            <a:endParaRPr/>
          </a:p>
        </p:txBody>
      </p:sp>
      <p:pic>
        <p:nvPicPr>
          <p:cNvPr id="117" name="diagram-cursor-soql-overview" title="cursor-soql-overview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325" y="1450000"/>
            <a:ext cx="11484900" cy="7103509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What is a SOQL Cursor?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usecases-interactive"/>
          <p:cNvSpPr txBox="1"/>
          <p:nvPr/>
        </p:nvSpPr>
        <p:spPr>
          <a:xfrm>
            <a:off x="338325" y="1513500"/>
            <a:ext cx="5400000" cy="1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54864" lIns="91440" rIns="91440" tIns="36576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2400" b="1">
                <a:solidFill>
                  <a:srgbClr val="4A6FA5"/>
                </a:solidFill>
              </a:rPr>
              <a:t>Interactive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Analyst large data view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Reporting and drilldown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Preview job records to process</a:t>
            </a:r>
            <a:endParaRPr/>
          </a:p>
        </p:txBody>
      </p:sp>
      <p:sp>
        <p:nvSpPr>
          <p:cNvPr id="117" name="usecases-batch"/>
          <p:cNvSpPr txBox="1"/>
          <p:nvPr/>
        </p:nvSpPr>
        <p:spPr>
          <a:xfrm>
            <a:off x="6423225" y="1513500"/>
            <a:ext cx="5400000" cy="1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54864" lIns="91440" rIns="91440" tIns="36576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2400" b="1">
                <a:solidFill>
                  <a:srgbClr val="5A7A3A"/>
                </a:solidFill>
              </a:rPr>
              <a:t>Batch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Orchestrate process execution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Look ahead to optimize resource usage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Safer immutable record set</a:t>
            </a:r>
            <a:endParaRPr/>
          </a:p>
        </p:txBody>
      </p:sp>
      <p:sp>
        <p:nvSpPr>
          <p:cNvPr id="120" name="terminal-pagination"/>
          <p:cNvSpPr txBox="1"/>
          <p:nvPr/>
        </p:nvSpPr>
        <p:spPr>
          <a:xfrm>
            <a:off x="338325" y="3213500"/>
            <a:ext cx="5400000" cy="1850000"/>
          </a:xfrm>
          <a:prstGeom prst="rect">
            <a:avLst/>
          </a:prstGeom>
          <a:solidFill>
            <a:srgbClr val="1E1E1E"/>
          </a:solidFill>
          <a:ln w="12700">
            <a:solidFill>
              <a:srgbClr val="4A6FA5"/>
            </a:solidFill>
          </a:ln>
        </p:spPr>
        <p:txBody>
          <a:bodyPr anchorCtr="0" anchor="t" bIns="190000" lIns="91440" rIns="91440" tIns="50000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569CD6"/>
                </a:solidFill>
              </a:rPr>
              <a:t>Database.PaginationCursor</a:t>
            </a:r>
            <a:r>
              <a:rPr lang="en-US" sz="1700" typeface="Consolas">
                <a:solidFill>
                  <a:srgbClr val="D4D4D4"/>
                </a:solidFill>
              </a:rPr>
              <a:t> c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DCDCAA"/>
                </a:solidFill>
              </a:rPr>
              <a:t>  Database.getPaginationCursor(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CE9178"/>
                </a:solidFill>
              </a:rPr>
              <a:t>    soql, AccessLevel.USER_MODE);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D4D4D4"/>
                </a:solidFill>
              </a:rPr>
              <a:t>Database.CursorFetchResult r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200"/>
              </a:spcAft>
              <a:buNone/>
            </a:pPr>
            <a:r>
              <a:rPr lang="en-US" sz="1700" typeface="Consolas">
                <a:solidFill>
                  <a:srgbClr val="DCDCAA"/>
                </a:solidFill>
              </a:rPr>
              <a:t>  c.fetchPage(start, pageSize);</a:t>
            </a:r>
            <a:endParaRPr/>
          </a:p>
        </p:txBody>
      </p:sp>
      <p:sp>
        <p:nvSpPr>
          <p:cNvPr id="121" name="terminal-standard"/>
          <p:cNvSpPr txBox="1"/>
          <p:nvPr/>
        </p:nvSpPr>
        <p:spPr>
          <a:xfrm>
            <a:off x="6423225" y="3213500"/>
            <a:ext cx="5400000" cy="1850000"/>
          </a:xfrm>
          <a:prstGeom prst="rect">
            <a:avLst/>
          </a:prstGeom>
          <a:solidFill>
            <a:srgbClr val="1E1E1E"/>
          </a:solidFill>
          <a:ln w="12700">
            <a:solidFill>
              <a:srgbClr val="5A7A3A"/>
            </a:solidFill>
          </a:ln>
        </p:spPr>
        <p:txBody>
          <a:bodyPr anchorCtr="0" anchor="t" bIns="190000" lIns="91440" rIns="91440" tIns="50000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4EC9B0"/>
                </a:solidFill>
              </a:rPr>
              <a:t>Database.Cursor</a:t>
            </a:r>
            <a:r>
              <a:rPr lang="en-US" sz="1700" typeface="Consolas">
                <a:solidFill>
                  <a:srgbClr val="D4D4D4"/>
                </a:solidFill>
              </a:rPr>
              <a:t> c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DCDCAA"/>
                </a:solidFill>
              </a:rPr>
              <a:t>  Database.getCursor(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CE9178"/>
                </a:solidFill>
              </a:rPr>
              <a:t>    soql, AccessLevel.USER_MODE);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D4D4D4"/>
                </a:solidFill>
              </a:rPr>
              <a:t>List&lt;Account&gt; batch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200"/>
              </a:spcAft>
              <a:buNone/>
            </a:pPr>
            <a:r>
              <a:rPr lang="en-US" sz="1700" typeface="Consolas">
                <a:solidFill>
                  <a:srgbClr val="DCDCAA"/>
                </a:solidFill>
              </a:rPr>
              <a:t>  c.fetch(offset, pageSize);</a:t>
            </a:r>
            <a:endParaRPr/>
          </a:p>
        </p:txBody>
      </p:sp>
      <p:sp>
        <p:nvSpPr>
          <p:cNvPr id="118" name="architecture-band"/>
          <p:cNvSpPr/>
          <p:nvPr/>
        </p:nvSpPr>
        <p:spPr>
          <a:xfrm>
            <a:off x="338325" y="5363500"/>
            <a:ext cx="11484900" cy="980000"/>
          </a:xfrm>
          <a:prstGeom prst="rect">
            <a:avLst/>
          </a:prstGeom>
          <a:solidFill>
            <a:srgbClr val="F7F7F7"/>
          </a:solidFill>
          <a:ln>
            <a:solidFill>
              <a:srgbClr val="CCCCC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9" name="usecases-architecture"/>
          <p:cNvSpPr txBox="1"/>
          <p:nvPr/>
        </p:nvSpPr>
        <p:spPr>
          <a:xfrm>
            <a:off x="338325" y="5363500"/>
            <a:ext cx="11484900" cy="980000"/>
          </a:xfrm>
          <a:prstGeom prst="rect">
            <a:avLst/>
          </a:prstGeom>
          <a:noFill/>
          <a:ln>
            <a:noFill/>
          </a:ln>
        </p:spPr>
        <p:txBody>
          <a:bodyPr anchorCtr="1" anchor="ctr" bIns="54864" lIns="91440" rIns="91440" tIns="36576" wrap="square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400" b="1">
                <a:solidFill>
                  <a:srgbClr val="891019"/>
                </a:solidFill>
              </a:rPr>
              <a:t>Architecture</a:t>
            </a:r>
            <a:endParaRPr/>
          </a:p>
          <a:p>
            <a:pPr indent="0" lvl="0" marL="0" rtl="0" algn="ctr">
              <a:lnSpc>
                <a:spcPct val="11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800"/>
              <a:t>24hr cached large record sets | Scalable replacement to SOQL OFFSET | Bidirectional navigation</a:t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Usecases for Apex Cursors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demo1-virtual-datatable" title="Apex Cursor Demo - Infinite Loadi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412" y="1150000"/>
            <a:ext cx="10970000" cy="5291992"/>
          </a:xfrm>
          <a:prstGeom prst="rect">
            <a:avLst/>
          </a:prstGeom>
          <a:effectLst>
            <a:outerShdw blurRad="63500" dist="47625" dir="2700000" algn="ctr" rotWithShape="0">
              <a:srgbClr val="000000">
                <a:alpha val="38000"/>
              </a:srgbClr>
            </a:outerShdw>
          </a:effectLst>
        </p:spPr>
      </p:pic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Demo 1: Virtual Data Table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highlight-code-1"/>
          <p:cNvSpPr txBox="1"/>
          <p:nvPr/>
        </p:nvSpPr>
        <p:spPr>
          <a:xfrm>
            <a:off x="338325" y="1603500"/>
            <a:ext cx="3748300" cy="24500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60000" lIns="72000" rIns="72000" tIns="55000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4EC9B0"/>
                </a:solidFill>
              </a:rPr>
              <a:t>Database.Cursor</a:t>
            </a:r>
            <a:r>
              <a:rPr lang="en-US" sz="1500" typeface="Consolas">
                <a:solidFill>
                  <a:srgbClr val="D4D4D4"/>
                </a:solidFill>
              </a:rPr>
              <a:t> c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Database.getCursor(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soql,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16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AccessLevel.USER_MODE);</a:t>
            </a:r>
            <a:endParaRPr/>
          </a:p>
        </p:txBody>
      </p:sp>
      <p:sp>
        <p:nvSpPr>
          <p:cNvPr id="202" name="highlight-badge-1"/>
          <p:cNvSpPr txBox="1"/>
          <p:nvPr/>
        </p:nvSpPr>
        <p:spPr>
          <a:xfrm>
            <a:off x="127125" y="1392300"/>
            <a:ext cx="480000" cy="480000"/>
          </a:xfrm>
          <a:prstGeom prst="ellipse">
            <a:avLst/>
          </a:prstGeom>
          <a:solidFill>
            <a:srgbClr val="891019"/>
          </a:solidFill>
          <a:ln>
            <a:noFill/>
          </a:ln>
          <a:effectLst>
            <a:outerShdw blurRad="57150" dist="38100" dir="2700000" algn="ctr" rotWithShape="0">
              <a:srgbClr val="000000">
                <a:alpha val="45000"/>
              </a:srgbClr>
            </a:outerShdw>
          </a:effectLst>
        </p:spPr>
        <p:txBody>
          <a:bodyPr anchor="ctr" anchorCtr="1" wrap="none" lIns="0" rIns="0" tIns="0" bIns="0">
            <a:noAutofit/>
          </a:bodyPr>
          <a:lstStyle/>
          <a:p>
            <a:pPr algn="ctr">
              <a:buNone/>
            </a:pPr>
            <a:r>
              <a:rPr lang="en-US" sz="2400" b="1">
                <a:solidFill>
                  <a:srgbClr val="FFFFFF"/>
                </a:solidFill>
              </a:rPr>
              <a:t>1</a:t>
            </a:r>
            <a:endParaRPr/>
          </a:p>
        </p:txBody>
      </p:sp>
      <p:sp>
        <p:nvSpPr>
          <p:cNvPr id="203" name="highlight-code-2"/>
          <p:cNvSpPr txBox="1"/>
          <p:nvPr/>
        </p:nvSpPr>
        <p:spPr>
          <a:xfrm>
            <a:off x="4206625" y="1603500"/>
            <a:ext cx="3748300" cy="24500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60000" lIns="72000" rIns="72000" tIns="55000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List&lt;Account&gt; batch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c.fetch(offset,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batchSize);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result.hasMore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16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offset &lt; c.getNumRecords();</a:t>
            </a:r>
            <a:endParaRPr/>
          </a:p>
        </p:txBody>
      </p:sp>
      <p:sp>
        <p:nvSpPr>
          <p:cNvPr id="204" name="highlight-badge-2"/>
          <p:cNvSpPr txBox="1"/>
          <p:nvPr/>
        </p:nvSpPr>
        <p:spPr>
          <a:xfrm>
            <a:off x="3995425" y="1392300"/>
            <a:ext cx="480000" cy="480000"/>
          </a:xfrm>
          <a:prstGeom prst="ellipse">
            <a:avLst/>
          </a:prstGeom>
          <a:solidFill>
            <a:srgbClr val="891019"/>
          </a:solidFill>
          <a:ln>
            <a:noFill/>
          </a:ln>
          <a:effectLst>
            <a:outerShdw blurRad="57150" dist="38100" dir="2700000" algn="ctr" rotWithShape="0">
              <a:srgbClr val="000000">
                <a:alpha val="45000"/>
              </a:srgbClr>
            </a:outerShdw>
          </a:effectLst>
        </p:spPr>
        <p:txBody>
          <a:bodyPr anchor="ctr" anchorCtr="1" wrap="none" lIns="0" rIns="0" tIns="0" bIns="0">
            <a:noAutofit/>
          </a:bodyPr>
          <a:lstStyle/>
          <a:p>
            <a:pPr algn="ctr">
              <a:buNone/>
            </a:pPr>
            <a:r>
              <a:rPr lang="en-US" sz="2400" b="1">
                <a:solidFill>
                  <a:srgbClr val="FFFFFF"/>
                </a:solidFill>
              </a:rPr>
              <a:t>2</a:t>
            </a:r>
            <a:endParaRPr/>
          </a:p>
        </p:txBody>
      </p:sp>
      <p:sp>
        <p:nvSpPr>
          <p:cNvPr id="205" name="highlight-code-3"/>
          <p:cNvSpPr txBox="1"/>
          <p:nvPr/>
        </p:nvSpPr>
        <p:spPr>
          <a:xfrm>
            <a:off x="8074925" y="1603500"/>
            <a:ext cx="3748300" cy="24500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60000" lIns="72000" rIns="72000" tIns="55000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569CD6"/>
                </a:solidFill>
              </a:rPr>
              <a:t>const result = await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loadMoreRecords({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request, useSessionCache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16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});</a:t>
            </a:r>
            <a:endParaRPr/>
          </a:p>
        </p:txBody>
      </p:sp>
      <p:sp>
        <p:nvSpPr>
          <p:cNvPr id="206" name="highlight-badge-3"/>
          <p:cNvSpPr txBox="1"/>
          <p:nvPr/>
        </p:nvSpPr>
        <p:spPr>
          <a:xfrm>
            <a:off x="7863725" y="1392300"/>
            <a:ext cx="480000" cy="480000"/>
          </a:xfrm>
          <a:prstGeom prst="ellipse">
            <a:avLst/>
          </a:prstGeom>
          <a:solidFill>
            <a:srgbClr val="891019"/>
          </a:solidFill>
          <a:ln>
            <a:noFill/>
          </a:ln>
          <a:effectLst>
            <a:outerShdw blurRad="57150" dist="38100" dir="2700000" algn="ctr" rotWithShape="0">
              <a:srgbClr val="000000">
                <a:alpha val="45000"/>
              </a:srgbClr>
            </a:outerShdw>
          </a:effectLst>
        </p:spPr>
        <p:txBody>
          <a:bodyPr anchor="ctr" anchorCtr="1" wrap="none" lIns="0" rIns="0" tIns="0" bIns="0">
            <a:noAutofit/>
          </a:bodyPr>
          <a:lstStyle/>
          <a:p>
            <a:pPr algn="ctr">
              <a:buNone/>
            </a:pPr>
            <a:r>
              <a:rPr lang="en-US" sz="2400" b="1">
                <a:solidFill>
                  <a:srgbClr val="FFFFFF"/>
                </a:solidFill>
              </a:rPr>
              <a:t>3</a:t>
            </a:r>
            <a:endParaRPr/>
          </a:p>
        </p:txBody>
      </p:sp>
      <p:sp>
        <p:nvSpPr>
          <p:cNvPr id="207" name="highlight-info-panel"/>
          <p:cNvSpPr txBox="1"/>
          <p:nvPr/>
        </p:nvSpPr>
        <p:spPr>
          <a:xfrm>
            <a:off x="338325" y="4173500"/>
            <a:ext cx="11484900" cy="195000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20000" lIns="140000" rIns="120000" tIns="120000" wrap="square">
            <a:noAutofit/>
          </a:bodyPr>
          <a:lstStyle/>
          <a:p>
            <a:pPr indent="-285750" lvl="0" marL="457200" rtl="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Infinite scroll loads 50 rows at a time — no SOQL OFFSET</a:t>
            </a:r>
            <a:endParaRPr/>
          </a:p>
          <a:p>
            <a:pPr indent="-285750" lvl="0" marL="457200" rtl="0" algn="l">
              <a:lnSpc>
                <a:spcPct val="115000"/>
              </a:lnSpc>
              <a:spcBef>
                <a:spcPts val="22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Cursor held in LWC state or Cache.Session across Apex calls</a:t>
            </a:r>
            <a:endParaRPr/>
          </a:p>
          <a:p>
            <a:pPr indent="-285750" lvl="0" marL="457200" rtl="0" algn="l">
              <a:lnSpc>
                <a:spcPct val="115000"/>
              </a:lnSpc>
              <a:spcBef>
                <a:spcPts val="22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Live limit panel surfaces cursor, fetch, and row governor usage</a:t>
            </a:r>
            <a:endParaRPr/>
          </a:p>
          <a:p>
            <a:pPr indent="-285750" lvl="0" marL="457200" rtl="0" algn="l">
              <a:lnSpc>
                <a:spcPct val="115000"/>
              </a:lnSpc>
              <a:spcBef>
                <a:spcPts val="220"/>
              </a:spcBef>
              <a:spcAft>
                <a:spcPts val="12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Switch between standard and pagination cursor modes in one LWC</a:t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Demo 1: Virtual Data Table Summary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demo2-reporting-drilldown" title="Apex Cursor Demo - Reporting Drill-Dow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412" y="1150000"/>
            <a:ext cx="10970000" cy="5077734"/>
          </a:xfrm>
          <a:prstGeom prst="rect">
            <a:avLst/>
          </a:prstGeom>
          <a:effectLst>
            <a:outerShdw blurRad="63500" dist="47625" dir="2700000" algn="ctr" rotWithShape="0">
              <a:srgbClr val="000000">
                <a:alpha val="38000"/>
              </a:srgbClr>
            </a:outerShdw>
          </a:effectLst>
        </p:spPr>
      </p:pic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Demo 2: Interactive Reporting and Drilldown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highlight-code-1"/>
          <p:cNvSpPr txBox="1"/>
          <p:nvPr/>
        </p:nvSpPr>
        <p:spPr>
          <a:xfrm>
            <a:off x="338325" y="1603500"/>
            <a:ext cx="3748300" cy="24500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60000" lIns="72000" rIns="72000" tIns="55000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569CD6"/>
                </a:solidFill>
              </a:rPr>
              <a:t>Database.PaginationCursor</a:t>
            </a:r>
            <a:r>
              <a:rPr lang="en-US" sz="1500" typeface="Consolas">
                <a:solidFill>
                  <a:srgbClr val="D4D4D4"/>
                </a:solidFill>
              </a:rPr>
              <a:t> pc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Database.getPaginationCursor(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soql,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AccessLevel.USER_MODE);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Cache.Session.put(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16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sessionKey(product), pc);</a:t>
            </a:r>
            <a:endParaRPr/>
          </a:p>
        </p:txBody>
      </p:sp>
      <p:sp>
        <p:nvSpPr>
          <p:cNvPr id="202" name="highlight-badge-1"/>
          <p:cNvSpPr txBox="1"/>
          <p:nvPr/>
        </p:nvSpPr>
        <p:spPr>
          <a:xfrm>
            <a:off x="127125" y="1392300"/>
            <a:ext cx="480000" cy="480000"/>
          </a:xfrm>
          <a:prstGeom prst="ellipse">
            <a:avLst/>
          </a:prstGeom>
          <a:solidFill>
            <a:srgbClr val="891019"/>
          </a:solidFill>
          <a:ln>
            <a:noFill/>
          </a:ln>
          <a:effectLst>
            <a:outerShdw blurRad="57150" dist="38100" dir="2700000" algn="ctr" rotWithShape="0">
              <a:srgbClr val="000000">
                <a:alpha val="45000"/>
              </a:srgbClr>
            </a:outerShdw>
          </a:effectLst>
        </p:spPr>
        <p:txBody>
          <a:bodyPr anchor="ctr" anchorCtr="1" wrap="none" lIns="0" rIns="0" tIns="0" bIns="0">
            <a:noAutofit/>
          </a:bodyPr>
          <a:lstStyle/>
          <a:p>
            <a:pPr algn="ctr">
              <a:buNone/>
            </a:pPr>
            <a:r>
              <a:rPr lang="en-US" sz="2400" b="1">
                <a:solidFill>
                  <a:srgbClr val="FFFFFF"/>
                </a:solidFill>
              </a:rPr>
              <a:t>1</a:t>
            </a:r>
            <a:endParaRPr/>
          </a:p>
        </p:txBody>
      </p:sp>
      <p:sp>
        <p:nvSpPr>
          <p:cNvPr id="203" name="highlight-code-2"/>
          <p:cNvSpPr txBox="1"/>
          <p:nvPr/>
        </p:nvSpPr>
        <p:spPr>
          <a:xfrm>
            <a:off x="4206625" y="1603500"/>
            <a:ext cx="3748300" cy="24500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60000" lIns="72000" rIns="72000" tIns="55000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fetchResult = pc.fetchPage(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dayIndex, 1);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deletedRows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fetchResult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16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.getNumDeletedRecords();</a:t>
            </a:r>
            <a:endParaRPr/>
          </a:p>
        </p:txBody>
      </p:sp>
      <p:sp>
        <p:nvSpPr>
          <p:cNvPr id="204" name="highlight-badge-2"/>
          <p:cNvSpPr txBox="1"/>
          <p:nvPr/>
        </p:nvSpPr>
        <p:spPr>
          <a:xfrm>
            <a:off x="3995425" y="1392300"/>
            <a:ext cx="480000" cy="480000"/>
          </a:xfrm>
          <a:prstGeom prst="ellipse">
            <a:avLst/>
          </a:prstGeom>
          <a:solidFill>
            <a:srgbClr val="891019"/>
          </a:solidFill>
          <a:ln>
            <a:noFill/>
          </a:ln>
          <a:effectLst>
            <a:outerShdw blurRad="57150" dist="38100" dir="2700000" algn="ctr" rotWithShape="0">
              <a:srgbClr val="000000">
                <a:alpha val="45000"/>
              </a:srgbClr>
            </a:outerShdw>
          </a:effectLst>
        </p:spPr>
        <p:txBody>
          <a:bodyPr anchor="ctr" anchorCtr="1" wrap="none" lIns="0" rIns="0" tIns="0" bIns="0">
            <a:noAutofit/>
          </a:bodyPr>
          <a:lstStyle/>
          <a:p>
            <a:pPr algn="ctr">
              <a:buNone/>
            </a:pPr>
            <a:r>
              <a:rPr lang="en-US" sz="2400" b="1">
                <a:solidFill>
                  <a:srgbClr val="FFFFFF"/>
                </a:solidFill>
              </a:rPr>
              <a:t>2</a:t>
            </a:r>
            <a:endParaRPr/>
          </a:p>
        </p:txBody>
      </p:sp>
      <p:sp>
        <p:nvSpPr>
          <p:cNvPr id="205" name="highlight-code-3"/>
          <p:cNvSpPr txBox="1"/>
          <p:nvPr/>
        </p:nvSpPr>
        <p:spPr>
          <a:xfrm>
            <a:off x="8074925" y="1603500"/>
            <a:ext cx="3748300" cy="24500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60000" lIns="72000" rIns="72000" tIns="55000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569CD6"/>
                </a:solidFill>
              </a:rPr>
              <a:t>const detail = await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fetchDetailRange({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product,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startIndex, endIndex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16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});</a:t>
            </a:r>
            <a:endParaRPr/>
          </a:p>
        </p:txBody>
      </p:sp>
      <p:sp>
        <p:nvSpPr>
          <p:cNvPr id="206" name="highlight-badge-3"/>
          <p:cNvSpPr txBox="1"/>
          <p:nvPr/>
        </p:nvSpPr>
        <p:spPr>
          <a:xfrm>
            <a:off x="7863725" y="1392300"/>
            <a:ext cx="480000" cy="480000"/>
          </a:xfrm>
          <a:prstGeom prst="ellipse">
            <a:avLst/>
          </a:prstGeom>
          <a:solidFill>
            <a:srgbClr val="891019"/>
          </a:solidFill>
          <a:ln>
            <a:noFill/>
          </a:ln>
          <a:effectLst>
            <a:outerShdw blurRad="57150" dist="38100" dir="2700000" algn="ctr" rotWithShape="0">
              <a:srgbClr val="000000">
                <a:alpha val="45000"/>
              </a:srgbClr>
            </a:outerShdw>
          </a:effectLst>
        </p:spPr>
        <p:txBody>
          <a:bodyPr anchor="ctr" anchorCtr="1" wrap="none" lIns="0" rIns="0" tIns="0" bIns="0">
            <a:noAutofit/>
          </a:bodyPr>
          <a:lstStyle/>
          <a:p>
            <a:pPr algn="ctr">
              <a:buNone/>
            </a:pPr>
            <a:r>
              <a:rPr lang="en-US" sz="2400" b="1">
                <a:solidFill>
                  <a:srgbClr val="FFFFFF"/>
                </a:solidFill>
              </a:rPr>
              <a:t>3</a:t>
            </a:r>
            <a:endParaRPr/>
          </a:p>
        </p:txBody>
      </p:sp>
      <p:sp>
        <p:nvSpPr>
          <p:cNvPr id="207" name="highlight-info-panel"/>
          <p:cNvSpPr txBox="1"/>
          <p:nvPr/>
        </p:nvSpPr>
        <p:spPr>
          <a:xfrm>
            <a:off x="338325" y="4173500"/>
            <a:ext cx="11484900" cy="195000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20000" lIns="140000" rIns="120000" tIns="120000" wrap="square">
            <a:noAutofit/>
          </a:bodyPr>
          <a:lstStyle/>
          <a:p>
            <a:pPr indent="-285750" lvl="0" marL="457200" rtl="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PaginationCursor builds the monthly chart with one fetchPage per month</a:t>
            </a:r>
            <a:endParaRPr/>
          </a:p>
          <a:p>
            <a:pPr indent="-285750" lvl="0" marL="457200" rtl="0" algn="l">
              <a:lnSpc>
                <a:spcPct val="115000"/>
              </a:lnSpc>
              <a:spcBef>
                <a:spcPts val="22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Session cache keeps the cursor for brush-selection drill-down</a:t>
            </a:r>
            <a:endParaRPr/>
          </a:p>
          <a:p>
            <a:pPr indent="-285750" lvl="0" marL="457200" rtl="0" algn="l">
              <a:lnSpc>
                <a:spcPct val="115000"/>
              </a:lnSpc>
              <a:spcBef>
                <a:spcPts val="22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Index-based fetchPage maps chart range to daily observation rows</a:t>
            </a:r>
            <a:endParaRPr/>
          </a:p>
          <a:p>
            <a:pPr indent="-285750" lvl="0" marL="457200" rtl="0" algn="l">
              <a:lnSpc>
                <a:spcPct val="115000"/>
              </a:lnSpc>
              <a:spcBef>
                <a:spcPts val="220"/>
              </a:spcBef>
              <a:spcAft>
                <a:spcPts val="12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fetchPage reports deleted rows when underlying data changes</a:t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Demo 2: Interactive Reporting and Drilldown Summary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demo3-adaptive-async" title="Apex Cursor Demo - Adaptive Async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412" y="1150000"/>
            <a:ext cx="10970000" cy="5249023"/>
          </a:xfrm>
          <a:prstGeom prst="rect">
            <a:avLst/>
          </a:prstGeom>
          <a:effectLst>
            <a:outerShdw blurRad="63500" dist="47625" dir="2700000" algn="ctr" rotWithShape="0">
              <a:srgbClr val="000000">
                <a:alpha val="38000"/>
              </a:srgbClr>
            </a:outerShdw>
          </a:effectLst>
        </p:spPr>
      </p:pic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Demo 3: Adaptive Async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highlight-code-1"/>
          <p:cNvSpPr txBox="1"/>
          <p:nvPr/>
        </p:nvSpPr>
        <p:spPr>
          <a:xfrm>
            <a:off x="338325" y="1603500"/>
            <a:ext cx="3748300" cy="24500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60000" lIns="72000" rIns="72000" tIns="55000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Database.Cursor cursor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Database.getCursor(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soql,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AccessLevel.USER_MODE);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System.enqueueJob(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new AdaptiveOrderWorkerQueueable(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16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runId, cursor, 1), options);</a:t>
            </a:r>
            <a:endParaRPr/>
          </a:p>
        </p:txBody>
      </p:sp>
      <p:sp>
        <p:nvSpPr>
          <p:cNvPr id="202" name="highlight-badge-1"/>
          <p:cNvSpPr txBox="1"/>
          <p:nvPr/>
        </p:nvSpPr>
        <p:spPr>
          <a:xfrm>
            <a:off x="127125" y="1392300"/>
            <a:ext cx="480000" cy="480000"/>
          </a:xfrm>
          <a:prstGeom prst="ellipse">
            <a:avLst/>
          </a:prstGeom>
          <a:solidFill>
            <a:srgbClr val="891019"/>
          </a:solidFill>
          <a:ln>
            <a:noFill/>
          </a:ln>
          <a:effectLst>
            <a:outerShdw blurRad="57150" dist="38100" dir="2700000" algn="ctr" rotWithShape="0">
              <a:srgbClr val="000000">
                <a:alpha val="45000"/>
              </a:srgbClr>
            </a:outerShdw>
          </a:effectLst>
        </p:spPr>
        <p:txBody>
          <a:bodyPr anchor="ctr" anchorCtr="1" wrap="none" lIns="0" rIns="0" tIns="0" bIns="0">
            <a:noAutofit/>
          </a:bodyPr>
          <a:lstStyle/>
          <a:p>
            <a:pPr algn="ctr">
              <a:buNone/>
            </a:pPr>
            <a:r>
              <a:rPr lang="en-US" sz="2400" b="1">
                <a:solidFill>
                  <a:srgbClr val="FFFFFF"/>
                </a:solidFill>
              </a:rPr>
              <a:t>1</a:t>
            </a:r>
            <a:endParaRPr/>
          </a:p>
        </p:txBody>
      </p:sp>
      <p:sp>
        <p:nvSpPr>
          <p:cNvPr id="203" name="highlight-code-2"/>
          <p:cNvSpPr txBox="1"/>
          <p:nvPr/>
        </p:nvSpPr>
        <p:spPr>
          <a:xfrm>
            <a:off x="4206625" y="1603500"/>
            <a:ext cx="3748300" cy="24500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60000" lIns="72000" rIns="72000" tIns="55000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569CD6"/>
                </a:solidFill>
              </a:rPr>
              <a:t>for (Order row 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cursor.fetch(pos,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batchSize)) {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  rowCallouts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  rowCalloutsFor(row);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16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  // pack to callout budget</a:t>
            </a:r>
            <a:endParaRPr/>
          </a:p>
        </p:txBody>
      </p:sp>
      <p:sp>
        <p:nvSpPr>
          <p:cNvPr id="204" name="highlight-badge-2"/>
          <p:cNvSpPr txBox="1"/>
          <p:nvPr/>
        </p:nvSpPr>
        <p:spPr>
          <a:xfrm>
            <a:off x="3995425" y="1392300"/>
            <a:ext cx="480000" cy="480000"/>
          </a:xfrm>
          <a:prstGeom prst="ellipse">
            <a:avLst/>
          </a:prstGeom>
          <a:solidFill>
            <a:srgbClr val="891019"/>
          </a:solidFill>
          <a:ln>
            <a:noFill/>
          </a:ln>
          <a:effectLst>
            <a:outerShdw blurRad="57150" dist="38100" dir="2700000" algn="ctr" rotWithShape="0">
              <a:srgbClr val="000000">
                <a:alpha val="45000"/>
              </a:srgbClr>
            </a:outerShdw>
          </a:effectLst>
        </p:spPr>
        <p:txBody>
          <a:bodyPr anchor="ctr" anchorCtr="1" wrap="none" lIns="0" rIns="0" tIns="0" bIns="0">
            <a:noAutofit/>
          </a:bodyPr>
          <a:lstStyle/>
          <a:p>
            <a:pPr algn="ctr">
              <a:buNone/>
            </a:pPr>
            <a:r>
              <a:rPr lang="en-US" sz="2400" b="1">
                <a:solidFill>
                  <a:srgbClr val="FFFFFF"/>
                </a:solidFill>
              </a:rPr>
              <a:t>2</a:t>
            </a:r>
            <a:endParaRPr/>
          </a:p>
        </p:txBody>
      </p:sp>
      <p:sp>
        <p:nvSpPr>
          <p:cNvPr id="205" name="highlight-code-3"/>
          <p:cNvSpPr txBox="1"/>
          <p:nvPr/>
        </p:nvSpPr>
        <p:spPr>
          <a:xfrm>
            <a:off x="8074925" y="1603500"/>
            <a:ext cx="3748300" cy="24500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60000" lIns="72000" rIns="72000" tIns="55000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569CD6"/>
                </a:solidFill>
              </a:rPr>
              <a:t>if (moreOrders) {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sequence++;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System.enqueueJob(this);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569CD6"/>
                </a:solidFill>
              </a:rPr>
              <a:t>}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16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System.attachFinalizer(this);</a:t>
            </a:r>
            <a:endParaRPr/>
          </a:p>
        </p:txBody>
      </p:sp>
      <p:sp>
        <p:nvSpPr>
          <p:cNvPr id="206" name="highlight-badge-3"/>
          <p:cNvSpPr txBox="1"/>
          <p:nvPr/>
        </p:nvSpPr>
        <p:spPr>
          <a:xfrm>
            <a:off x="7863725" y="1392300"/>
            <a:ext cx="480000" cy="480000"/>
          </a:xfrm>
          <a:prstGeom prst="ellipse">
            <a:avLst/>
          </a:prstGeom>
          <a:solidFill>
            <a:srgbClr val="891019"/>
          </a:solidFill>
          <a:ln>
            <a:noFill/>
          </a:ln>
          <a:effectLst>
            <a:outerShdw blurRad="57150" dist="38100" dir="2700000" algn="ctr" rotWithShape="0">
              <a:srgbClr val="000000">
                <a:alpha val="45000"/>
              </a:srgbClr>
            </a:outerShdw>
          </a:effectLst>
        </p:spPr>
        <p:txBody>
          <a:bodyPr anchor="ctr" anchorCtr="1" wrap="none" lIns="0" rIns="0" tIns="0" bIns="0">
            <a:noAutofit/>
          </a:bodyPr>
          <a:lstStyle/>
          <a:p>
            <a:pPr algn="ctr">
              <a:buNone/>
            </a:pPr>
            <a:r>
              <a:rPr lang="en-US" sz="2400" b="1">
                <a:solidFill>
                  <a:srgbClr val="FFFFFF"/>
                </a:solidFill>
              </a:rPr>
              <a:t>3</a:t>
            </a:r>
            <a:endParaRPr/>
          </a:p>
        </p:txBody>
      </p:sp>
      <p:sp>
        <p:nvSpPr>
          <p:cNvPr id="207" name="highlight-info-panel"/>
          <p:cNvSpPr txBox="1"/>
          <p:nvPr/>
        </p:nvSpPr>
        <p:spPr>
          <a:xfrm>
            <a:off x="338325" y="4173500"/>
            <a:ext cx="11484900" cy="195000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20000" lIns="140000" rIns="120000" tIns="120000" wrap="square">
            <a:noAutofit/>
          </a:bodyPr>
          <a:lstStyle/>
          <a:p>
            <a:pPr indent="-285750" lvl="0" marL="457200" rtl="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One cursor opened in Apex and passed through chained queueable jobs</a:t>
            </a:r>
            <a:endParaRPr/>
          </a:p>
          <a:p>
            <a:pPr indent="-285750" lvl="0" marL="457200" rtl="0" algn="l">
              <a:lnSpc>
                <a:spcPct val="115000"/>
              </a:lnSpc>
              <a:spcBef>
                <a:spcPts val="22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Chunk size adapts to remaining HTTP callout budget per transaction</a:t>
            </a:r>
            <a:endParaRPr/>
          </a:p>
          <a:p>
            <a:pPr indent="-285750" lvl="0" marL="457200" rtl="0" algn="l">
              <a:lnSpc>
                <a:spcPct val="115000"/>
              </a:lnSpc>
              <a:spcBef>
                <a:spcPts val="22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Finalizer publishes platform events after each chunk commits</a:t>
            </a:r>
            <a:endParaRPr/>
          </a:p>
          <a:p>
            <a:pPr indent="-285750" lvl="0" marL="457200" rtl="0" algn="l">
              <a:lnSpc>
                <a:spcPct val="115000"/>
              </a:lnSpc>
              <a:spcBef>
                <a:spcPts val="220"/>
              </a:spcBef>
              <a:spcAft>
                <a:spcPts val="12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Cursor position travels on the job — no Database.Stateful required</a:t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Demo 3: Adaptive Async Summary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usage-label-201"/>
          <p:cNvSpPr txBox="1"/>
          <p:nvPr/>
        </p:nvSpPr>
        <p:spPr>
          <a:xfrm>
            <a:off x="338325" y="2028500"/>
            <a:ext cx="3764966" cy="260000"/>
          </a:xfrm>
          <a:prstGeom prst="rect">
            <a:avLst/>
          </a:prstGeom>
          <a:noFill/>
          <a:ln>
            <a:noFill/>
          </a:ln>
        </p:spPr>
        <p:txBody>
          <a:bodyPr anchor="b" anchorCtr="0" wrap="none">
            <a:noAutofit/>
          </a:bodyPr>
          <a:lstStyle/>
          <a:p>
            <a:pPr algn="l">
              <a:buNone/>
            </a:pPr>
            <a:r>
              <a:rPr lang="en-US" sz="1550" b="1">
                <a:solidFill>
                  <a:srgbClr val="891019"/>
                </a:solidFill>
              </a:rPr>
              <a:t>Stable ORDER BY</a:t>
            </a:r>
            <a:endParaRPr/>
          </a:p>
        </p:txBody>
      </p:sp>
      <p:sp>
        <p:nvSpPr>
          <p:cNvPr id="202" name="usage-code-202"/>
          <p:cNvSpPr txBox="1"/>
          <p:nvPr/>
        </p:nvSpPr>
        <p:spPr>
          <a:xfrm>
            <a:off x="338325" y="2288500"/>
            <a:ext cx="3764966" cy="9200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50000" rIns="50000" tIns="38000" bIns="75000">
            <a:noAutofit/>
          </a:bodyPr>
          <a:lstStyle/>
          <a:p>
            <a:pPr indent="0" lvl="0" marL="0" rtl="0" algn="l">
              <a:lnSpc>
                <a:spcPct val="98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2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'SELECT ... FROM Account 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WHERE Name LIKE 'TEST%'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ORDER BY Name',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12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AccessLevel.USER_MODE);</a:t>
            </a:r>
            <a:endParaRPr/>
          </a:p>
        </p:txBody>
      </p:sp>
      <p:sp>
        <p:nvSpPr>
          <p:cNvPr id="203" name="usage-info-203"/>
          <p:cNvSpPr txBox="1"/>
          <p:nvPr/>
        </p:nvSpPr>
        <p:spPr>
          <a:xfrm>
            <a:off x="338325" y="3248500"/>
            <a:ext cx="3764966" cy="580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42000" rIns="42000" tIns="42000" bIns="42000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Sort on a unique, stable key.</a:t>
            </a:r>
            <a:endParaRPr/>
          </a:p>
          <a:p>
            <a:pPr indent="0" lvl="0" marL="0" rtl="0" algn="l">
              <a:lnSpc>
                <a:spcPct val="108000"/>
              </a:lnSpc>
              <a:spcBef>
                <a:spcPts val="100"/>
              </a:spcBef>
              <a:spcAft>
                <a:spcPts val="8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Keeps offsets and page indexes predictable.</a:t>
            </a:r>
            <a:endParaRPr/>
          </a:p>
        </p:txBody>
      </p:sp>
      <p:sp>
        <p:nvSpPr>
          <p:cNvPr id="204" name="usage-label-204"/>
          <p:cNvSpPr txBox="1"/>
          <p:nvPr/>
        </p:nvSpPr>
        <p:spPr>
          <a:xfrm>
            <a:off x="4198291" y="2028500"/>
            <a:ext cx="3764966" cy="260000"/>
          </a:xfrm>
          <a:prstGeom prst="rect">
            <a:avLst/>
          </a:prstGeom>
          <a:noFill/>
          <a:ln>
            <a:noFill/>
          </a:ln>
        </p:spPr>
        <p:txBody>
          <a:bodyPr anchor="b" anchorCtr="0" wrap="none">
            <a:noAutofit/>
          </a:bodyPr>
          <a:lstStyle/>
          <a:p>
            <a:pPr algn="l">
              <a:buNone/>
            </a:pPr>
            <a:r>
              <a:rPr lang="en-US" sz="1550" b="1">
                <a:solidFill>
                  <a:srgbClr val="891019"/>
                </a:solidFill>
              </a:rPr>
              <a:t>Guard fetch size</a:t>
            </a:r>
            <a:endParaRPr/>
          </a:p>
        </p:txBody>
      </p:sp>
      <p:sp>
        <p:nvSpPr>
          <p:cNvPr id="205" name="usage-code-205"/>
          <p:cNvSpPr txBox="1"/>
          <p:nvPr/>
        </p:nvSpPr>
        <p:spPr>
          <a:xfrm>
            <a:off x="4198291" y="2288500"/>
            <a:ext cx="3764966" cy="9200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50000" rIns="50000" tIns="38000" bIns="75000">
            <a:noAutofit/>
          </a:bodyPr>
          <a:lstStyle/>
          <a:p>
            <a:pPr indent="0" lvl="0" marL="0" rtl="0" algn="l">
              <a:lnSpc>
                <a:spcPct val="98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2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4D4D4"/>
                </a:solidFill>
              </a:rPr>
              <a:t>remaining = c.getNumRecords()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  - offset;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4D4D4"/>
                </a:solidFill>
              </a:rPr>
              <a:t>fetchSize = remaining &gt; 0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  ? Math.min(batchSize,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12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    remaining) : 0;</a:t>
            </a:r>
            <a:endParaRPr/>
          </a:p>
        </p:txBody>
      </p:sp>
      <p:sp>
        <p:nvSpPr>
          <p:cNvPr id="206" name="usage-info-206"/>
          <p:cNvSpPr txBox="1"/>
          <p:nvPr/>
        </p:nvSpPr>
        <p:spPr>
          <a:xfrm>
            <a:off x="4198291" y="3248500"/>
            <a:ext cx="3764966" cy="580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42000" rIns="42000" tIns="42000" bIns="42000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Skip fetch when remaining is zero.</a:t>
            </a:r>
            <a:endParaRPr/>
          </a:p>
          <a:p>
            <a:pPr indent="0" lvl="0" marL="0" rtl="0" algn="l">
              <a:lnSpc>
                <a:spcPct val="108000"/>
              </a:lnSpc>
              <a:spcBef>
                <a:spcPts val="100"/>
              </a:spcBef>
              <a:spcAft>
                <a:spcPts val="8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Avoids empty fetch(0, 0) batches.</a:t>
            </a:r>
            <a:endParaRPr/>
          </a:p>
        </p:txBody>
      </p:sp>
      <p:sp>
        <p:nvSpPr>
          <p:cNvPr id="207" name="usage-label-207"/>
          <p:cNvSpPr txBox="1"/>
          <p:nvPr/>
        </p:nvSpPr>
        <p:spPr>
          <a:xfrm>
            <a:off x="8058257" y="2028500"/>
            <a:ext cx="3764966" cy="260000"/>
          </a:xfrm>
          <a:prstGeom prst="rect">
            <a:avLst/>
          </a:prstGeom>
          <a:noFill/>
          <a:ln>
            <a:noFill/>
          </a:ln>
        </p:spPr>
        <p:txBody>
          <a:bodyPr anchor="b" anchorCtr="0" wrap="none">
            <a:noAutofit/>
          </a:bodyPr>
          <a:lstStyle/>
          <a:p>
            <a:pPr algn="l">
              <a:buNone/>
            </a:pPr>
            <a:r>
              <a:rPr lang="en-US" sz="1550" b="1">
                <a:solidFill>
                  <a:srgbClr val="891019"/>
                </a:solidFill>
              </a:rPr>
              <a:t>Cap fetchPage size</a:t>
            </a:r>
            <a:endParaRPr/>
          </a:p>
        </p:txBody>
      </p:sp>
      <p:sp>
        <p:nvSpPr>
          <p:cNvPr id="208" name="usage-code-208"/>
          <p:cNvSpPr txBox="1"/>
          <p:nvPr/>
        </p:nvSpPr>
        <p:spPr>
          <a:xfrm>
            <a:off x="8058257" y="2288500"/>
            <a:ext cx="3764966" cy="9200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50000" rIns="50000" tIns="38000" bIns="75000">
            <a:noAutofit/>
          </a:bodyPr>
          <a:lstStyle/>
          <a:p>
            <a:pPr indent="0" lvl="0" marL="0" rtl="0" algn="l">
              <a:lnSpc>
                <a:spcPct val="98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2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pageSize = Math.min(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PAGE_SIZE,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  pc.getNumRecords()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  - startIndex);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12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pc.fetchPage(start, pageSize);</a:t>
            </a:r>
            <a:endParaRPr/>
          </a:p>
        </p:txBody>
      </p:sp>
      <p:sp>
        <p:nvSpPr>
          <p:cNvPr id="209" name="usage-info-209"/>
          <p:cNvSpPr txBox="1"/>
          <p:nvPr/>
        </p:nvSpPr>
        <p:spPr>
          <a:xfrm>
            <a:off x="8058257" y="3248500"/>
            <a:ext cx="3764966" cy="580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42000" rIns="42000" tIns="42000" bIns="42000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Do not request rows past the result set end.</a:t>
            </a:r>
            <a:endParaRPr/>
          </a:p>
          <a:p>
            <a:pPr indent="0" lvl="0" marL="0" rtl="0" algn="l">
              <a:lnSpc>
                <a:spcPct val="108000"/>
              </a:lnSpc>
              <a:spcBef>
                <a:spcPts val="100"/>
              </a:spcBef>
              <a:spcAft>
                <a:spcPts val="8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Critical for partial last pages and after deletes.</a:t>
            </a:r>
            <a:endParaRPr/>
          </a:p>
        </p:txBody>
      </p:sp>
      <p:sp>
        <p:nvSpPr>
          <p:cNvPr id="210" name="usage-label-210"/>
          <p:cNvSpPr txBox="1"/>
          <p:nvPr/>
        </p:nvSpPr>
        <p:spPr>
          <a:xfrm>
            <a:off x="338325" y="3913500"/>
            <a:ext cx="3764966" cy="260000"/>
          </a:xfrm>
          <a:prstGeom prst="rect">
            <a:avLst/>
          </a:prstGeom>
          <a:noFill/>
          <a:ln>
            <a:noFill/>
          </a:ln>
        </p:spPr>
        <p:txBody>
          <a:bodyPr anchor="b" anchorCtr="0" wrap="none">
            <a:noAutofit/>
          </a:bodyPr>
          <a:lstStyle/>
          <a:p>
            <a:pPr algn="l">
              <a:buNone/>
            </a:pPr>
            <a:r>
              <a:rPr lang="en-US" sz="1550" b="1">
                <a:solidFill>
                  <a:srgbClr val="891019"/>
                </a:solidFill>
              </a:rPr>
              <a:t>Retry transient errors</a:t>
            </a:r>
            <a:endParaRPr/>
          </a:p>
        </p:txBody>
      </p:sp>
      <p:sp>
        <p:nvSpPr>
          <p:cNvPr id="211" name="usage-code-211"/>
          <p:cNvSpPr txBox="1"/>
          <p:nvPr/>
        </p:nvSpPr>
        <p:spPr>
          <a:xfrm>
            <a:off x="338325" y="4173500"/>
            <a:ext cx="3764966" cy="9200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50000" rIns="50000" tIns="38000" bIns="75000">
            <a:noAutofit/>
          </a:bodyPr>
          <a:lstStyle/>
          <a:p>
            <a:pPr indent="0" lvl="0" marL="0" rtl="0" algn="l">
              <a:lnSpc>
                <a:spcPct val="98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2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569CD6"/>
                </a:solidFill>
              </a:rPr>
              <a:t>} catch (System.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569CD6"/>
                </a:solidFill>
              </a:rPr>
              <a:t>  TransientCursorException e) {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  if (++retries &lt;= MAX)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  return retry();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12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  throw e;</a:t>
            </a:r>
            <a:endParaRPr/>
          </a:p>
        </p:txBody>
      </p:sp>
      <p:sp>
        <p:nvSpPr>
          <p:cNvPr id="212" name="usage-info-212"/>
          <p:cNvSpPr txBox="1"/>
          <p:nvPr/>
        </p:nvSpPr>
        <p:spPr>
          <a:xfrm>
            <a:off x="338325" y="5133500"/>
            <a:ext cx="3764966" cy="580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42000" rIns="42000" tIns="42000" bIns="42000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TransientCursorException may be retried.</a:t>
            </a:r>
            <a:endParaRPr/>
          </a:p>
          <a:p>
            <a:pPr indent="0" lvl="0" marL="0" rtl="0" algn="l">
              <a:lnSpc>
                <a:spcPct val="108000"/>
              </a:lnSpc>
              <a:spcBef>
                <a:spcPts val="100"/>
              </a:spcBef>
              <a:spcAft>
                <a:spcPts val="8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Do not retry FatalCursorException.</a:t>
            </a:r>
            <a:endParaRPr/>
          </a:p>
        </p:txBody>
      </p:sp>
      <p:sp>
        <p:nvSpPr>
          <p:cNvPr id="213" name="usage-label-213"/>
          <p:cNvSpPr txBox="1"/>
          <p:nvPr/>
        </p:nvSpPr>
        <p:spPr>
          <a:xfrm>
            <a:off x="4198291" y="3913500"/>
            <a:ext cx="3764966" cy="260000"/>
          </a:xfrm>
          <a:prstGeom prst="rect">
            <a:avLst/>
          </a:prstGeom>
          <a:noFill/>
          <a:ln>
            <a:noFill/>
          </a:ln>
        </p:spPr>
        <p:txBody>
          <a:bodyPr anchor="b" anchorCtr="0" wrap="none">
            <a:noAutofit/>
          </a:bodyPr>
          <a:lstStyle/>
          <a:p>
            <a:pPr algn="l">
              <a:buNone/>
            </a:pPr>
            <a:r>
              <a:rPr lang="en-US" sz="1550" b="1">
                <a:solidFill>
                  <a:srgbClr val="891019"/>
                </a:solidFill>
              </a:rPr>
              <a:t>Cursor returns to LWC</a:t>
            </a:r>
            <a:endParaRPr/>
          </a:p>
        </p:txBody>
      </p:sp>
      <p:sp>
        <p:nvSpPr>
          <p:cNvPr id="214" name="usage-code-214"/>
          <p:cNvSpPr txBox="1"/>
          <p:nvPr/>
        </p:nvSpPr>
        <p:spPr>
          <a:xfrm>
            <a:off x="4198291" y="4173500"/>
            <a:ext cx="3764966" cy="9200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50000" rIns="50000" tIns="38000" bIns="75000">
            <a:noAutofit/>
          </a:bodyPr>
          <a:lstStyle/>
          <a:p>
            <a:pPr indent="0" lvl="0" marL="0" rtl="0" algn="l">
              <a:lnSpc>
                <a:spcPct val="98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2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569CD6"/>
                </a:solidFill>
              </a:rPr>
              <a:t>@AuraEnabled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public static Result load(...) {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result.cursor = cursor;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  return result;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120"/>
              </a:spcAft>
              <a:buNone/>
            </a:pPr>
            <a:r>
              <a:rPr lang="en-US" sz="1150" typeface="Consolas">
                <a:solidFill>
                  <a:srgbClr val="569CD6"/>
                </a:solidFill>
              </a:rPr>
              <a:t>}</a:t>
            </a:r>
            <a:endParaRPr/>
          </a:p>
        </p:txBody>
      </p:sp>
      <p:sp>
        <p:nvSpPr>
          <p:cNvPr id="215" name="usage-info-215"/>
          <p:cNvSpPr txBox="1"/>
          <p:nvPr/>
        </p:nvSpPr>
        <p:spPr>
          <a:xfrm>
            <a:off x="4198291" y="5133500"/>
            <a:ext cx="3764966" cy="580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42000" rIns="42000" tIns="42000" bIns="42000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Cursors are Aura-serializable.</a:t>
            </a:r>
            <a:endParaRPr/>
          </a:p>
          <a:p>
            <a:pPr indent="0" lvl="0" marL="0" rtl="0" algn="l">
              <a:lnSpc>
                <a:spcPct val="108000"/>
              </a:lnSpc>
              <a:spcBef>
                <a:spcPts val="100"/>
              </a:spcBef>
              <a:spcAft>
                <a:spcPts val="8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Return on @AuraEnabled result — no JSON hack.</a:t>
            </a:r>
            <a:endParaRPr/>
          </a:p>
        </p:txBody>
      </p:sp>
      <p:sp>
        <p:nvSpPr>
          <p:cNvPr id="216" name="usage-label-216"/>
          <p:cNvSpPr txBox="1"/>
          <p:nvPr/>
        </p:nvSpPr>
        <p:spPr>
          <a:xfrm>
            <a:off x="8058257" y="3913500"/>
            <a:ext cx="3764966" cy="260000"/>
          </a:xfrm>
          <a:prstGeom prst="rect">
            <a:avLst/>
          </a:prstGeom>
          <a:noFill/>
          <a:ln>
            <a:noFill/>
          </a:ln>
        </p:spPr>
        <p:txBody>
          <a:bodyPr anchor="b" anchorCtr="0" wrap="none">
            <a:noAutofit/>
          </a:bodyPr>
          <a:lstStyle/>
          <a:p>
            <a:pPr algn="l">
              <a:buNone/>
            </a:pPr>
            <a:r>
              <a:rPr lang="en-US" sz="1550" b="1">
                <a:solidFill>
                  <a:srgbClr val="891019"/>
                </a:solidFill>
              </a:rPr>
              <a:t>Surface limits in UI</a:t>
            </a:r>
            <a:endParaRPr/>
          </a:p>
        </p:txBody>
      </p:sp>
      <p:sp>
        <p:nvSpPr>
          <p:cNvPr id="217" name="usage-code-217"/>
          <p:cNvSpPr txBox="1"/>
          <p:nvPr/>
        </p:nvSpPr>
        <p:spPr>
          <a:xfrm>
            <a:off x="8058257" y="4173500"/>
            <a:ext cx="3764966" cy="9200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50000" rIns="50000" tIns="38000" bIns="75000">
            <a:noAutofit/>
          </a:bodyPr>
          <a:lstStyle/>
          <a:p>
            <a:pPr indent="0" lvl="0" marL="0" rtl="0" algn="l">
              <a:lnSpc>
                <a:spcPct val="98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2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Limits.getApexCursors()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4D4D4"/>
                </a:solidFill>
              </a:rPr>
              <a:t>  + '/' + Limits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  .getLimitApexCursors();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OrgLimits.getMap().get(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12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'DailyApexCursorLimit');</a:t>
            </a:r>
            <a:endParaRPr/>
          </a:p>
        </p:txBody>
      </p:sp>
      <p:sp>
        <p:nvSpPr>
          <p:cNvPr id="218" name="usage-info-218"/>
          <p:cNvSpPr txBox="1"/>
          <p:nvPr/>
        </p:nvSpPr>
        <p:spPr>
          <a:xfrm>
            <a:off x="8058257" y="5133500"/>
            <a:ext cx="3764966" cy="580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42000" rIns="42000" tIns="42000" bIns="42000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Limits.* for per-transaction governors.</a:t>
            </a:r>
            <a:endParaRPr/>
          </a:p>
          <a:p>
            <a:pPr indent="0" lvl="0" marL="0" rtl="0" algn="l">
              <a:lnSpc>
                <a:spcPct val="108000"/>
              </a:lnSpc>
              <a:spcBef>
                <a:spcPts val="100"/>
              </a:spcBef>
              <a:spcAft>
                <a:spcPts val="8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OrgLimits.getMap() for rolling 24-hour org caps.</a:t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Usage Best Practices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limits-table-shadow"/>
          <p:cNvSpPr/>
          <p:nvPr/>
        </p:nvSpPr>
        <p:spPr>
          <a:xfrm>
            <a:off x="338325" y="1446000"/>
            <a:ext cx="11484900" cy="328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2" name="limits-hdr-bg-0"/>
          <p:cNvSpPr/>
          <p:nvPr/>
        </p:nvSpPr>
        <p:spPr>
          <a:xfrm>
            <a:off x="338325" y="1446000"/>
            <a:ext cx="5972148" cy="420000"/>
          </a:xfrm>
          <a:prstGeom prst="rect">
            <a:avLst/>
          </a:prstGeom>
          <a:solidFill>
            <a:srgbClr val="89101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3" name="limits-hdr-0"/>
          <p:cNvSpPr txBox="1"/>
          <p:nvPr/>
        </p:nvSpPr>
        <p:spPr>
          <a:xfrm>
            <a:off x="338325" y="1446000"/>
            <a:ext cx="5972148" cy="420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4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50" b="1">
                <a:solidFill>
                  <a:srgbClr val="FFFFFF"/>
                </a:solidFill>
              </a:rPr>
              <a:t>Limit</a:t>
            </a:r>
            <a:endParaRPr/>
          </a:p>
        </p:txBody>
      </p:sp>
      <p:sp>
        <p:nvSpPr>
          <p:cNvPr id="204" name="limits-hdr-bg-1"/>
          <p:cNvSpPr/>
          <p:nvPr/>
        </p:nvSpPr>
        <p:spPr>
          <a:xfrm>
            <a:off x="6310473" y="1446000"/>
            <a:ext cx="2756376" cy="42000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5" name="limits-hdr-1"/>
          <p:cNvSpPr txBox="1"/>
          <p:nvPr/>
        </p:nvSpPr>
        <p:spPr>
          <a:xfrm>
            <a:off x="6310473" y="1446000"/>
            <a:ext cx="2756376" cy="420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50" b="1">
                <a:solidFill>
                  <a:srgbClr val="FFFFFF"/>
                </a:solidFill>
              </a:rPr>
              <a:t>Pagination</a:t>
            </a:r>
            <a:endParaRPr/>
          </a:p>
        </p:txBody>
      </p:sp>
      <p:sp>
        <p:nvSpPr>
          <p:cNvPr id="206" name="limits-hdr-bg-2"/>
          <p:cNvSpPr/>
          <p:nvPr/>
        </p:nvSpPr>
        <p:spPr>
          <a:xfrm>
            <a:off x="9066849" y="1446000"/>
            <a:ext cx="2756376" cy="420000"/>
          </a:xfrm>
          <a:prstGeom prst="rect">
            <a:avLst/>
          </a:prstGeom>
          <a:solidFill>
            <a:srgbClr val="5A7A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7" name="limits-hdr-2"/>
          <p:cNvSpPr txBox="1"/>
          <p:nvPr/>
        </p:nvSpPr>
        <p:spPr>
          <a:xfrm>
            <a:off x="9066849" y="1446000"/>
            <a:ext cx="2756376" cy="420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50" b="1">
                <a:solidFill>
                  <a:srgbClr val="FFFFFF"/>
                </a:solidFill>
              </a:rPr>
              <a:t>Standard</a:t>
            </a:r>
            <a:endParaRPr/>
          </a:p>
        </p:txBody>
      </p:sp>
      <p:sp>
        <p:nvSpPr>
          <p:cNvPr id="208" name="limits-section-208"/>
          <p:cNvSpPr/>
          <p:nvPr/>
        </p:nvSpPr>
        <p:spPr>
          <a:xfrm>
            <a:off x="338325" y="1866000"/>
            <a:ext cx="11484900" cy="285000"/>
          </a:xfrm>
          <a:prstGeom prst="rect">
            <a:avLst/>
          </a:prstGeom>
          <a:solidFill>
            <a:srgbClr val="E8ECF4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9" name="limits-section-text-209"/>
          <p:cNvSpPr txBox="1"/>
          <p:nvPr/>
        </p:nvSpPr>
        <p:spPr>
          <a:xfrm>
            <a:off x="338325" y="1866000"/>
            <a:ext cx="11484900" cy="28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8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>
                <a:solidFill>
                  <a:srgbClr val="891019"/>
                </a:solidFill>
              </a:rPr>
              <a:t>Per transaction (each Apex request)</a:t>
            </a:r>
            <a:endParaRPr/>
          </a:p>
        </p:txBody>
      </p:sp>
      <p:sp>
        <p:nvSpPr>
          <p:cNvPr id="210" name="limits-row-0-bg-0"/>
          <p:cNvSpPr/>
          <p:nvPr/>
        </p:nvSpPr>
        <p:spPr>
          <a:xfrm>
            <a:off x="338325" y="2151000"/>
            <a:ext cx="5972148" cy="335000"/>
          </a:xfrm>
          <a:prstGeom prst="rect">
            <a:avLst/>
          </a:prstGeom>
          <a:solidFill>
            <a:srgbClr val="F9FAFC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1" name="limits-row-0-0"/>
          <p:cNvSpPr txBox="1"/>
          <p:nvPr/>
        </p:nvSpPr>
        <p:spPr>
          <a:xfrm>
            <a:off x="338325" y="2151000"/>
            <a:ext cx="5972148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4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20" b="1">
                <a:solidFill>
                  <a:srgbClr val="333333"/>
                </a:solidFill>
              </a:rPr>
              <a:t>Cursor instances open</a:t>
            </a:r>
            <a:endParaRPr/>
          </a:p>
        </p:txBody>
      </p:sp>
      <p:sp>
        <p:nvSpPr>
          <p:cNvPr id="212" name="limits-row-0-bg-1"/>
          <p:cNvSpPr/>
          <p:nvPr/>
        </p:nvSpPr>
        <p:spPr>
          <a:xfrm>
            <a:off x="6310473" y="2151000"/>
            <a:ext cx="2756376" cy="335000"/>
          </a:xfrm>
          <a:prstGeom prst="rect">
            <a:avLst/>
          </a:prstGeom>
          <a:solidFill>
            <a:srgbClr val="F9FAFC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3" name="limits-row-0-1"/>
          <p:cNvSpPr txBox="1"/>
          <p:nvPr/>
        </p:nvSpPr>
        <p:spPr>
          <a:xfrm>
            <a:off x="6310473" y="2151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50</a:t>
            </a:r>
            <a:endParaRPr/>
          </a:p>
        </p:txBody>
      </p:sp>
      <p:sp>
        <p:nvSpPr>
          <p:cNvPr id="214" name="limits-row-0-bg-2"/>
          <p:cNvSpPr/>
          <p:nvPr/>
        </p:nvSpPr>
        <p:spPr>
          <a:xfrm>
            <a:off x="9066849" y="2151000"/>
            <a:ext cx="2756376" cy="335000"/>
          </a:xfrm>
          <a:prstGeom prst="rect">
            <a:avLst/>
          </a:prstGeom>
          <a:solidFill>
            <a:srgbClr val="F9FAFC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5" name="limits-row-0-2"/>
          <p:cNvSpPr txBox="1"/>
          <p:nvPr/>
        </p:nvSpPr>
        <p:spPr>
          <a:xfrm>
            <a:off x="9066849" y="2151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50</a:t>
            </a:r>
            <a:endParaRPr/>
          </a:p>
        </p:txBody>
      </p:sp>
      <p:sp>
        <p:nvSpPr>
          <p:cNvPr id="216" name="limits-row-1-bg-0"/>
          <p:cNvSpPr/>
          <p:nvPr/>
        </p:nvSpPr>
        <p:spPr>
          <a:xfrm>
            <a:off x="338325" y="2486000"/>
            <a:ext cx="5972148" cy="3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7" name="limits-row-1-0"/>
          <p:cNvSpPr txBox="1"/>
          <p:nvPr/>
        </p:nvSpPr>
        <p:spPr>
          <a:xfrm>
            <a:off x="338325" y="2486000"/>
            <a:ext cx="5972148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4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20" b="1">
                <a:solidFill>
                  <a:srgbClr val="333333"/>
                </a:solidFill>
              </a:rPr>
              <a:t>Rows across all cursors in txn</a:t>
            </a:r>
            <a:endParaRPr/>
          </a:p>
        </p:txBody>
      </p:sp>
      <p:sp>
        <p:nvSpPr>
          <p:cNvPr id="218" name="limits-row-1-bg-1"/>
          <p:cNvSpPr/>
          <p:nvPr/>
        </p:nvSpPr>
        <p:spPr>
          <a:xfrm>
            <a:off x="6310473" y="2486000"/>
            <a:ext cx="2756376" cy="3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9" name="limits-row-1-1"/>
          <p:cNvSpPr txBox="1"/>
          <p:nvPr/>
        </p:nvSpPr>
        <p:spPr>
          <a:xfrm>
            <a:off x="6310473" y="2486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100,000</a:t>
            </a:r>
            <a:endParaRPr/>
          </a:p>
        </p:txBody>
      </p:sp>
      <p:sp>
        <p:nvSpPr>
          <p:cNvPr id="220" name="limits-row-1-bg-2"/>
          <p:cNvSpPr/>
          <p:nvPr/>
        </p:nvSpPr>
        <p:spPr>
          <a:xfrm>
            <a:off x="9066849" y="2486000"/>
            <a:ext cx="2756376" cy="3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1" name="limits-row-1-2"/>
          <p:cNvSpPr txBox="1"/>
          <p:nvPr/>
        </p:nvSpPr>
        <p:spPr>
          <a:xfrm>
            <a:off x="9066849" y="2486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50,000,000</a:t>
            </a:r>
            <a:endParaRPr/>
          </a:p>
        </p:txBody>
      </p:sp>
      <p:sp>
        <p:nvSpPr>
          <p:cNvPr id="222" name="limits-row-2-bg-0"/>
          <p:cNvSpPr/>
          <p:nvPr/>
        </p:nvSpPr>
        <p:spPr>
          <a:xfrm>
            <a:off x="338325" y="2821000"/>
            <a:ext cx="5972148" cy="335000"/>
          </a:xfrm>
          <a:prstGeom prst="rect">
            <a:avLst/>
          </a:prstGeom>
          <a:solidFill>
            <a:srgbClr val="F9FAFC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3" name="limits-row-2-0"/>
          <p:cNvSpPr txBox="1"/>
          <p:nvPr/>
        </p:nvSpPr>
        <p:spPr>
          <a:xfrm>
            <a:off x="338325" y="2821000"/>
            <a:ext cx="5972148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4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20" b="1">
                <a:solidFill>
                  <a:srgbClr val="333333"/>
                </a:solidFill>
              </a:rPr>
              <a:t>Fetch calls (shared)</a:t>
            </a:r>
            <a:endParaRPr/>
          </a:p>
        </p:txBody>
      </p:sp>
      <p:sp>
        <p:nvSpPr>
          <p:cNvPr id="224" name="limits-row-2-bg-1"/>
          <p:cNvSpPr/>
          <p:nvPr/>
        </p:nvSpPr>
        <p:spPr>
          <a:xfrm>
            <a:off x="6310473" y="2821000"/>
            <a:ext cx="2756376" cy="335000"/>
          </a:xfrm>
          <a:prstGeom prst="rect">
            <a:avLst/>
          </a:prstGeom>
          <a:solidFill>
            <a:srgbClr val="F9FAFC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5" name="limits-row-2-1"/>
          <p:cNvSpPr txBox="1"/>
          <p:nvPr/>
        </p:nvSpPr>
        <p:spPr>
          <a:xfrm>
            <a:off x="6310473" y="2821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100</a:t>
            </a:r>
            <a:endParaRPr/>
          </a:p>
        </p:txBody>
      </p:sp>
      <p:sp>
        <p:nvSpPr>
          <p:cNvPr id="226" name="limits-row-2-bg-2"/>
          <p:cNvSpPr/>
          <p:nvPr/>
        </p:nvSpPr>
        <p:spPr>
          <a:xfrm>
            <a:off x="9066849" y="2821000"/>
            <a:ext cx="2756376" cy="335000"/>
          </a:xfrm>
          <a:prstGeom prst="rect">
            <a:avLst/>
          </a:prstGeom>
          <a:solidFill>
            <a:srgbClr val="F9FAFC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7" name="limits-row-2-2"/>
          <p:cNvSpPr txBox="1"/>
          <p:nvPr/>
        </p:nvSpPr>
        <p:spPr>
          <a:xfrm>
            <a:off x="9066849" y="2821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100</a:t>
            </a:r>
            <a:endParaRPr/>
          </a:p>
        </p:txBody>
      </p:sp>
      <p:sp>
        <p:nvSpPr>
          <p:cNvPr id="228" name="limits-section-228"/>
          <p:cNvSpPr/>
          <p:nvPr/>
        </p:nvSpPr>
        <p:spPr>
          <a:xfrm>
            <a:off x="338325" y="3156000"/>
            <a:ext cx="11484900" cy="285000"/>
          </a:xfrm>
          <a:prstGeom prst="rect">
            <a:avLst/>
          </a:prstGeom>
          <a:solidFill>
            <a:srgbClr val="E8ECF4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9" name="limits-section-text-229"/>
          <p:cNvSpPr txBox="1"/>
          <p:nvPr/>
        </p:nvSpPr>
        <p:spPr>
          <a:xfrm>
            <a:off x="338325" y="3156000"/>
            <a:ext cx="11484900" cy="28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8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>
                <a:solidFill>
                  <a:srgbClr val="891019"/>
                </a:solidFill>
              </a:rPr>
              <a:t>Per pagination fetchPage call</a:t>
            </a:r>
            <a:endParaRPr/>
          </a:p>
        </p:txBody>
      </p:sp>
      <p:sp>
        <p:nvSpPr>
          <p:cNvPr id="230" name="limits-row-3-bg-0"/>
          <p:cNvSpPr/>
          <p:nvPr/>
        </p:nvSpPr>
        <p:spPr>
          <a:xfrm>
            <a:off x="338325" y="3441000"/>
            <a:ext cx="5972148" cy="3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limits-row-3-0"/>
          <p:cNvSpPr txBox="1"/>
          <p:nvPr/>
        </p:nvSpPr>
        <p:spPr>
          <a:xfrm>
            <a:off x="338325" y="3441000"/>
            <a:ext cx="5972148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4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20" b="1">
                <a:solidFill>
                  <a:srgbClr val="333333"/>
                </a:solidFill>
              </a:rPr>
              <a:t>Max rows per page</a:t>
            </a:r>
            <a:endParaRPr/>
          </a:p>
        </p:txBody>
      </p:sp>
      <p:sp>
        <p:nvSpPr>
          <p:cNvPr id="232" name="limits-row-3-bg-1"/>
          <p:cNvSpPr/>
          <p:nvPr/>
        </p:nvSpPr>
        <p:spPr>
          <a:xfrm>
            <a:off x="6310473" y="3441000"/>
            <a:ext cx="2756376" cy="3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3" name="limits-row-3-1"/>
          <p:cNvSpPr txBox="1"/>
          <p:nvPr/>
        </p:nvSpPr>
        <p:spPr>
          <a:xfrm>
            <a:off x="6310473" y="3441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2,000</a:t>
            </a:r>
            <a:endParaRPr/>
          </a:p>
        </p:txBody>
      </p:sp>
      <p:sp>
        <p:nvSpPr>
          <p:cNvPr id="234" name="limits-row-3-bg-2"/>
          <p:cNvSpPr/>
          <p:nvPr/>
        </p:nvSpPr>
        <p:spPr>
          <a:xfrm>
            <a:off x="9066849" y="3441000"/>
            <a:ext cx="2756376" cy="3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5" name="limits-row-3-2"/>
          <p:cNvSpPr txBox="1"/>
          <p:nvPr/>
        </p:nvSpPr>
        <p:spPr>
          <a:xfrm>
            <a:off x="9066849" y="3441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—</a:t>
            </a:r>
            <a:endParaRPr/>
          </a:p>
        </p:txBody>
      </p:sp>
      <p:sp>
        <p:nvSpPr>
          <p:cNvPr id="236" name="limits-section-236"/>
          <p:cNvSpPr/>
          <p:nvPr/>
        </p:nvSpPr>
        <p:spPr>
          <a:xfrm>
            <a:off x="338325" y="3776000"/>
            <a:ext cx="11484900" cy="285000"/>
          </a:xfrm>
          <a:prstGeom prst="rect">
            <a:avLst/>
          </a:prstGeom>
          <a:solidFill>
            <a:srgbClr val="E8ECF4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7" name="limits-section-text-237"/>
          <p:cNvSpPr txBox="1"/>
          <p:nvPr/>
        </p:nvSpPr>
        <p:spPr>
          <a:xfrm>
            <a:off x="338325" y="3776000"/>
            <a:ext cx="11484900" cy="28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8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>
                <a:solidFill>
                  <a:srgbClr val="891019"/>
                </a:solidFill>
              </a:rPr>
              <a:t>Per org (rolling 24 hours)</a:t>
            </a:r>
            <a:endParaRPr/>
          </a:p>
        </p:txBody>
      </p:sp>
      <p:sp>
        <p:nvSpPr>
          <p:cNvPr id="238" name="limits-row-4-bg-0"/>
          <p:cNvSpPr/>
          <p:nvPr/>
        </p:nvSpPr>
        <p:spPr>
          <a:xfrm>
            <a:off x="338325" y="4061000"/>
            <a:ext cx="5972148" cy="335000"/>
          </a:xfrm>
          <a:prstGeom prst="rect">
            <a:avLst/>
          </a:prstGeom>
          <a:solidFill>
            <a:srgbClr val="F9FAFC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9" name="limits-row-4-0"/>
          <p:cNvSpPr txBox="1"/>
          <p:nvPr/>
        </p:nvSpPr>
        <p:spPr>
          <a:xfrm>
            <a:off x="338325" y="4061000"/>
            <a:ext cx="5972148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4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20" b="1">
                <a:solidFill>
                  <a:srgbClr val="333333"/>
                </a:solidFill>
              </a:rPr>
              <a:t>Cursor instances opened</a:t>
            </a:r>
            <a:endParaRPr/>
          </a:p>
        </p:txBody>
      </p:sp>
      <p:sp>
        <p:nvSpPr>
          <p:cNvPr id="240" name="limits-row-4-bg-1"/>
          <p:cNvSpPr/>
          <p:nvPr/>
        </p:nvSpPr>
        <p:spPr>
          <a:xfrm>
            <a:off x="6310473" y="4061000"/>
            <a:ext cx="2756376" cy="335000"/>
          </a:xfrm>
          <a:prstGeom prst="rect">
            <a:avLst/>
          </a:prstGeom>
          <a:solidFill>
            <a:srgbClr val="F9FAFC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1" name="limits-row-4-1"/>
          <p:cNvSpPr txBox="1"/>
          <p:nvPr/>
        </p:nvSpPr>
        <p:spPr>
          <a:xfrm>
            <a:off x="6310473" y="4061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200,000</a:t>
            </a:r>
            <a:endParaRPr/>
          </a:p>
        </p:txBody>
      </p:sp>
      <p:sp>
        <p:nvSpPr>
          <p:cNvPr id="242" name="limits-row-4-bg-2"/>
          <p:cNvSpPr/>
          <p:nvPr/>
        </p:nvSpPr>
        <p:spPr>
          <a:xfrm>
            <a:off x="9066849" y="4061000"/>
            <a:ext cx="2756376" cy="335000"/>
          </a:xfrm>
          <a:prstGeom prst="rect">
            <a:avLst/>
          </a:prstGeom>
          <a:solidFill>
            <a:srgbClr val="F9FAFC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3" name="limits-row-4-2"/>
          <p:cNvSpPr txBox="1"/>
          <p:nvPr/>
        </p:nvSpPr>
        <p:spPr>
          <a:xfrm>
            <a:off x="9066849" y="4061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10,000</a:t>
            </a:r>
            <a:endParaRPr/>
          </a:p>
        </p:txBody>
      </p:sp>
      <p:sp>
        <p:nvSpPr>
          <p:cNvPr id="244" name="limits-row-5-bg-0"/>
          <p:cNvSpPr/>
          <p:nvPr/>
        </p:nvSpPr>
        <p:spPr>
          <a:xfrm>
            <a:off x="338325" y="4396000"/>
            <a:ext cx="5972148" cy="3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5" name="limits-row-5-0"/>
          <p:cNvSpPr txBox="1"/>
          <p:nvPr/>
        </p:nvSpPr>
        <p:spPr>
          <a:xfrm>
            <a:off x="338325" y="4396000"/>
            <a:ext cx="5972148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4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20" b="1">
                <a:solidFill>
                  <a:srgbClr val="333333"/>
                </a:solidFill>
              </a:rPr>
              <a:t>New rows fetched (shared)</a:t>
            </a:r>
            <a:endParaRPr/>
          </a:p>
        </p:txBody>
      </p:sp>
      <p:sp>
        <p:nvSpPr>
          <p:cNvPr id="246" name="limits-row-5-bg-1"/>
          <p:cNvSpPr/>
          <p:nvPr/>
        </p:nvSpPr>
        <p:spPr>
          <a:xfrm>
            <a:off x="6310473" y="4396000"/>
            <a:ext cx="2756376" cy="3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7" name="limits-row-5-1"/>
          <p:cNvSpPr txBox="1"/>
          <p:nvPr/>
        </p:nvSpPr>
        <p:spPr>
          <a:xfrm>
            <a:off x="6310473" y="4396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100,000,000</a:t>
            </a:r>
            <a:endParaRPr/>
          </a:p>
        </p:txBody>
      </p:sp>
      <p:sp>
        <p:nvSpPr>
          <p:cNvPr id="248" name="limits-row-5-bg-2"/>
          <p:cNvSpPr/>
          <p:nvPr/>
        </p:nvSpPr>
        <p:spPr>
          <a:xfrm>
            <a:off x="9066849" y="4396000"/>
            <a:ext cx="2756376" cy="3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9" name="limits-row-5-2"/>
          <p:cNvSpPr txBox="1"/>
          <p:nvPr/>
        </p:nvSpPr>
        <p:spPr>
          <a:xfrm>
            <a:off x="9066849" y="4396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100,000,000</a:t>
            </a:r>
            <a:endParaRPr/>
          </a:p>
        </p:txBody>
      </p:sp>
      <p:sp>
        <p:nvSpPr>
          <p:cNvPr id="239" name="limits-info-panel"/>
          <p:cNvSpPr txBox="1"/>
          <p:nvPr/>
        </p:nvSpPr>
        <p:spPr>
          <a:xfrm>
            <a:off x="338325" y="4831000"/>
            <a:ext cx="11484900" cy="145000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115000" rIns="95000" tIns="95000" bIns="95000">
            <a:noAutofit/>
          </a:bodyPr>
          <a:lstStyle/>
          <a:p>
            <a:pPr indent="-285750" lvl="0" marL="457200" rtl="0" algn="l">
              <a:lnSpc>
                <a:spcPct val="112000"/>
              </a:lnSpc>
              <a:spcBef>
                <a:spcPts val="260"/>
              </a:spcBef>
              <a:spcAft>
                <a:spcPts val="0"/>
              </a:spcAft>
              <a:buClr>
                <a:srgbClr val="891019"/>
              </a:buClr>
              <a:buSzPts val="1500"/>
              <a:buChar char="•"/>
            </a:pPr>
            <a:r>
              <a:rPr lang="en-US" sz="1650"/>
              <a:t>Transaction limits apply to each Apex request; daily limits roll per org over 24 hours.</a:t>
            </a:r>
            <a:endParaRPr/>
          </a:p>
          <a:p>
            <a:pPr indent="-285750" lvl="0" marL="457200" rtl="0" algn="l">
              <a:lnSpc>
                <a:spcPct val="112000"/>
              </a:lnSpc>
              <a:spcBef>
                <a:spcPts val="150"/>
              </a:spcBef>
              <a:spcAft>
                <a:spcPts val="0"/>
              </a:spcAft>
              <a:buClr>
                <a:srgbClr val="891019"/>
              </a:buClr>
              <a:buSzPts val="1500"/>
              <a:buChar char="•"/>
            </a:pPr>
            <a:r>
              <a:rPr lang="en-US" sz="1650"/>
              <a:t>Fetch calls and daily row counts are shared across standard and pagination cursors.</a:t>
            </a:r>
            <a:endParaRPr/>
          </a:p>
          <a:p>
            <a:pPr indent="-285750" lvl="0" marL="457200" rtl="0" algn="l">
              <a:lnSpc>
                <a:spcPct val="112000"/>
              </a:lnSpc>
              <a:spcBef>
                <a:spcPts val="150"/>
              </a:spcBef>
              <a:spcAft>
                <a:spcPts val="100"/>
              </a:spcAft>
              <a:buClr>
                <a:srgbClr val="891019"/>
              </a:buClr>
              <a:buSzPts val="1500"/>
              <a:buChar char="•"/>
            </a:pPr>
            <a:r>
              <a:rPr lang="en-US" sz="1650"/>
              <a:t>Cursors expire like API query cursors — see API Query Cursor Limits in Salesforce Help.</a:t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Limits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ip-card-bg-201"/>
          <p:cNvSpPr/>
          <p:nvPr/>
        </p:nvSpPr>
        <p:spPr>
          <a:xfrm>
            <a:off x="338325" y="2116500"/>
            <a:ext cx="5662450" cy="11200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2" name="tip-emoji-202"/>
          <p:cNvSpPr txBox="1"/>
          <p:nvPr/>
        </p:nvSpPr>
        <p:spPr>
          <a:xfrm>
            <a:off x="428325" y="25065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none">
            <a:noAutofit/>
          </a:bodyPr>
          <a:lstStyle/>
          <a:p>
            <a:pPr algn="ctr">
              <a:buNone/>
            </a:pPr>
            <a:r>
              <a:rPr lang="en-US" sz="3200"/>
              <a:t>🔍</a:t>
            </a:r>
            <a:endParaRPr/>
          </a:p>
        </p:txBody>
      </p:sp>
      <p:sp>
        <p:nvSpPr>
          <p:cNvPr id="203" name="tip-content-203"/>
          <p:cNvSpPr txBox="1"/>
          <p:nvPr/>
        </p:nvSpPr>
        <p:spPr>
          <a:xfrm>
            <a:off x="858325" y="2201500"/>
            <a:ext cx="5057450" cy="950000"/>
          </a:xfrm>
          <a:prstGeom prst="rect">
            <a:avLst/>
          </a:prstGeom>
          <a:noFill/>
          <a:ln>
            <a:noFill/>
          </a:ln>
        </p:spPr>
        <p:txBody>
          <a:bodyPr anchor="t" anchorCtr="0" wrap="square" lIns="27432" rIns="27432" tIns="0" bIns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650" b="1">
                <a:solidFill>
                  <a:srgbClr val="4A6FA5"/>
                </a:solidFill>
              </a:rPr>
              <a:t>Instrument limits first</a:t>
            </a:r>
            <a:endParaRPr/>
          </a:p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44444"/>
                </a:solidFill>
              </a:rPr>
              <a:t>Show cursor, fetch, and row limits in the UI before users hit governor walls.</a:t>
            </a:r>
            <a:endParaRPr/>
          </a:p>
        </p:txBody>
      </p:sp>
      <p:sp>
        <p:nvSpPr>
          <p:cNvPr id="204" name="tip-card-bg-204"/>
          <p:cNvSpPr/>
          <p:nvPr/>
        </p:nvSpPr>
        <p:spPr>
          <a:xfrm>
            <a:off x="6160775" y="2116500"/>
            <a:ext cx="5662450" cy="1120000"/>
          </a:xfrm>
          <a:prstGeom prst="roundRect">
            <a:avLst>
              <a:gd name="adj" fmla="val 8000"/>
            </a:avLst>
          </a:prstGeom>
          <a:solidFill>
            <a:srgbClr val="F3FAF4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5" name="tip-emoji-205"/>
          <p:cNvSpPr txBox="1"/>
          <p:nvPr/>
        </p:nvSpPr>
        <p:spPr>
          <a:xfrm>
            <a:off x="6250775" y="25065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none">
            <a:noAutofit/>
          </a:bodyPr>
          <a:lstStyle/>
          <a:p>
            <a:pPr algn="ctr">
              <a:buNone/>
            </a:pPr>
            <a:r>
              <a:rPr lang="en-US" sz="3200"/>
              <a:t>📦</a:t>
            </a:r>
            <a:endParaRPr/>
          </a:p>
        </p:txBody>
      </p:sp>
      <p:sp>
        <p:nvSpPr>
          <p:cNvPr id="206" name="tip-content-206"/>
          <p:cNvSpPr txBox="1"/>
          <p:nvPr/>
        </p:nvSpPr>
        <p:spPr>
          <a:xfrm>
            <a:off x="6680775" y="2201500"/>
            <a:ext cx="5057450" cy="950000"/>
          </a:xfrm>
          <a:prstGeom prst="rect">
            <a:avLst/>
          </a:prstGeom>
          <a:noFill/>
          <a:ln>
            <a:noFill/>
          </a:ln>
        </p:spPr>
        <p:txBody>
          <a:bodyPr anchor="t" anchorCtr="0" wrap="square" lIns="27432" rIns="27432" tIns="0" bIns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650" b="1">
                <a:solidFill>
                  <a:srgbClr val="5A7A3A"/>
                </a:solidFill>
              </a:rPr>
              <a:t>Session cache vs LWC state</a:t>
            </a:r>
            <a:endParaRPr/>
          </a:p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44444"/>
                </a:solidFill>
              </a:rPr>
              <a:t>Cache.Session survives Apex calls; LWC-held cursor avoids server-side state.</a:t>
            </a:r>
            <a:endParaRPr/>
          </a:p>
        </p:txBody>
      </p:sp>
      <p:sp>
        <p:nvSpPr>
          <p:cNvPr id="207" name="tip-card-bg-207"/>
          <p:cNvSpPr/>
          <p:nvPr/>
        </p:nvSpPr>
        <p:spPr>
          <a:xfrm>
            <a:off x="338325" y="3366500"/>
            <a:ext cx="5662450" cy="1120000"/>
          </a:xfrm>
          <a:prstGeom prst="roundRect">
            <a:avLst>
              <a:gd name="adj" fmla="val 8000"/>
            </a:avLst>
          </a:prstGeom>
          <a:solidFill>
            <a:srgbClr val="FFF9F2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8" name="tip-emoji-208"/>
          <p:cNvSpPr txBox="1"/>
          <p:nvPr/>
        </p:nvSpPr>
        <p:spPr>
          <a:xfrm>
            <a:off x="428325" y="37565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none">
            <a:noAutofit/>
          </a:bodyPr>
          <a:lstStyle/>
          <a:p>
            <a:pPr algn="ctr">
              <a:buNone/>
            </a:pPr>
            <a:r>
              <a:rPr lang="en-US" sz="3200"/>
              <a:t>📄</a:t>
            </a:r>
            <a:endParaRPr/>
          </a:p>
        </p:txBody>
      </p:sp>
      <p:sp>
        <p:nvSpPr>
          <p:cNvPr id="209" name="tip-content-209"/>
          <p:cNvSpPr txBox="1"/>
          <p:nvPr/>
        </p:nvSpPr>
        <p:spPr>
          <a:xfrm>
            <a:off x="858325" y="3451500"/>
            <a:ext cx="5057450" cy="950000"/>
          </a:xfrm>
          <a:prstGeom prst="rect">
            <a:avLst/>
          </a:prstGeom>
          <a:noFill/>
          <a:ln>
            <a:noFill/>
          </a:ln>
        </p:spPr>
        <p:txBody>
          <a:bodyPr anchor="t" anchorCtr="0" wrap="square" lIns="27432" rIns="27432" tIns="0" bIns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650" b="1">
                <a:solidFill>
                  <a:srgbClr val="C47A20"/>
                </a:solidFill>
              </a:rPr>
              <a:t>Pagination for drill-down</a:t>
            </a:r>
            <a:endParaRPr/>
          </a:p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44444"/>
                </a:solidFill>
              </a:rPr>
              <a:t>PaginationCursor + fetchPage for deleted rows and chart index ranges.</a:t>
            </a:r>
            <a:endParaRPr/>
          </a:p>
        </p:txBody>
      </p:sp>
      <p:sp>
        <p:nvSpPr>
          <p:cNvPr id="210" name="tip-card-bg-210"/>
          <p:cNvSpPr/>
          <p:nvPr/>
        </p:nvSpPr>
        <p:spPr>
          <a:xfrm>
            <a:off x="6160775" y="3366500"/>
            <a:ext cx="5662450" cy="1120000"/>
          </a:xfrm>
          <a:prstGeom prst="roundRect">
            <a:avLst>
              <a:gd name="adj" fmla="val 8000"/>
            </a:avLst>
          </a:prstGeom>
          <a:solidFill>
            <a:srgbClr val="FEF5F6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1" name="tip-emoji-211"/>
          <p:cNvSpPr txBox="1"/>
          <p:nvPr/>
        </p:nvSpPr>
        <p:spPr>
          <a:xfrm>
            <a:off x="6250775" y="37565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none">
            <a:noAutofit/>
          </a:bodyPr>
          <a:lstStyle/>
          <a:p>
            <a:pPr algn="ctr">
              <a:buNone/>
            </a:pPr>
            <a:r>
              <a:rPr lang="en-US" sz="3200"/>
              <a:t>📐</a:t>
            </a:r>
            <a:endParaRPr/>
          </a:p>
        </p:txBody>
      </p:sp>
      <p:sp>
        <p:nvSpPr>
          <p:cNvPr id="212" name="tip-content-212"/>
          <p:cNvSpPr txBox="1"/>
          <p:nvPr/>
        </p:nvSpPr>
        <p:spPr>
          <a:xfrm>
            <a:off x="6680775" y="3451500"/>
            <a:ext cx="5057450" cy="950000"/>
          </a:xfrm>
          <a:prstGeom prst="rect">
            <a:avLst/>
          </a:prstGeom>
          <a:noFill/>
          <a:ln>
            <a:noFill/>
          </a:ln>
        </p:spPr>
        <p:txBody>
          <a:bodyPr anchor="t" anchorCtr="0" wrap="square" lIns="27432" rIns="27432" tIns="0" bIns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650" b="1">
                <a:solidFill>
                  <a:srgbClr val="891019"/>
                </a:solidFill>
              </a:rPr>
              <a:t>Stable ORDER BY</a:t>
            </a:r>
            <a:endParaRPr/>
          </a:p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44444"/>
                </a:solidFill>
              </a:rPr>
              <a:t>Sort on a unique key so offsets and page indexes stay predictable.</a:t>
            </a:r>
            <a:endParaRPr/>
          </a:p>
        </p:txBody>
      </p:sp>
      <p:sp>
        <p:nvSpPr>
          <p:cNvPr id="213" name="tip-card-bg-213"/>
          <p:cNvSpPr/>
          <p:nvPr/>
        </p:nvSpPr>
        <p:spPr>
          <a:xfrm>
            <a:off x="338325" y="4616500"/>
            <a:ext cx="5662450" cy="1120000"/>
          </a:xfrm>
          <a:prstGeom prst="roundRect">
            <a:avLst>
              <a:gd name="adj" fmla="val 8000"/>
            </a:avLst>
          </a:prstGeom>
          <a:solidFill>
            <a:srgbClr val="F0F6FF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4" name="tip-emoji-214"/>
          <p:cNvSpPr txBox="1"/>
          <p:nvPr/>
        </p:nvSpPr>
        <p:spPr>
          <a:xfrm>
            <a:off x="428325" y="50065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none">
            <a:noAutofit/>
          </a:bodyPr>
          <a:lstStyle/>
          <a:p>
            <a:pPr algn="ctr">
              <a:buNone/>
            </a:pPr>
            <a:r>
              <a:rPr lang="en-US" sz="3200"/>
              <a:t>⚡</a:t>
            </a:r>
            <a:endParaRPr/>
          </a:p>
        </p:txBody>
      </p:sp>
      <p:sp>
        <p:nvSpPr>
          <p:cNvPr id="215" name="tip-content-215"/>
          <p:cNvSpPr txBox="1"/>
          <p:nvPr/>
        </p:nvSpPr>
        <p:spPr>
          <a:xfrm>
            <a:off x="858325" y="4701500"/>
            <a:ext cx="5057450" cy="950000"/>
          </a:xfrm>
          <a:prstGeom prst="rect">
            <a:avLst/>
          </a:prstGeom>
          <a:noFill/>
          <a:ln>
            <a:noFill/>
          </a:ln>
        </p:spPr>
        <p:txBody>
          <a:bodyPr anchor="t" anchorCtr="0" wrap="square" lIns="27432" rIns="27432" tIns="0" bIns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650" b="1">
                <a:solidFill>
                  <a:srgbClr val="2E6DB4"/>
                </a:solidFill>
              </a:rPr>
              <a:t>Right-size each fetch</a:t>
            </a:r>
            <a:endParaRPr/>
          </a:p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44444"/>
                </a:solidFill>
              </a:rPr>
              <a:t>Smaller batches feel snappier; larger batches mean fewer fetch calls.</a:t>
            </a:r>
            <a:endParaRPr/>
          </a:p>
        </p:txBody>
      </p:sp>
      <p:sp>
        <p:nvSpPr>
          <p:cNvPr id="216" name="tip-card-bg-216"/>
          <p:cNvSpPr/>
          <p:nvPr/>
        </p:nvSpPr>
        <p:spPr>
          <a:xfrm>
            <a:off x="6160775" y="4616500"/>
            <a:ext cx="5662450" cy="1120000"/>
          </a:xfrm>
          <a:prstGeom prst="roundRect">
            <a:avLst>
              <a:gd name="adj" fmla="val 8000"/>
            </a:avLst>
          </a:prstGeom>
          <a:solidFill>
            <a:srgbClr val="F7F5FA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7" name="tip-emoji-217"/>
          <p:cNvSpPr txBox="1"/>
          <p:nvPr/>
        </p:nvSpPr>
        <p:spPr>
          <a:xfrm>
            <a:off x="6250775" y="50065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none">
            <a:noAutofit/>
          </a:bodyPr>
          <a:lstStyle/>
          <a:p>
            <a:pPr algn="ctr">
              <a:buNone/>
            </a:pPr>
            <a:r>
              <a:rPr lang="en-US" sz="3200"/>
              <a:t>🛡️</a:t>
            </a:r>
            <a:endParaRPr/>
          </a:p>
        </p:txBody>
      </p:sp>
      <p:sp>
        <p:nvSpPr>
          <p:cNvPr id="218" name="tip-content-218"/>
          <p:cNvSpPr txBox="1"/>
          <p:nvPr/>
        </p:nvSpPr>
        <p:spPr>
          <a:xfrm>
            <a:off x="6680775" y="4701500"/>
            <a:ext cx="5057450" cy="950000"/>
          </a:xfrm>
          <a:prstGeom prst="rect">
            <a:avLst/>
          </a:prstGeom>
          <a:noFill/>
          <a:ln>
            <a:noFill/>
          </a:ln>
        </p:spPr>
        <p:txBody>
          <a:bodyPr anchor="t" anchorCtr="0" wrap="square" lIns="27432" rIns="27432" tIns="0" bIns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650" b="1">
                <a:solidFill>
                  <a:srgbClr val="6B5B95"/>
                </a:solidFill>
              </a:rPr>
              <a:t>USER_MODE by default</a:t>
            </a:r>
            <a:endParaRPr/>
          </a:p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44444"/>
                </a:solidFill>
              </a:rPr>
              <a:t>Pass AccessLevel.USER_MODE on getCursor unless elevated access is required.</a:t>
            </a:r>
            <a:endParaRPr/>
          </a:p>
        </p:txBody>
      </p:sp>
      <p:sp>
        <p:nvSpPr>
          <p:cNvPr id="118" name="tips-subtitle"/>
          <p:cNvSpPr txBox="1"/>
          <p:nvPr/>
        </p:nvSpPr>
        <p:spPr>
          <a:xfrm>
            <a:off x="338325" y="995000"/>
            <a:ext cx="11484900" cy="1500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Autofit/>
          </a:bodyPr>
          <a:lstStyle/>
          <a:p>
            <a:pPr algn="l">
              <a:buNone/>
            </a:pPr>
            <a:r>
              <a:rPr lang="en-US" sz="1500" i="1">
                <a:solidFill>
                  <a:srgbClr val="666666"/>
                </a:solidFill>
              </a:rPr>
              <a:t>Practical patterns from the Apex Cursor demos</a:t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Tips and Tricks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qa-github-qrcode" title="Session Resources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88825" y="2700000"/>
            <a:ext cx="1750000" cy="1750000"/>
          </a:xfrm>
          <a:prstGeom prst="rect">
            <a:avLst/>
          </a:prstGeom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91" name="qa-github-caption"/>
          <p:cNvSpPr txBox="1"/>
          <p:nvPr/>
        </p:nvSpPr>
        <p:spPr>
          <a:xfrm>
            <a:off x="7538825" y="4540000"/>
            <a:ext cx="3050000" cy="44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891019"/>
            </a:solidFill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ctr" anchorCtr="1" wrap="none" lIns="70000" rIns="70000" tIns="0" bIns="0">
            <a:noAutofit/>
          </a:bodyPr>
          <a:lstStyle/>
          <a:p>
            <a:pPr algn="ctr">
              <a:buNone/>
            </a:pPr>
            <a:r>
              <a:rPr lang="en-US" sz="1350" b="1">
                <a:solidFill>
                  <a:srgbClr val="891019"/>
                </a:solidFill>
                <a:hlinkClick r:id="rId5"/>
              </a:rPr>
              <a:t>View Session Resources</a:t>
            </a:r>
            <a:endParaRPr/>
          </a:p>
        </p:txBody>
      </p:sp>
      <p:sp>
        <p:nvSpPr>
          <p:cNvPr id="188" name="Google Shape;188;p22"/>
          <p:cNvSpPr txBox="1"/>
          <p:nvPr>
            <p:ph type="ctrTitle"/>
          </p:nvPr>
        </p:nvSpPr>
        <p:spPr>
          <a:xfrm>
            <a:off x="360362" y="2691891"/>
            <a:ext cx="10908300" cy="1210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050F"/>
              </a:buClr>
              <a:buSzPts val="5400"/>
              <a:buFont typeface="Arial"/>
              <a:buNone/>
            </a:pPr>
            <a:r>
              <a:rPr lang="en-US"/>
              <a:t>Q&amp;A</a:t>
            </a:r>
            <a:endParaRPr/>
          </a:p>
        </p:txBody>
      </p:sp>
      <p:sp>
        <p:nvSpPr>
          <p:cNvPr id="189" name="Google Shape;189;p22"/>
          <p:cNvSpPr txBox="1"/>
          <p:nvPr/>
        </p:nvSpPr>
        <p:spPr>
          <a:xfrm>
            <a:off x="412162" y="4374565"/>
            <a:ext cx="4722600" cy="10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-12065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lang="en-US" sz="1900">
                <a:solidFill>
                  <a:srgbClr val="800000"/>
                </a:solidFill>
              </a:rPr>
              <a:t>Andrew Fawcett</a:t>
            </a:r>
            <a:endParaRPr sz="1900">
              <a:solidFill>
                <a:srgbClr val="800000"/>
              </a:solidFill>
            </a:endParaRPr>
          </a:p>
          <a:p>
            <a:pPr indent="-12065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lang="en-US" sz="1900" u="sng">
                <a:solidFill>
                  <a:schemeClr val="hlink"/>
                </a:solidFill>
                <a:hlinkClick r:id="rId3"/>
              </a:rPr>
              <a:t>andy@andyinthecloud.com</a:t>
            </a:r>
            <a:r>
              <a:rPr lang="en-US" sz="1900">
                <a:solidFill>
                  <a:srgbClr val="800000"/>
                </a:solidFill>
              </a:rPr>
              <a:t> | LinkedIn</a:t>
            </a:r>
            <a:endParaRPr sz="1900">
              <a:solidFill>
                <a:srgbClr val="800000"/>
              </a:solidFill>
            </a:endParaRPr>
          </a:p>
          <a:p>
            <a:pPr indent="-12065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t/>
            </a:r>
            <a:endParaRPr sz="1900">
              <a:solidFill>
                <a:srgbClr val="800000"/>
              </a:solidFill>
            </a:endParaRPr>
          </a:p>
          <a:p>
            <a:pPr indent="-101600" lvl="0" marL="0" rtl="0" algn="l"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600"/>
              <a:buChar char="​"/>
            </a:pPr>
            <a:r>
              <a:t/>
            </a:r>
            <a:endParaRPr sz="1600">
              <a:solidFill>
                <a:srgbClr val="800000"/>
              </a:solidFill>
            </a:endParaRPr>
          </a:p>
          <a:p>
            <a:pPr indent="-101600" lvl="0" marL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600"/>
              <a:buChar char="​"/>
            </a:pPr>
            <a:r>
              <a:rPr lang="en-US" sz="1600">
                <a:solidFill>
                  <a:srgbClr val="800000"/>
                </a:solidFill>
              </a:rPr>
              <a:t>	</a:t>
            </a:r>
            <a:endParaRPr sz="1600">
              <a:solidFill>
                <a:srgbClr val="800000"/>
              </a:solidFill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3"/>
          <p:cNvSpPr txBox="1"/>
          <p:nvPr>
            <p:ph type="ctrTitle"/>
          </p:nvPr>
        </p:nvSpPr>
        <p:spPr>
          <a:xfrm>
            <a:off x="360362" y="2691891"/>
            <a:ext cx="10908300" cy="1210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050F"/>
              </a:buClr>
              <a:buSzPts val="5400"/>
              <a:buFont typeface="Arial"/>
              <a:buNone/>
            </a:pPr>
            <a:r>
              <a:rPr lang="en-US"/>
              <a:t>Thank You</a:t>
            </a:r>
            <a:endParaRPr/>
          </a:p>
        </p:txBody>
      </p:sp>
      <p:sp>
        <p:nvSpPr>
          <p:cNvPr id="195" name="Google Shape;195;p23"/>
          <p:cNvSpPr txBox="1"/>
          <p:nvPr/>
        </p:nvSpPr>
        <p:spPr>
          <a:xfrm>
            <a:off x="412162" y="4374565"/>
            <a:ext cx="4722600" cy="10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-12065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lang="en-US" sz="1900">
                <a:solidFill>
                  <a:srgbClr val="800000"/>
                </a:solidFill>
              </a:rPr>
              <a:t>Andrew Fawcett</a:t>
            </a:r>
            <a:endParaRPr sz="1900">
              <a:solidFill>
                <a:srgbClr val="800000"/>
              </a:solidFill>
            </a:endParaRPr>
          </a:p>
          <a:p>
            <a:pPr indent="-12065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lang="en-US" sz="1900" u="sng">
                <a:solidFill>
                  <a:schemeClr val="hlink"/>
                </a:solidFill>
                <a:hlinkClick r:id="rId3"/>
              </a:rPr>
              <a:t>andy@andyinthecloud.com</a:t>
            </a:r>
            <a:r>
              <a:rPr lang="en-US" sz="1900">
                <a:solidFill>
                  <a:srgbClr val="800000"/>
                </a:solidFill>
              </a:rPr>
              <a:t> | LinkedIn</a:t>
            </a:r>
            <a:endParaRPr sz="1900">
              <a:solidFill>
                <a:srgbClr val="800000"/>
              </a:solidFill>
            </a:endParaRPr>
          </a:p>
          <a:p>
            <a:pPr indent="-12065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t/>
            </a:r>
            <a:endParaRPr sz="1900">
              <a:solidFill>
                <a:srgbClr val="800000"/>
              </a:solidFill>
            </a:endParaRPr>
          </a:p>
          <a:p>
            <a:pPr indent="-101600" lvl="0" marL="0" rtl="0" algn="l"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600"/>
              <a:buChar char="​"/>
            </a:pPr>
            <a:r>
              <a:t/>
            </a:r>
            <a:endParaRPr sz="1600">
              <a:solidFill>
                <a:srgbClr val="800000"/>
              </a:solidFill>
            </a:endParaRPr>
          </a:p>
          <a:p>
            <a:pPr indent="-101600" lvl="0" marL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600"/>
              <a:buChar char="​"/>
            </a:pPr>
            <a:r>
              <a:rPr lang="en-US" sz="1600">
                <a:solidFill>
                  <a:srgbClr val="800000"/>
                </a:solidFill>
              </a:rPr>
              <a:t>	</a:t>
            </a:r>
            <a:endParaRPr sz="1600">
              <a:solidFill>
                <a:srgbClr val="800000"/>
              </a:solidFill>
            </a:endParaRPr>
          </a:p>
          <a:p>
            <a:pPr indent="-120650" lvl="0" marL="0" rtl="0" algn="l"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900"/>
              <a:buChar char="​"/>
            </a:pPr>
            <a:r>
              <a:t/>
            </a:r>
            <a:endParaRPr sz="1900">
              <a:solidFill>
                <a:srgbClr val="800000"/>
              </a:solidFill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Salesforce 2014 Interim">
      <a:dk1>
        <a:srgbClr val="262626"/>
      </a:dk1>
      <a:lt1>
        <a:srgbClr val="FFFFFF"/>
      </a:lt1>
      <a:dk2>
        <a:srgbClr val="003C4D"/>
      </a:dk2>
      <a:lt2>
        <a:srgbClr val="D9E0E2"/>
      </a:lt2>
      <a:accent1>
        <a:srgbClr val="00A1E0"/>
      </a:accent1>
      <a:accent2>
        <a:srgbClr val="7C868D"/>
      </a:accent2>
      <a:accent3>
        <a:srgbClr val="008675"/>
      </a:accent3>
      <a:accent4>
        <a:srgbClr val="5C068C"/>
      </a:accent4>
      <a:accent5>
        <a:srgbClr val="E98300"/>
      </a:accent5>
      <a:accent6>
        <a:srgbClr val="F1C300"/>
      </a:accent6>
      <a:hlink>
        <a:srgbClr val="0075A4"/>
      </a:hlink>
      <a:folHlink>
        <a:srgbClr val="9430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ondon's Calling">
  <a:themeElements>
    <a:clrScheme name="Salesforce Color Pallet - June 2015 2">
      <a:dk1>
        <a:srgbClr val="1C1C1C"/>
      </a:dk1>
      <a:lt1>
        <a:srgbClr val="FFFFFF"/>
      </a:lt1>
      <a:dk2>
        <a:srgbClr val="19325C"/>
      </a:dk2>
      <a:lt2>
        <a:srgbClr val="D0D9DE"/>
      </a:lt2>
      <a:accent1>
        <a:srgbClr val="00A1E0"/>
      </a:accent1>
      <a:accent2>
        <a:srgbClr val="7C868D"/>
      </a:accent2>
      <a:accent3>
        <a:srgbClr val="00B2A9"/>
      </a:accent3>
      <a:accent4>
        <a:srgbClr val="963CBD"/>
      </a:accent4>
      <a:accent5>
        <a:srgbClr val="ED8B00"/>
      </a:accent5>
      <a:accent6>
        <a:srgbClr val="FFC72C"/>
      </a:accent6>
      <a:hlink>
        <a:srgbClr val="001871"/>
      </a:hlink>
      <a:folHlink>
        <a:srgbClr val="963C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