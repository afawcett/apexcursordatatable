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11.xml"/>
  <Override ContentType="application/vnd.openxmlformats-officedocument.presentationml.notesSlide+xml" PartName="/ppt/notesSlides/notesSlide11.xml"/>
  <Override ContentType="application/vnd.openxmlformats-officedocument.presentationml.slide+xml" PartName="/ppt/slides/slide12.xml"/>
  <Override ContentType="application/vnd.openxmlformats-officedocument.presentationml.notesSlide+xml" PartName="/ppt/notesSlides/notesSlide12.xml"/>
  <Override ContentType="application/vnd.openxmlformats-officedocument.presentationml.slide+xml" PartName="/ppt/slides/slide13.xml"/>
  <Override ContentType="application/vnd.openxmlformats-officedocument.presentationml.notesSlide+xml" PartName="/ppt/notesSlides/notesSlide13.xml"/>
  <Override ContentType="application/vnd.openxmlformats-officedocument.presentationml.slide+xml" PartName="/ppt/slides/slide14.xml"/>
  <Override ContentType="application/vnd.openxmlformats-officedocument.presentationml.notesSlide+xml" PartName="/ppt/notesSlides/notesSlide14.xml"/>
  <Override ContentType="application/vnd.openxmlformats-officedocument.presentationml.slide+xml" PartName="/ppt/slides/slide15.xml"/>
  <Override ContentType="application/vnd.openxmlformats-officedocument.presentationml.notesSlide+xml" PartName="/ppt/notesSlides/notesSlide15.xml"/>
  <Override ContentType="application/vnd.openxmlformats-officedocument.presentationml.slide+xml" PartName="/ppt/slides/slide16.xml"/>
  <Override ContentType="application/vnd.openxmlformats-officedocument.presentationml.notesSlide+xml" PartName="/ppt/notesSlides/notesSlide16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88825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" orient="horz"/>
        <p:guide pos="3897" orient="horz"/>
        <p:guide pos="546" orient="horz"/>
        <p:guide pos="738" orient="horz"/>
        <p:guide pos="4319" orient="horz"/>
        <p:guide pos="1272" orient="horz"/>
        <p:guide pos="212"/>
        <p:guide pos="7468"/>
        <p:guide pos="3832" orient="horz"/>
        <p:guide pos="386" orient="horz"/>
        <p:guide pos="1024" orient="horz"/>
        <p:guide pos="2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8" orient="horz"/>
        <p:guide pos="2208"/>
      </p:guideLst>
    </p:cSldViewPr>
  </p:notes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-1" y="0"/>
            <a:ext cx="504979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766485" y="0"/>
            <a:ext cx="124391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" name="Google Shape;7;n"/>
          <p:cNvCxnSpPr/>
          <p:nvPr/>
        </p:nvCxnSpPr>
        <p:spPr>
          <a:xfrm>
            <a:off x="5832389" y="0"/>
            <a:ext cx="0" cy="469557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-US"/>
              <a:t>Why Apex Cursors?</a:t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407987" y="4415790"/>
            <a:ext cx="6194425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407988" y="696913"/>
            <a:ext cx="61944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2d03ce6db4_0_0:notes"/>
          <p:cNvSpPr txBox="1"/>
          <p:nvPr>
            <p:ph idx="1" type="body"/>
          </p:nvPr>
        </p:nvSpPr>
        <p:spPr>
          <a:xfrm>
            <a:off x="407987" y="4415790"/>
            <a:ext cx="61944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22d03ce6db4_0_0:notes"/>
          <p:cNvSpPr/>
          <p:nvPr>
            <p:ph idx="2" type="sldImg"/>
          </p:nvPr>
        </p:nvSpPr>
        <p:spPr>
          <a:xfrm>
            <a:off x="407988" y="696913"/>
            <a:ext cx="61944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" showMasterSp="0">
  <p:cSld name="Title Slide_A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60362" y="2691891"/>
            <a:ext cx="109083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050F"/>
              </a:buClr>
              <a:buSzPts val="5400"/>
              <a:buFont typeface="Arial"/>
              <a:buNone/>
              <a:defRPr sz="5400">
                <a:solidFill>
                  <a:srgbClr val="89050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" name="Google Shape;15;p2"/>
          <p:cNvCxnSpPr/>
          <p:nvPr/>
        </p:nvCxnSpPr>
        <p:spPr>
          <a:xfrm>
            <a:off x="353648" y="4091980"/>
            <a:ext cx="11583652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.png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213" y="189569"/>
            <a:ext cx="2162128" cy="1803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5150" y="4152900"/>
            <a:ext cx="6543675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/>
        </p:nvSpPr>
        <p:spPr>
          <a:xfrm>
            <a:off x="9290709" y="4139475"/>
            <a:ext cx="273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00000"/>
                </a:solidFill>
              </a:rPr>
              <a:t>#LDNsCall #LC26</a:t>
            </a:r>
            <a:endParaRPr sz="1600">
              <a:solidFill>
                <a:srgbClr val="800000"/>
              </a:solidFill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345156" y="4913240"/>
            <a:ext cx="4722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-1397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​"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0" name="Google Shape;2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232" y="410900"/>
            <a:ext cx="6443619" cy="1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912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">
  <p:cSld name="Basic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38325" y="1020943"/>
            <a:ext cx="11484900" cy="52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indent="-3429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2">
  <p:cSld name="Basic 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38328" y="1021080"/>
            <a:ext cx="114848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column">
  <p:cSld name="2-colum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38329" y="1599480"/>
            <a:ext cx="556415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6153636" y="1599480"/>
            <a:ext cx="557626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338325" y="1021073"/>
            <a:ext cx="114849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lumn">
  <p:cSld name="3_colum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38328" y="1599480"/>
            <a:ext cx="3749040" cy="4352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235127" y="1599480"/>
            <a:ext cx="3728166" cy="4352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8090178" y="1599480"/>
            <a:ext cx="3749040" cy="4352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4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rd split">
  <p:cSld name="Third spli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38325" y="1601725"/>
            <a:ext cx="7608900" cy="48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8312848" y="1601787"/>
            <a:ext cx="3542602" cy="4235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5pPr>
            <a:lvl6pPr indent="-355600" lvl="5" marL="27432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 flipH="1">
            <a:off x="8128017" y="1600200"/>
            <a:ext cx="64008" cy="6072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7"/>
          <p:cNvCxnSpPr/>
          <p:nvPr/>
        </p:nvCxnSpPr>
        <p:spPr>
          <a:xfrm>
            <a:off x="8128017" y="1600200"/>
            <a:ext cx="0" cy="423672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5pPr>
            <a:lvl6pPr indent="-355600" lvl="5" marL="27432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rd split 2">
  <p:cSld name="Third split 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338328" y="1601723"/>
            <a:ext cx="3502152" cy="4325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5pPr>
            <a:lvl6pPr indent="-355600" lvl="5" marL="27432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spcBef>
                <a:spcPts val="36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206250" y="1603250"/>
            <a:ext cx="7649100" cy="4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/>
            </a:lvl4pPr>
            <a:lvl5pPr indent="-2921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/>
          <p:nvPr/>
        </p:nvSpPr>
        <p:spPr>
          <a:xfrm>
            <a:off x="3966951" y="1600200"/>
            <a:ext cx="64008" cy="6072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8"/>
          <p:cNvCxnSpPr/>
          <p:nvPr/>
        </p:nvCxnSpPr>
        <p:spPr>
          <a:xfrm>
            <a:off x="4030959" y="1600200"/>
            <a:ext cx="0" cy="4326775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8"/>
          <p:cNvSpPr txBox="1"/>
          <p:nvPr>
            <p:ph idx="3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column photos">
  <p:cSld name="4-column photo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>
            <a:off x="6207877" y="381000"/>
            <a:ext cx="292375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/>
          <p:nvPr>
            <p:ph idx="2" type="pic"/>
          </p:nvPr>
        </p:nvSpPr>
        <p:spPr>
          <a:xfrm>
            <a:off x="332623" y="1703211"/>
            <a:ext cx="2727179" cy="390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/>
          <p:nvPr>
            <p:ph idx="3" type="pic"/>
          </p:nvPr>
        </p:nvSpPr>
        <p:spPr>
          <a:xfrm>
            <a:off x="3257205" y="1703211"/>
            <a:ext cx="2727179" cy="390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9"/>
          <p:cNvSpPr/>
          <p:nvPr>
            <p:ph idx="4" type="pic"/>
          </p:nvPr>
        </p:nvSpPr>
        <p:spPr>
          <a:xfrm>
            <a:off x="6181787" y="1703211"/>
            <a:ext cx="2727179" cy="390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9"/>
          <p:cNvSpPr/>
          <p:nvPr>
            <p:ph idx="5" type="pic"/>
          </p:nvPr>
        </p:nvSpPr>
        <p:spPr>
          <a:xfrm>
            <a:off x="9106369" y="1703211"/>
            <a:ext cx="2727179" cy="390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9" name="Google Shape;59;p9"/>
          <p:cNvCxnSpPr/>
          <p:nvPr/>
        </p:nvCxnSpPr>
        <p:spPr>
          <a:xfrm>
            <a:off x="338328" y="570230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9"/>
          <p:cNvCxnSpPr/>
          <p:nvPr/>
        </p:nvCxnSpPr>
        <p:spPr>
          <a:xfrm>
            <a:off x="3264407" y="570230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9"/>
          <p:cNvCxnSpPr/>
          <p:nvPr/>
        </p:nvCxnSpPr>
        <p:spPr>
          <a:xfrm>
            <a:off x="6187492" y="570230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9"/>
          <p:cNvCxnSpPr/>
          <p:nvPr/>
        </p:nvCxnSpPr>
        <p:spPr>
          <a:xfrm>
            <a:off x="9113258" y="570230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33375" y="5786195"/>
            <a:ext cx="2720975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4" name="Google Shape;64;p9"/>
          <p:cNvSpPr txBox="1"/>
          <p:nvPr>
            <p:ph idx="6" type="body"/>
          </p:nvPr>
        </p:nvSpPr>
        <p:spPr>
          <a:xfrm>
            <a:off x="3264408" y="5786195"/>
            <a:ext cx="2720975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5" name="Google Shape;65;p9"/>
          <p:cNvSpPr txBox="1"/>
          <p:nvPr>
            <p:ph idx="7" type="body"/>
          </p:nvPr>
        </p:nvSpPr>
        <p:spPr>
          <a:xfrm>
            <a:off x="6190488" y="5786195"/>
            <a:ext cx="2720975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6" name="Google Shape;66;p9"/>
          <p:cNvSpPr txBox="1"/>
          <p:nvPr>
            <p:ph idx="8" type="body"/>
          </p:nvPr>
        </p:nvSpPr>
        <p:spPr>
          <a:xfrm>
            <a:off x="9113258" y="5786195"/>
            <a:ext cx="2720975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7" name="Google Shape;67;p9"/>
          <p:cNvSpPr txBox="1"/>
          <p:nvPr>
            <p:ph idx="9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column multi">
  <p:cSld name="4-column multi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6207877" y="381000"/>
            <a:ext cx="292375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338328" y="3526970"/>
            <a:ext cx="2715768" cy="2383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279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Char char="​"/>
              <a:defRPr sz="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2" type="body"/>
          </p:nvPr>
        </p:nvSpPr>
        <p:spPr>
          <a:xfrm>
            <a:off x="3272035" y="3526971"/>
            <a:ext cx="2715768" cy="238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279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Char char="​"/>
              <a:defRPr sz="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3" type="body"/>
          </p:nvPr>
        </p:nvSpPr>
        <p:spPr>
          <a:xfrm>
            <a:off x="6205742" y="3526971"/>
            <a:ext cx="2715768" cy="238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279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Char char="​"/>
              <a:defRPr sz="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4" type="body"/>
          </p:nvPr>
        </p:nvSpPr>
        <p:spPr>
          <a:xfrm>
            <a:off x="9139449" y="3526971"/>
            <a:ext cx="2715768" cy="238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279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Char char="​"/>
              <a:defRPr sz="8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/>
          <p:nvPr>
            <p:ph idx="5" type="pic"/>
          </p:nvPr>
        </p:nvSpPr>
        <p:spPr>
          <a:xfrm>
            <a:off x="344424" y="1703212"/>
            <a:ext cx="2703576" cy="169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0"/>
          <p:cNvSpPr/>
          <p:nvPr>
            <p:ph idx="6" type="pic"/>
          </p:nvPr>
        </p:nvSpPr>
        <p:spPr>
          <a:xfrm>
            <a:off x="3266831" y="1703212"/>
            <a:ext cx="2723180" cy="169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0"/>
          <p:cNvSpPr/>
          <p:nvPr>
            <p:ph idx="7" type="pic"/>
          </p:nvPr>
        </p:nvSpPr>
        <p:spPr>
          <a:xfrm>
            <a:off x="6205415" y="1703212"/>
            <a:ext cx="2705660" cy="169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0"/>
          <p:cNvSpPr/>
          <p:nvPr>
            <p:ph idx="8" type="pic"/>
          </p:nvPr>
        </p:nvSpPr>
        <p:spPr>
          <a:xfrm>
            <a:off x="9126479" y="1703212"/>
            <a:ext cx="2724209" cy="1695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25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9" name="Google Shape;79;p10"/>
          <p:cNvCxnSpPr/>
          <p:nvPr/>
        </p:nvCxnSpPr>
        <p:spPr>
          <a:xfrm>
            <a:off x="338328" y="345948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10"/>
          <p:cNvCxnSpPr/>
          <p:nvPr/>
        </p:nvCxnSpPr>
        <p:spPr>
          <a:xfrm>
            <a:off x="3264407" y="345948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0"/>
          <p:cNvCxnSpPr/>
          <p:nvPr/>
        </p:nvCxnSpPr>
        <p:spPr>
          <a:xfrm>
            <a:off x="6195307" y="345948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0"/>
          <p:cNvCxnSpPr/>
          <p:nvPr/>
        </p:nvCxnSpPr>
        <p:spPr>
          <a:xfrm>
            <a:off x="9136140" y="3459480"/>
            <a:ext cx="271576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0"/>
          <p:cNvSpPr txBox="1"/>
          <p:nvPr>
            <p:ph idx="9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column">
  <p:cSld name="4-colum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6207877" y="381000"/>
            <a:ext cx="292375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338328" y="1599480"/>
            <a:ext cx="2715768" cy="433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 sz="16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​"/>
              <a:defRPr sz="9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2" type="body"/>
          </p:nvPr>
        </p:nvSpPr>
        <p:spPr>
          <a:xfrm>
            <a:off x="3272035" y="1599480"/>
            <a:ext cx="2715768" cy="433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 sz="16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​"/>
              <a:defRPr sz="9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3" type="body"/>
          </p:nvPr>
        </p:nvSpPr>
        <p:spPr>
          <a:xfrm>
            <a:off x="6205742" y="1599480"/>
            <a:ext cx="2715768" cy="433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 sz="16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​"/>
              <a:defRPr sz="9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4" type="body"/>
          </p:nvPr>
        </p:nvSpPr>
        <p:spPr>
          <a:xfrm>
            <a:off x="9139449" y="1599480"/>
            <a:ext cx="2715768" cy="433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​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​"/>
              <a:defRPr sz="16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Char char="​"/>
              <a:defRPr sz="9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5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lumn photos">
  <p:cSld name="3_column photo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/>
          <p:nvPr>
            <p:ph idx="2" type="pic"/>
          </p:nvPr>
        </p:nvSpPr>
        <p:spPr>
          <a:xfrm>
            <a:off x="336549" y="1597025"/>
            <a:ext cx="3752871" cy="35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2"/>
          <p:cNvSpPr/>
          <p:nvPr>
            <p:ph idx="3" type="pic"/>
          </p:nvPr>
        </p:nvSpPr>
        <p:spPr>
          <a:xfrm>
            <a:off x="4229382" y="1597026"/>
            <a:ext cx="3725862" cy="354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2"/>
          <p:cNvSpPr/>
          <p:nvPr>
            <p:ph idx="4" type="pic"/>
          </p:nvPr>
        </p:nvSpPr>
        <p:spPr>
          <a:xfrm>
            <a:off x="8101820" y="1597026"/>
            <a:ext cx="3746255" cy="354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​"/>
              <a:defRPr b="0" i="0" sz="1600" u="none" cap="none" strike="noStrike">
                <a:solidFill>
                  <a:srgbClr val="0079A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​"/>
              <a:defRPr b="0" i="0" sz="1000" u="none" cap="none" strike="noStrike">
                <a:solidFill>
                  <a:srgbClr val="7C868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6" name="Google Shape;96;p12"/>
          <p:cNvCxnSpPr/>
          <p:nvPr/>
        </p:nvCxnSpPr>
        <p:spPr>
          <a:xfrm>
            <a:off x="332897" y="5260975"/>
            <a:ext cx="374904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2"/>
          <p:cNvSpPr txBox="1"/>
          <p:nvPr>
            <p:ph idx="1" type="body"/>
          </p:nvPr>
        </p:nvSpPr>
        <p:spPr>
          <a:xfrm>
            <a:off x="336549" y="5344870"/>
            <a:ext cx="3749040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cxnSp>
        <p:nvCxnSpPr>
          <p:cNvPr id="98" name="Google Shape;98;p12"/>
          <p:cNvCxnSpPr/>
          <p:nvPr/>
        </p:nvCxnSpPr>
        <p:spPr>
          <a:xfrm>
            <a:off x="4229382" y="5261728"/>
            <a:ext cx="3732576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2"/>
          <p:cNvSpPr txBox="1"/>
          <p:nvPr>
            <p:ph idx="5" type="body"/>
          </p:nvPr>
        </p:nvSpPr>
        <p:spPr>
          <a:xfrm>
            <a:off x="4218268" y="5345623"/>
            <a:ext cx="3749040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cxnSp>
        <p:nvCxnSpPr>
          <p:cNvPr id="100" name="Google Shape;100;p12"/>
          <p:cNvCxnSpPr/>
          <p:nvPr/>
        </p:nvCxnSpPr>
        <p:spPr>
          <a:xfrm>
            <a:off x="8101820" y="5261728"/>
            <a:ext cx="374904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2"/>
          <p:cNvSpPr txBox="1"/>
          <p:nvPr>
            <p:ph idx="6" type="body"/>
          </p:nvPr>
        </p:nvSpPr>
        <p:spPr>
          <a:xfrm>
            <a:off x="8112687" y="5345623"/>
            <a:ext cx="3749040" cy="50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​"/>
              <a:defRPr sz="1400"/>
            </a:lvl5pPr>
            <a:lvl6pPr indent="-3175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02" name="Google Shape;102;p12"/>
          <p:cNvSpPr txBox="1"/>
          <p:nvPr>
            <p:ph idx="7" type="body"/>
          </p:nvPr>
        </p:nvSpPr>
        <p:spPr>
          <a:xfrm>
            <a:off x="338328" y="1021080"/>
            <a:ext cx="114848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​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 txBox="1"/>
          <p:nvPr>
            <p:ph type="title"/>
          </p:nvPr>
        </p:nvSpPr>
        <p:spPr>
          <a:xfrm>
            <a:off x="338327" y="90720"/>
            <a:ext cx="11515535" cy="9080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910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38325" y="1599475"/>
            <a:ext cx="11515500" cy="50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​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/>
          <p:nvPr/>
        </p:nvSpPr>
        <p:spPr>
          <a:xfrm flipH="1">
            <a:off x="336549" y="0"/>
            <a:ext cx="11868912" cy="89119"/>
          </a:xfrm>
          <a:prstGeom prst="rect">
            <a:avLst/>
          </a:prstGeom>
          <a:solidFill>
            <a:srgbClr val="8910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png"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16370" y="240603"/>
            <a:ext cx="909064" cy="75816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ndy@andyinthecloud.com" TargetMode="External"/><Relationship Id="rId4" Type="http://schemas.openxmlformats.org/officeDocument/2006/relationships/hyperlink" Target="https://www.linkedin.com/in/andyfawcett/" TargetMode="External"/><Relationship Id="rId5" Type="http://schemas.openxmlformats.org/officeDocument/2006/relationships/image" Target="../media/image4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diagram-soql-dataset-access-today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diagram-cursor-rdbms-overview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diagram-cursor-soql-overview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demo1-virtual-datatable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demo2-reporting-drilldown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demo3-adaptive-async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andy@andyinthecloud.com" TargetMode="External"/><Relationship Id="rId4" Type="http://schemas.openxmlformats.org/officeDocument/2006/relationships/image" Target="../media/qa-github-qrcode.png"/><Relationship Id="rId5" Type="http://schemas.openxmlformats.org/officeDocument/2006/relationships/hyperlink" Target="https://afawcett.github.io/landingpages/sessions/apex-cursors-lc26.html" TargetMode="Externa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andy@andyinthecloud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ctrTitle"/>
          </p:nvPr>
        </p:nvSpPr>
        <p:spPr>
          <a:xfrm>
            <a:off x="360362" y="2691891"/>
            <a:ext cx="109083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050F"/>
              </a:buClr>
              <a:buSzPts val="5400"/>
              <a:buFont typeface="Arial"/>
              <a:buNone/>
            </a:pPr>
            <a:r>
              <a:rPr lang="en-US" sz="4600"/>
              <a:t>Scaling Apex and LWC with Apex Cursors</a:t>
            </a:r>
            <a:endParaRPr sz="4600"/>
          </a:p>
        </p:txBody>
      </p:sp>
      <p:sp>
        <p:nvSpPr>
          <p:cNvPr id="109" name="Google Shape;109;p13"/>
          <p:cNvSpPr txBox="1"/>
          <p:nvPr/>
        </p:nvSpPr>
        <p:spPr>
          <a:xfrm>
            <a:off x="412148" y="4374575"/>
            <a:ext cx="56823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-12065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b="1" lang="en-US" sz="1900">
                <a:solidFill>
                  <a:srgbClr val="800000"/>
                </a:solidFill>
              </a:rPr>
              <a:t>Andrew Fawcett</a:t>
            </a:r>
            <a:r>
              <a:rPr lang="en-US" sz="1900">
                <a:solidFill>
                  <a:srgbClr val="800000"/>
                </a:solidFill>
              </a:rPr>
              <a:t>, AndyInTheCloud Consulting Ltd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andy@andyinthecloud.com</a:t>
            </a:r>
            <a:r>
              <a:rPr lang="en-US" sz="1900">
                <a:solidFill>
                  <a:srgbClr val="800000"/>
                </a:solidFill>
              </a:rPr>
              <a:t> 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 u="sng">
                <a:solidFill>
                  <a:schemeClr val="hlink"/>
                </a:solidFill>
                <a:hlinkClick r:id="rId4"/>
              </a:rPr>
              <a:t>https://www.linkedin.com/in/andyfawcett/</a:t>
            </a:r>
            <a:r>
              <a:rPr lang="en-US" sz="1900">
                <a:solidFill>
                  <a:srgbClr val="800000"/>
                </a:solidFill>
              </a:rPr>
              <a:t> </a:t>
            </a:r>
            <a:endParaRPr sz="19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Char char="​"/>
            </a:pPr>
            <a:r>
              <a:t/>
            </a:r>
            <a:endParaRPr sz="16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Char char="​"/>
            </a:pPr>
            <a:r>
              <a:rPr lang="en-US" sz="1600">
                <a:solidFill>
                  <a:srgbClr val="800000"/>
                </a:solidFill>
              </a:rPr>
              <a:t>	</a:t>
            </a:r>
            <a:endParaRPr sz="1600">
              <a:solidFill>
                <a:srgbClr val="800000"/>
              </a:solidFill>
            </a:endParaRPr>
          </a:p>
        </p:txBody>
      </p:sp>
      <p:pic>
        <p:nvPicPr>
          <p:cNvPr id="110" name="Google Shape;110;p13" title="AndyInTheCLoud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150" y="5529200"/>
            <a:ext cx="1018150" cy="10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338325" y="1050000"/>
            <a:ext cx="114849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UI paging with OFFSET/LIMIT vs async processing in fixed-size chunks.</a:t>
            </a:r>
            <a:endParaRPr/>
          </a:p>
        </p:txBody>
      </p:sp>
      <p:pic>
        <p:nvPicPr>
          <p:cNvPr id="117" name="diagram-soql-dataset-access-toda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25" y="1450000"/>
            <a:ext cx="11484900" cy="54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Accessing and processing datasets today in SOQL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338325" y="1050000"/>
            <a:ext cx="114849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Traverse a query result incrementally instead of returning the full set at once.</a:t>
            </a:r>
            <a:endParaRPr/>
          </a:p>
        </p:txBody>
      </p:sp>
      <p:pic>
        <p:nvPicPr>
          <p:cNvPr id="118" name="diagram-cursor-rdbms-overview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25" y="1450000"/>
            <a:ext cx="11484900" cy="71035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What is a SQL Cursor?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338325" y="1050000"/>
            <a:ext cx="114849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SQL cursor concepts on Salesforce: Database.getCursor(SOQL) and incremental fetch in Apex.</a:t>
            </a:r>
            <a:endParaRPr/>
          </a:p>
        </p:txBody>
      </p:sp>
      <p:pic>
        <p:nvPicPr>
          <p:cNvPr id="117" name="diagram-cursor-soql-overview" title="cursor-soql-overview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25" y="1450000"/>
            <a:ext cx="11484900" cy="71035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What is a SOQL Cursor?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usecases-interactive"/>
          <p:cNvSpPr txBox="1"/>
          <p:nvPr/>
        </p:nvSpPr>
        <p:spPr>
          <a:xfrm>
            <a:off x="338325" y="1513500"/>
            <a:ext cx="5400000" cy="1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64" lIns="91440" rIns="91440" tIns="36576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 b="1">
                <a:solidFill>
                  <a:srgbClr val="4A6FA5"/>
                </a:solidFill>
              </a:rPr>
              <a:t>Interactive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Data Analyst tools and views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End user list views, reporting and drilldown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Preview job records to process</a:t>
            </a:r>
            <a:endParaRPr/>
          </a:p>
        </p:txBody>
      </p:sp>
      <p:sp>
        <p:nvSpPr>
          <p:cNvPr id="117" name="usecases-batch"/>
          <p:cNvSpPr txBox="1"/>
          <p:nvPr/>
        </p:nvSpPr>
        <p:spPr>
          <a:xfrm>
            <a:off x="6423225" y="1513500"/>
            <a:ext cx="5400000" cy="1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64" lIns="91440" rIns="91440" tIns="36576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 b="1">
                <a:solidFill>
                  <a:srgbClr val="5A7A3A"/>
                </a:solidFill>
              </a:rPr>
              <a:t>Batch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Orchestrate process execution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Look ahead to optimize within limits</a:t>
            </a:r>
            <a:endParaRPr/>
          </a:p>
          <a:p>
            <a:pPr indent="-285750" lvl="0" marL="45720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Safer immutable record set</a:t>
            </a:r>
            <a:endParaRPr/>
          </a:p>
        </p:txBody>
      </p:sp>
      <p:sp>
        <p:nvSpPr>
          <p:cNvPr id="120" name="terminal-pagination"/>
          <p:cNvSpPr txBox="1"/>
          <p:nvPr/>
        </p:nvSpPr>
        <p:spPr>
          <a:xfrm>
            <a:off x="338325" y="3213500"/>
            <a:ext cx="5400000" cy="1850000"/>
          </a:xfrm>
          <a:prstGeom prst="rect">
            <a:avLst/>
          </a:prstGeom>
          <a:solidFill>
            <a:srgbClr val="1E1E1E"/>
          </a:solidFill>
          <a:ln w="12700">
            <a:solidFill>
              <a:srgbClr val="4A6FA5"/>
            </a:solidFill>
          </a:ln>
        </p:spPr>
        <p:txBody>
          <a:bodyPr anchorCtr="0" anchor="t" bIns="190000" lIns="91440" rIns="91440" tIns="50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569CD6"/>
                </a:solidFill>
              </a:rPr>
              <a:t>Database.PaginationCursor</a:t>
            </a:r>
            <a:r>
              <a:rPr lang="en-US" sz="1700" typeface="Consolas">
                <a:solidFill>
                  <a:srgbClr val="D4D4D4"/>
                </a:solidFill>
              </a:rPr>
              <a:t> c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DCDCAA"/>
                </a:solidFill>
              </a:rPr>
              <a:t>  Database.getPaginationCursor(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CE9178"/>
                </a:solidFill>
              </a:rPr>
              <a:t>    soql, AccessLevel.USER_MODE);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569CD6"/>
                </a:solidFill>
              </a:rPr>
              <a:t>Database.CursorFetchResult</a:t>
            </a:r>
            <a:r>
              <a:rPr lang="en-US" sz="1700" typeface="Consolas">
                <a:solidFill>
                  <a:srgbClr val="D4D4D4"/>
                </a:solidFill>
              </a:rPr>
              <a:t> r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200"/>
              </a:spcAft>
              <a:buNone/>
            </a:pPr>
            <a:r>
              <a:rPr lang="en-US" sz="1700" typeface="Consolas">
                <a:solidFill>
                  <a:srgbClr val="DCDCAA"/>
                </a:solidFill>
              </a:rPr>
              <a:t>  c.fetchPage(start, pageSize);</a:t>
            </a:r>
            <a:endParaRPr/>
          </a:p>
        </p:txBody>
      </p:sp>
      <p:sp>
        <p:nvSpPr>
          <p:cNvPr id="121" name="terminal-standard"/>
          <p:cNvSpPr txBox="1"/>
          <p:nvPr/>
        </p:nvSpPr>
        <p:spPr>
          <a:xfrm>
            <a:off x="6423225" y="3213500"/>
            <a:ext cx="5400000" cy="1850000"/>
          </a:xfrm>
          <a:prstGeom prst="rect">
            <a:avLst/>
          </a:prstGeom>
          <a:solidFill>
            <a:srgbClr val="1E1E1E"/>
          </a:solidFill>
          <a:ln w="12700">
            <a:solidFill>
              <a:srgbClr val="5A7A3A"/>
            </a:solidFill>
          </a:ln>
        </p:spPr>
        <p:txBody>
          <a:bodyPr anchorCtr="0" anchor="t" bIns="190000" lIns="91440" rIns="91440" tIns="50000" wrap="square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569CD6"/>
                </a:solidFill>
              </a:rPr>
              <a:t>Database.Cursor</a:t>
            </a:r>
            <a:r>
              <a:rPr lang="en-US" sz="1700" typeface="Consolas">
                <a:solidFill>
                  <a:srgbClr val="D4D4D4"/>
                </a:solidFill>
              </a:rPr>
              <a:t> c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DCDCAA"/>
                </a:solidFill>
              </a:rPr>
              <a:t>  Database.getCursor(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CE9178"/>
                </a:solidFill>
              </a:rPr>
              <a:t>    soql, AccessLevel.USER_MODE);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700" typeface="Consolas">
                <a:solidFill>
                  <a:srgbClr val="569CD6"/>
                </a:solidFill>
              </a:rPr>
              <a:t>List&lt;Account&gt;</a:t>
            </a:r>
            <a:r>
              <a:rPr lang="en-US" sz="1700" typeface="Consolas">
                <a:solidFill>
                  <a:srgbClr val="D4D4D4"/>
                </a:solidFill>
              </a:rPr>
              <a:t> batch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200"/>
              </a:spcAft>
              <a:buNone/>
            </a:pPr>
            <a:r>
              <a:rPr lang="en-US" sz="1700" typeface="Consolas">
                <a:solidFill>
                  <a:srgbClr val="DCDCAA"/>
                </a:solidFill>
              </a:rPr>
              <a:t>  c.fetch(offset, pageSize);</a:t>
            </a:r>
            <a:endParaRPr/>
          </a:p>
        </p:txBody>
      </p:sp>
      <p:sp>
        <p:nvSpPr>
          <p:cNvPr id="118" name="architecture-band"/>
          <p:cNvSpPr/>
          <p:nvPr/>
        </p:nvSpPr>
        <p:spPr>
          <a:xfrm>
            <a:off x="338325" y="5363500"/>
            <a:ext cx="11484900" cy="980000"/>
          </a:xfrm>
          <a:prstGeom prst="rect">
            <a:avLst/>
          </a:prstGeom>
          <a:solidFill>
            <a:srgbClr val="F7F7F7"/>
          </a:solidFill>
          <a:ln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usecases-architecture"/>
          <p:cNvSpPr txBox="1"/>
          <p:nvPr/>
        </p:nvSpPr>
        <p:spPr>
          <a:xfrm>
            <a:off x="338325" y="5363500"/>
            <a:ext cx="11484900" cy="98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54864" lIns="91440" rIns="91440" tIns="36576" wrap="square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>
                <a:solidFill>
                  <a:srgbClr val="891019"/>
                </a:solidFill>
              </a:rPr>
              <a:t>Architecture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800"/>
              <a:t>24hr cached large record sets | Scalable replacement to SOQL OFFSET | Bidirectional navigation</a:t>
            </a:r>
            <a:endParaRPr/>
          </a:p>
        </p:txBody>
      </p:sp>
      <p:sp>
        <p:nvSpPr>
          <p:cNvPr id="122" name="usecases-subtitle"/>
          <p:cNvSpPr txBox="1"/>
          <p:nvPr/>
        </p:nvSpPr>
        <p:spPr>
          <a:xfrm>
            <a:off x="338325" y="960000"/>
            <a:ext cx="114849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>
            <a:noAutofit/>
          </a:bodyPr>
          <a:lstStyle/>
          <a:p>
            <a:pPr indent="0" lvl="0" marL="0" rtl="0" algn="l">
              <a:lnSpc>
                <a:spcPct val="100000"/>
              </a:lnSpc>
              <a:buNone/>
            </a:pPr>
            <a:r>
              <a:rPr lang="en-US" sz="2000">
                <a:solidFill>
                  <a:srgbClr val="222222"/>
                </a:solidFill>
              </a:rPr>
              <a:t>Optimial handling of larger data volumes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Usecases for Apex Cursors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demo1-virtual-datatable" title="Apex Cursor Demo - Infinite Loadi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2" y="1150000"/>
            <a:ext cx="10970000" cy="5291992"/>
          </a:xfrm>
          <a:prstGeom prst="rect">
            <a:avLst/>
          </a:prstGeom>
          <a:effectLst>
            <a:outerShdw blurRad="63500" dist="47625" dir="2700000" algn="ctr" rotWithShape="0">
              <a:srgbClr val="000000">
                <a:alpha val="38000"/>
              </a:srgbClr>
            </a:outerShdw>
          </a:effectLst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1: Virtual Data Table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highlight-code-1"/>
          <p:cNvSpPr txBox="1"/>
          <p:nvPr/>
        </p:nvSpPr>
        <p:spPr>
          <a:xfrm>
            <a:off x="3383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none" horzOverflow="clip" vertOverflow="clip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cursor = Database.getCursor(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ACCOUNT_SOQL,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AccessLevel.USER_MODE);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pageCursor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Database.getPaginationCursor(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ACCOUNT_SOQL,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AccessLevel.USER_MODE);</a:t>
            </a:r>
            <a:endParaRPr/>
          </a:p>
        </p:txBody>
      </p:sp>
      <p:sp>
        <p:nvSpPr>
          <p:cNvPr id="202" name="highlight-badge-1"/>
          <p:cNvSpPr txBox="1"/>
          <p:nvPr/>
        </p:nvSpPr>
        <p:spPr>
          <a:xfrm>
            <a:off x="1271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203" name="highlight-code-2"/>
          <p:cNvSpPr txBox="1"/>
          <p:nvPr/>
        </p:nvSpPr>
        <p:spPr>
          <a:xfrm>
            <a:off x="42066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none" horzOverflow="clip" vertOverflow="clip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if (pageCursor == null)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pageCursor = Database.getPaginationCursor(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ACCOUNT_SOQL, AccessLevel.USER_MODE);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Cache.Session.put(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SESSION_PAGINATION_CURSOR_KEY,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 pageCursor);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}</a:t>
            </a:r>
            <a:endParaRPr/>
          </a:p>
        </p:txBody>
      </p:sp>
      <p:sp>
        <p:nvSpPr>
          <p:cNvPr id="204" name="highlight-badge-2"/>
          <p:cNvSpPr txBox="1"/>
          <p:nvPr/>
        </p:nvSpPr>
        <p:spPr>
          <a:xfrm>
            <a:off x="39954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205" name="highlight-code-3"/>
          <p:cNvSpPr txBox="1"/>
          <p:nvPr/>
        </p:nvSpPr>
        <p:spPr>
          <a:xfrm>
            <a:off x="80749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none" horzOverflow="clip" vertOverflow="clip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Integer remaining = totalRecords - start;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Integer fetchSize = remaining &gt;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 ? </a:t>
            </a:r>
            <a:r>
              <a:rPr lang="en-US" sz="1500" typeface="Consolas">
                <a:solidFill>
                  <a:srgbClr val="DCDCAA"/>
                </a:solidFill>
              </a:rPr>
              <a:t>Math.min</a:t>
            </a:r>
            <a:r>
              <a:rPr lang="en-US" sz="1500" typeface="Consolas">
                <a:solidFill>
                  <a:srgbClr val="CE9178"/>
                </a:solidFill>
              </a:rPr>
              <a:t>(pageSize, remaining) : 0;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fetchResult = fetchSize &gt;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 ? </a:t>
            </a:r>
            <a:r>
              <a:rPr lang="en-US" sz="1500" typeface="Consolas">
                <a:solidFill>
                  <a:srgbClr val="DCDCAA"/>
                </a:solidFill>
              </a:rPr>
              <a:t>pageCursor.fetchPage</a:t>
            </a:r>
            <a:r>
              <a:rPr lang="en-US" sz="1500" typeface="Consolas">
                <a:solidFill>
                  <a:srgbClr val="CE9178"/>
                </a:solidFill>
              </a:rPr>
              <a:t>(start, fetchSize)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: null;</a:t>
            </a:r>
            <a:endParaRPr/>
          </a:p>
        </p:txBody>
      </p:sp>
      <p:sp>
        <p:nvSpPr>
          <p:cNvPr id="206" name="highlight-badge-3"/>
          <p:cNvSpPr txBox="1"/>
          <p:nvPr/>
        </p:nvSpPr>
        <p:spPr>
          <a:xfrm>
            <a:off x="78637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207" name="highlight-info-panel"/>
          <p:cNvSpPr txBox="1"/>
          <p:nvPr/>
        </p:nvSpPr>
        <p:spPr>
          <a:xfrm>
            <a:off x="338325" y="4173500"/>
            <a:ext cx="11484900" cy="195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20000" lIns="140000" rIns="120000" tIns="120000" wrap="square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Standard Cursor or PaginationCursor — same ACCOUNT_SOQL, different paging APIs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Cache.Session keeps the pagination cursor between requests; session cache and cursors are per user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Page size is capped to remaining rows in the result set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12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Limits panel shows cursor, fetch, and daily governor usage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1: Virtual Data Table Summary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demo2-reporting-drilldown" title="Apex Cursor Demo - Reporting Drill-Dow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2" y="1150000"/>
            <a:ext cx="10970000" cy="5077734"/>
          </a:xfrm>
          <a:prstGeom prst="rect">
            <a:avLst/>
          </a:prstGeom>
          <a:effectLst>
            <a:outerShdw blurRad="63500" dist="47625" dir="2700000" algn="ctr" rotWithShape="0">
              <a:srgbClr val="000000">
                <a:alpha val="38000"/>
              </a:srgbClr>
            </a:outerShdw>
          </a:effectLst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2: Interactive Reporting and Drilldown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highlight-code-1"/>
          <p:cNvSpPr txBox="1"/>
          <p:nvPr/>
        </p:nvSpPr>
        <p:spPr>
          <a:xfrm>
            <a:off x="3383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none" horzOverflow="clip" vertOverflow="clip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soql&gt;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SELECT</a:t>
            </a:r>
            <a:r>
              <a:rPr lang="en-US" sz="1500" typeface="Consolas">
                <a:solidFill>
                  <a:srgbClr val="D4D4D4"/>
                </a:solidFill>
              </a:rPr>
              <a:t> Id, EffectiveDate__c,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Value__c, Product__c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FROM</a:t>
            </a:r>
            <a:r>
              <a:rPr lang="en-US" sz="1500" typeface="Consolas">
                <a:solidFill>
                  <a:srgbClr val="D4D4D4"/>
                </a:solidFill>
              </a:rPr>
              <a:t> UnitPriceObservation__c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WHERE</a:t>
            </a:r>
            <a:r>
              <a:rPr lang="en-US" sz="1500" typeface="Consolas">
                <a:solidFill>
                  <a:srgbClr val="D4D4D4"/>
                </a:solidFill>
              </a:rPr>
              <a:t> Product__c = :product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ORDER BY</a:t>
            </a:r>
            <a:r>
              <a:rPr lang="en-US" sz="1500" typeface="Consolas">
                <a:solidFill>
                  <a:srgbClr val="D4D4D4"/>
                </a:solidFill>
              </a:rPr>
              <a:t> EffectiveDate__c </a:t>
            </a:r>
            <a:r>
              <a:rPr lang="en-US" sz="1500" typeface="Consolas">
                <a:solidFill>
                  <a:srgbClr val="569CD6"/>
                </a:solidFill>
              </a:rPr>
              <a:t>ASC</a:t>
            </a:r>
            <a:endParaRPr/>
          </a:p>
        </p:txBody>
      </p:sp>
      <p:sp>
        <p:nvSpPr>
          <p:cNvPr id="202" name="highlight-badge-1"/>
          <p:cNvSpPr txBox="1"/>
          <p:nvPr/>
        </p:nvSpPr>
        <p:spPr>
          <a:xfrm>
            <a:off x="1271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203" name="highlight-code-2"/>
          <p:cNvSpPr txBox="1"/>
          <p:nvPr/>
        </p:nvSpPr>
        <p:spPr>
          <a:xfrm>
            <a:off x="42066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none" horzOverflow="clip" vertOverflow="clip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Database.CursorFetchResult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midChunk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    pageCursor.fetchPage(dayIndex, 1);</a:t>
            </a:r>
            <a:endParaRPr/>
          </a:p>
        </p:txBody>
      </p:sp>
      <p:sp>
        <p:nvSpPr>
          <p:cNvPr id="204" name="highlight-badge-2"/>
          <p:cNvSpPr txBox="1"/>
          <p:nvPr/>
        </p:nvSpPr>
        <p:spPr>
          <a:xfrm>
            <a:off x="39954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205" name="highlight-code-3"/>
          <p:cNvSpPr txBox="1"/>
          <p:nvPr/>
        </p:nvSpPr>
        <p:spPr>
          <a:xfrm>
            <a:off x="80749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none" horzOverflow="clip" vertOverflow="clip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Database.CursorFetchResult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 drilldownRecords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    pageCursor.fetchPage(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      drillStart, drillSize);</a:t>
            </a:r>
            <a:endParaRPr/>
          </a:p>
        </p:txBody>
      </p:sp>
      <p:sp>
        <p:nvSpPr>
          <p:cNvPr id="206" name="highlight-badge-3"/>
          <p:cNvSpPr txBox="1"/>
          <p:nvPr/>
        </p:nvSpPr>
        <p:spPr>
          <a:xfrm>
            <a:off x="78637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207" name="highlight-info-panel"/>
          <p:cNvSpPr txBox="1"/>
          <p:nvPr/>
        </p:nvSpPr>
        <p:spPr>
          <a:xfrm>
            <a:off x="338325" y="4173500"/>
            <a:ext cx="11484900" cy="195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20000" lIns="140000" rIns="120000" tIns="120000" wrap="square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PaginationCursor builds the monthly chart with one fetchPage per month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Session cache keeps the cursor for brush-selection drill-down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Index-based fetchPage maps chart range to daily observation rows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12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fetchPage reports deleted rows when underlying data changes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2: Interactive Reporting and Drilldown Summary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demo3-adaptive-async" title="Apex Cursor Demo - Adaptive Asyn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2" y="1150000"/>
            <a:ext cx="10970000" cy="5249023"/>
          </a:xfrm>
          <a:prstGeom prst="rect">
            <a:avLst/>
          </a:prstGeom>
          <a:effectLst>
            <a:outerShdw blurRad="63500" dist="47625" dir="2700000" algn="ctr" rotWithShape="0">
              <a:srgbClr val="000000">
                <a:alpha val="38000"/>
              </a:srgbClr>
            </a:outerShdw>
          </a:effectLst>
        </p:spPr>
      </p:pic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3: Adaptive Async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highlight-code-1"/>
          <p:cNvSpPr txBox="1"/>
          <p:nvPr/>
        </p:nvSpPr>
        <p:spPr>
          <a:xfrm>
            <a:off x="3383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none" horzOverflow="clip" vertOverflow="clip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Database.Cursor cursor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  Database.getCursor(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soql,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AccessLevel.USER_MODE);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CDCAA"/>
                </a:solidFill>
              </a:rPr>
              <a:t>System.enqueueJob(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new AdaptiveOrderWorkerQueueable(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CE9178"/>
                </a:solidFill>
              </a:rPr>
              <a:t>    runId, cursor, 1), options);</a:t>
            </a:r>
            <a:endParaRPr/>
          </a:p>
        </p:txBody>
      </p:sp>
      <p:sp>
        <p:nvSpPr>
          <p:cNvPr id="202" name="highlight-badge-1"/>
          <p:cNvSpPr txBox="1"/>
          <p:nvPr/>
        </p:nvSpPr>
        <p:spPr>
          <a:xfrm>
            <a:off x="1271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203" name="highlight-code-2"/>
          <p:cNvSpPr txBox="1"/>
          <p:nvPr/>
        </p:nvSpPr>
        <p:spPr>
          <a:xfrm>
            <a:off x="42066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none" horzOverflow="clip" vertOverflow="clip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Integer </a:t>
            </a:r>
            <a:r>
              <a:rPr lang="en-US" sz="1500" typeface="Consolas">
                <a:solidFill>
                  <a:srgbClr val="D4D4D4"/>
                </a:solidFill>
              </a:rPr>
              <a:t>rowCalloutsRequired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</a:t>
            </a:r>
            <a:r>
              <a:rPr lang="en-US" sz="1500" typeface="Consolas">
                <a:solidFill>
                  <a:srgbClr val="DCDCAA"/>
                </a:solidFill>
              </a:rPr>
              <a:t>rowCalloutsFor</a:t>
            </a:r>
            <a:r>
              <a:rPr lang="en-US" sz="1500" typeface="Consolas">
                <a:solidFill>
                  <a:srgbClr val="CE9178"/>
                </a:solidFill>
              </a:rPr>
              <a:t>(row);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Boolean </a:t>
            </a:r>
            <a:r>
              <a:rPr lang="en-US" sz="1500" typeface="Consolas">
                <a:solidFill>
                  <a:srgbClr val="D4D4D4"/>
                </a:solidFill>
              </a:rPr>
              <a:t>canProcessRow 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rowCalloutsRequired == </a:t>
            </a:r>
            <a:r>
              <a:rPr lang="en-US" sz="1500" typeface="Consolas">
                <a:solidFill>
                  <a:srgbClr val="CE9178"/>
                </a:solidFill>
              </a:rPr>
              <a:t>0</a:t>
            </a:r>
            <a:r>
              <a:rPr lang="en-US" sz="1500" typeface="Consolas">
                <a:solidFill>
                  <a:srgbClr val="D4D4D4"/>
                </a:solidFill>
              </a:rPr>
              <a:t> ||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    scope.</a:t>
            </a:r>
            <a:r>
              <a:rPr lang="en-US" sz="1500" typeface="Consolas">
                <a:solidFill>
                  <a:srgbClr val="D4D4D4"/>
                </a:solidFill>
              </a:rPr>
              <a:t>predictedCallouts</a:t>
            </a:r>
            <a:r>
              <a:rPr lang="en-US" sz="1500" typeface="Consolas">
                <a:solidFill>
                  <a:srgbClr val="D4D4D4"/>
                </a:solidFill>
              </a:rPr>
              <a:t> 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   rowCalloutsRequired &lt;= </a:t>
            </a:r>
            <a:r>
              <a:rPr lang="en-US" sz="1500" typeface="Consolas">
                <a:solidFill>
                  <a:srgbClr val="D4D4D4"/>
                </a:solidFill>
              </a:rPr>
              <a:t>calloutBudget;</a:t>
            </a:r>
            <a:endParaRPr/>
          </a:p>
        </p:txBody>
      </p:sp>
      <p:sp>
        <p:nvSpPr>
          <p:cNvPr id="204" name="highlight-badge-2"/>
          <p:cNvSpPr txBox="1"/>
          <p:nvPr/>
        </p:nvSpPr>
        <p:spPr>
          <a:xfrm>
            <a:off x="39954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205" name="highlight-code-3"/>
          <p:cNvSpPr txBox="1"/>
          <p:nvPr/>
        </p:nvSpPr>
        <p:spPr>
          <a:xfrm>
            <a:off x="8074925" y="1603500"/>
            <a:ext cx="3748300" cy="245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60000" lIns="72000" rIns="72000" tIns="55000" wrap="none" horzOverflow="clip" vertOverflow="clip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569CD6"/>
                </a:solidFill>
              </a:rPr>
              <a:t>if (</a:t>
            </a:r>
            <a:r>
              <a:rPr lang="en-US" sz="1500" typeface="Consolas">
                <a:solidFill>
                  <a:srgbClr val="569CD6"/>
                </a:solidFill>
              </a:rPr>
              <a:t>Limits</a:t>
            </a:r>
            <a:r>
              <a:rPr lang="en-US" sz="1500" typeface="Consolas">
                <a:solidFill>
                  <a:srgbClr val="DCDCAA"/>
                </a:solidFill>
              </a:rPr>
              <a:t>.getFetchCallsOnApexCursor</a:t>
            </a:r>
            <a:r>
              <a:rPr lang="en-US" sz="1500" typeface="Consolas">
                <a:solidFill>
                  <a:srgbClr val="D4D4D4"/>
                </a:solidFill>
              </a:rPr>
              <a:t>() &gt;=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 </a:t>
            </a:r>
            <a:r>
              <a:rPr lang="en-US" sz="1500" typeface="Consolas">
                <a:solidFill>
                  <a:srgbClr val="569CD6"/>
                </a:solidFill>
              </a:rPr>
              <a:t>Limits</a:t>
            </a:r>
            <a:r>
              <a:rPr lang="en-US" sz="1500" typeface="Consolas">
                <a:solidFill>
                  <a:srgbClr val="DCDCAA"/>
                </a:solidFill>
              </a:rPr>
              <a:t>.getLimitFetchCallsOnApexCursor</a:t>
            </a:r>
            <a:r>
              <a:rPr lang="en-US" sz="1500" typeface="Consolas">
                <a:solidFill>
                  <a:srgbClr val="D4D4D4"/>
                </a:solidFill>
              </a:rPr>
              <a:t>())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     </a:t>
            </a:r>
            <a:r>
              <a:rPr lang="en-US" sz="1500" typeface="Consolas">
                <a:solidFill>
                  <a:srgbClr val="569CD6"/>
                </a:solidFill>
              </a:rPr>
              <a:t>return</a:t>
            </a:r>
            <a:r>
              <a:rPr lang="en-US" sz="1500" typeface="Consolas">
                <a:solidFill>
                  <a:srgbClr val="D4D4D4"/>
                </a:solidFill>
              </a:rPr>
              <a:t> scope;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160"/>
              </a:spcAft>
              <a:buNone/>
            </a:pPr>
            <a:r>
              <a:rPr lang="en-US" sz="1500" typeface="Consolas">
                <a:solidFill>
                  <a:srgbClr val="D4D4D4"/>
                </a:solidFill>
              </a:rPr>
              <a:t>}</a:t>
            </a:r>
            <a:endParaRPr/>
          </a:p>
        </p:txBody>
      </p:sp>
      <p:sp>
        <p:nvSpPr>
          <p:cNvPr id="206" name="highlight-badge-3"/>
          <p:cNvSpPr txBox="1"/>
          <p:nvPr/>
        </p:nvSpPr>
        <p:spPr>
          <a:xfrm>
            <a:off x="7863725" y="1392300"/>
            <a:ext cx="480000" cy="480000"/>
          </a:xfrm>
          <a:prstGeom prst="ellipse">
            <a:avLst/>
          </a:prstGeom>
          <a:solidFill>
            <a:srgbClr val="891019"/>
          </a:solidFill>
          <a:ln>
            <a:noFill/>
          </a:ln>
          <a:effectLst>
            <a:outerShdw blurRad="57150" dist="38100" dir="2700000" algn="ctr" rotWithShape="0">
              <a:srgbClr val="000000">
                <a:alpha val="45000"/>
              </a:srgbClr>
            </a:outerShdw>
          </a:effectLst>
        </p:spPr>
        <p:txBody>
          <a:bodyPr anchor="ctr" anchorCtr="1" wrap="none" lIns="0" rIns="0" tIns="0" bIns="0">
            <a:noAutofit/>
          </a:bodyPr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207" name="highlight-info-panel"/>
          <p:cNvSpPr txBox="1"/>
          <p:nvPr/>
        </p:nvSpPr>
        <p:spPr>
          <a:xfrm>
            <a:off x="338325" y="4173500"/>
            <a:ext cx="11484900" cy="195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Ctr="0" anchor="t" bIns="120000" lIns="140000" rIns="120000" tIns="120000" wrap="square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One cursor opened in Apex and passed through chained queueable jobs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Chunk size adapts to remaining HTTP callout budget per transaction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Track fetch limits dynamically via Limits.getFetchCallsOnApexCursor</a:t>
            </a:r>
            <a:endParaRPr/>
          </a:p>
          <a:p>
            <a:pPr indent="-285750" lvl="0" marL="457200" rtl="0" algn="l">
              <a:lnSpc>
                <a:spcPct val="115000"/>
              </a:lnSpc>
              <a:spcBef>
                <a:spcPts val="220"/>
              </a:spcBef>
              <a:spcAft>
                <a:spcPts val="120"/>
              </a:spcAft>
              <a:buClr>
                <a:srgbClr val="891019"/>
              </a:buClr>
              <a:buSzPts val="1600"/>
              <a:buChar char="•"/>
            </a:pPr>
            <a:r>
              <a:rPr lang="en-US" sz="1800"/>
              <a:t>Cursor position travels on the job state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Demo 3: Adaptive Async Summary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usage-label-201"/>
          <p:cNvSpPr txBox="1"/>
          <p:nvPr/>
        </p:nvSpPr>
        <p:spPr>
          <a:xfrm>
            <a:off x="338325" y="2028500"/>
            <a:ext cx="3764966" cy="260000"/>
          </a:xfrm>
          <a:prstGeom prst="rect">
            <a:avLst/>
          </a:prstGeom>
          <a:noFill/>
          <a:ln>
            <a:noFill/>
          </a:ln>
        </p:spPr>
        <p:txBody>
          <a:bodyPr anchor="b" anchorCtr="0" wrap="none">
            <a:noAutofit/>
          </a:bodyPr>
          <a:lstStyle/>
          <a:p>
            <a:pPr algn="l">
              <a:buNone/>
            </a:pPr>
            <a:r>
              <a:rPr lang="en-US" sz="1550" b="1">
                <a:solidFill>
                  <a:srgbClr val="891019"/>
                </a:solidFill>
              </a:rPr>
              <a:t>Stable ORDER BY</a:t>
            </a:r>
            <a:endParaRPr/>
          </a:p>
        </p:txBody>
      </p:sp>
      <p:sp>
        <p:nvSpPr>
          <p:cNvPr id="202" name="usage-code-202"/>
          <p:cNvSpPr txBox="1"/>
          <p:nvPr/>
        </p:nvSpPr>
        <p:spPr>
          <a:xfrm>
            <a:off x="338325" y="2288500"/>
            <a:ext cx="3764966" cy="920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50000" rIns="50000" tIns="38000" bIns="75000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6A9955"/>
                </a:solidFill>
              </a:rPr>
              <a:t>soql&gt;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'SELECT ... FROM Account 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WHERE Name LIKE 'TEST%'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ORDER BY Name',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12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AccessLevel.USER_MODE);</a:t>
            </a:r>
            <a:endParaRPr/>
          </a:p>
        </p:txBody>
      </p:sp>
      <p:sp>
        <p:nvSpPr>
          <p:cNvPr id="203" name="usage-info-203"/>
          <p:cNvSpPr txBox="1"/>
          <p:nvPr/>
        </p:nvSpPr>
        <p:spPr>
          <a:xfrm>
            <a:off x="338325" y="3248500"/>
            <a:ext cx="3764966" cy="580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42000" rIns="42000" tIns="42000" bIns="4200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Sort on a unique, stable key.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00"/>
              </a:spcBef>
              <a:spcAft>
                <a:spcPts val="8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Keeps offsets and page indexes predictable.</a:t>
            </a:r>
            <a:endParaRPr/>
          </a:p>
        </p:txBody>
      </p:sp>
      <p:sp>
        <p:nvSpPr>
          <p:cNvPr id="204" name="usage-label-204"/>
          <p:cNvSpPr txBox="1"/>
          <p:nvPr/>
        </p:nvSpPr>
        <p:spPr>
          <a:xfrm>
            <a:off x="4198291" y="2028500"/>
            <a:ext cx="3764966" cy="260000"/>
          </a:xfrm>
          <a:prstGeom prst="rect">
            <a:avLst/>
          </a:prstGeom>
          <a:noFill/>
          <a:ln>
            <a:noFill/>
          </a:ln>
        </p:spPr>
        <p:txBody>
          <a:bodyPr anchor="b" anchorCtr="0" wrap="none">
            <a:noAutofit/>
          </a:bodyPr>
          <a:lstStyle/>
          <a:p>
            <a:pPr algn="l">
              <a:buNone/>
            </a:pPr>
            <a:r>
              <a:rPr lang="en-US" sz="1550" b="1">
                <a:solidFill>
                  <a:srgbClr val="891019"/>
                </a:solidFill>
              </a:rPr>
              <a:t>Guard number of records</a:t>
            </a:r>
            <a:endParaRPr/>
          </a:p>
        </p:txBody>
      </p:sp>
      <p:sp>
        <p:nvSpPr>
          <p:cNvPr id="205" name="usage-code-205"/>
          <p:cNvSpPr txBox="1"/>
          <p:nvPr/>
        </p:nvSpPr>
        <p:spPr>
          <a:xfrm>
            <a:off x="4198291" y="2288500"/>
            <a:ext cx="3764966" cy="920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50000" rIns="50000" tIns="38000" bIns="75000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DCDCAA"/>
                </a:solidFill>
              </a:rPr>
              <a:t>if (cursor.getNumRecords()</a:t>
            </a:r>
            <a:r>
              <a:rPr lang="en-US" sz="1150" typeface="Consolas">
                <a:solidFill>
                  <a:srgbClr val="D4D4D4"/>
                </a:solidFill>
              </a:rPr>
              <a:t> == </a:t>
            </a:r>
            <a:r>
              <a:rPr lang="en-US" sz="1150" typeface="Consolas">
                <a:solidFill>
                  <a:srgbClr val="CE9178"/>
                </a:solidFill>
              </a:rPr>
              <a:t>0</a:t>
            </a:r>
            <a:r>
              <a:rPr lang="en-US" sz="1150" typeface="Consolas">
                <a:solidFill>
                  <a:srgbClr val="D4D4D4"/>
                </a:solidFill>
              </a:rPr>
              <a:t>) {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D4D4D4"/>
                </a:solidFill>
              </a:rPr>
              <a:t>  </a:t>
            </a:r>
            <a:r>
              <a:rPr lang="en-US" sz="1150" typeface="Consolas">
                <a:solidFill>
                  <a:srgbClr val="569CD6"/>
                </a:solidFill>
              </a:rPr>
              <a:t>return</a:t>
            </a:r>
            <a:r>
              <a:rPr lang="en-US" sz="1150" typeface="Consolas">
                <a:solidFill>
                  <a:srgbClr val="D4D4D4"/>
                </a:solidFill>
              </a:rPr>
              <a:t> result;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120"/>
              </a:spcAft>
              <a:buNone/>
            </a:pPr>
            <a:r>
              <a:rPr lang="en-US" sz="1150" typeface="Consolas">
                <a:solidFill>
                  <a:srgbClr val="D4D4D4"/>
                </a:solidFill>
              </a:rPr>
              <a:t>}</a:t>
            </a:r>
            <a:endParaRPr/>
          </a:p>
        </p:txBody>
      </p:sp>
      <p:sp>
        <p:nvSpPr>
          <p:cNvPr id="206" name="usage-info-206"/>
          <p:cNvSpPr txBox="1"/>
          <p:nvPr/>
        </p:nvSpPr>
        <p:spPr>
          <a:xfrm>
            <a:off x="4198291" y="3248500"/>
            <a:ext cx="3764966" cy="580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42000" rIns="42000" tIns="42000" bIns="4200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Exit early when the result set is empty.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00"/>
              </a:spcBef>
              <a:spcAft>
                <a:spcPts val="8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fetch(0, 0) can throw a GACK.</a:t>
            </a:r>
            <a:endParaRPr/>
          </a:p>
        </p:txBody>
      </p:sp>
      <p:sp>
        <p:nvSpPr>
          <p:cNvPr id="207" name="usage-label-207"/>
          <p:cNvSpPr txBox="1"/>
          <p:nvPr/>
        </p:nvSpPr>
        <p:spPr>
          <a:xfrm>
            <a:off x="8058257" y="2028500"/>
            <a:ext cx="3764966" cy="260000"/>
          </a:xfrm>
          <a:prstGeom prst="rect">
            <a:avLst/>
          </a:prstGeom>
          <a:noFill/>
          <a:ln>
            <a:noFill/>
          </a:ln>
        </p:spPr>
        <p:txBody>
          <a:bodyPr anchor="b" anchorCtr="0" wrap="none">
            <a:noAutofit/>
          </a:bodyPr>
          <a:lstStyle/>
          <a:p>
            <a:pPr algn="l">
              <a:buNone/>
            </a:pPr>
            <a:r>
              <a:rPr lang="en-US" sz="1550" b="1">
                <a:solidFill>
                  <a:srgbClr val="891019"/>
                </a:solidFill>
              </a:rPr>
              <a:t>Cap fetchPage size</a:t>
            </a:r>
            <a:endParaRPr/>
          </a:p>
        </p:txBody>
      </p:sp>
      <p:sp>
        <p:nvSpPr>
          <p:cNvPr id="208" name="usage-code-208"/>
          <p:cNvSpPr txBox="1"/>
          <p:nvPr/>
        </p:nvSpPr>
        <p:spPr>
          <a:xfrm>
            <a:off x="8058257" y="2288500"/>
            <a:ext cx="3764966" cy="920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50000" rIns="50000" tIns="38000" bIns="75000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DCDCAA"/>
                </a:solidFill>
              </a:rPr>
              <a:t>pageSize = Math.min(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PAGE_SIZE,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DCDCAA"/>
                </a:solidFill>
              </a:rPr>
              <a:t>  pc.getNumRecords()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  - startIndex);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120"/>
              </a:spcAft>
              <a:buNone/>
            </a:pPr>
            <a:r>
              <a:rPr lang="en-US" sz="1150" typeface="Consolas">
                <a:solidFill>
                  <a:srgbClr val="DCDCAA"/>
                </a:solidFill>
              </a:rPr>
              <a:t>pc.fetchPage(start, pageSize);</a:t>
            </a:r>
            <a:endParaRPr/>
          </a:p>
        </p:txBody>
      </p:sp>
      <p:sp>
        <p:nvSpPr>
          <p:cNvPr id="209" name="usage-info-209"/>
          <p:cNvSpPr txBox="1"/>
          <p:nvPr/>
        </p:nvSpPr>
        <p:spPr>
          <a:xfrm>
            <a:off x="8058257" y="3248500"/>
            <a:ext cx="3764966" cy="580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42000" rIns="42000" tIns="42000" bIns="4200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Do not request rows past the result set end.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00"/>
              </a:spcBef>
              <a:spcAft>
                <a:spcPts val="8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Critical for partial last pages.</a:t>
            </a:r>
            <a:endParaRPr/>
          </a:p>
        </p:txBody>
      </p:sp>
      <p:sp>
        <p:nvSpPr>
          <p:cNvPr id="210" name="usage-label-210"/>
          <p:cNvSpPr txBox="1"/>
          <p:nvPr/>
        </p:nvSpPr>
        <p:spPr>
          <a:xfrm>
            <a:off x="338325" y="3913500"/>
            <a:ext cx="3764966" cy="260000"/>
          </a:xfrm>
          <a:prstGeom prst="rect">
            <a:avLst/>
          </a:prstGeom>
          <a:noFill/>
          <a:ln>
            <a:noFill/>
          </a:ln>
        </p:spPr>
        <p:txBody>
          <a:bodyPr anchor="b" anchorCtr="0" wrap="none">
            <a:noAutofit/>
          </a:bodyPr>
          <a:lstStyle/>
          <a:p>
            <a:pPr algn="l">
              <a:buNone/>
            </a:pPr>
            <a:r>
              <a:rPr lang="en-US" sz="1550" b="1">
                <a:solidFill>
                  <a:srgbClr val="891019"/>
                </a:solidFill>
              </a:rPr>
              <a:t>Retry transient errors</a:t>
            </a:r>
            <a:endParaRPr/>
          </a:p>
        </p:txBody>
      </p:sp>
      <p:sp>
        <p:nvSpPr>
          <p:cNvPr id="211" name="usage-code-211"/>
          <p:cNvSpPr txBox="1"/>
          <p:nvPr/>
        </p:nvSpPr>
        <p:spPr>
          <a:xfrm>
            <a:off x="338325" y="4173500"/>
            <a:ext cx="3764966" cy="920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50000" rIns="50000" tIns="38000" bIns="75000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569CD6"/>
                </a:solidFill>
              </a:rPr>
              <a:t>} catch (System.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569CD6"/>
                </a:solidFill>
              </a:rPr>
              <a:t>  TransientCursorException e) {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DCDCAA"/>
                </a:solidFill>
              </a:rPr>
              <a:t>  if (++retries &lt;= MAX)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  return retry();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120"/>
              </a:spcAft>
              <a:buNone/>
            </a:pPr>
            <a:r>
              <a:rPr lang="en-US" sz="1150" typeface="Consolas">
                <a:solidFill>
                  <a:srgbClr val="DCDCAA"/>
                </a:solidFill>
              </a:rPr>
              <a:t>  throw e;</a:t>
            </a:r>
            <a:endParaRPr/>
          </a:p>
        </p:txBody>
      </p:sp>
      <p:sp>
        <p:nvSpPr>
          <p:cNvPr id="212" name="usage-info-212"/>
          <p:cNvSpPr txBox="1"/>
          <p:nvPr/>
        </p:nvSpPr>
        <p:spPr>
          <a:xfrm>
            <a:off x="338325" y="5133500"/>
            <a:ext cx="3764966" cy="580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42000" rIns="42000" tIns="42000" bIns="4200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TransientCursorException may be retried.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00"/>
              </a:spcBef>
              <a:spcAft>
                <a:spcPts val="8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Do not retry FatalCursorException.</a:t>
            </a:r>
            <a:endParaRPr/>
          </a:p>
        </p:txBody>
      </p:sp>
      <p:sp>
        <p:nvSpPr>
          <p:cNvPr id="213" name="usage-label-213"/>
          <p:cNvSpPr txBox="1"/>
          <p:nvPr/>
        </p:nvSpPr>
        <p:spPr>
          <a:xfrm>
            <a:off x="4198291" y="3913500"/>
            <a:ext cx="3764966" cy="260000"/>
          </a:xfrm>
          <a:prstGeom prst="rect">
            <a:avLst/>
          </a:prstGeom>
          <a:noFill/>
          <a:ln>
            <a:noFill/>
          </a:ln>
        </p:spPr>
        <p:txBody>
          <a:bodyPr anchor="b" anchorCtr="0" wrap="none">
            <a:noAutofit/>
          </a:bodyPr>
          <a:lstStyle/>
          <a:p>
            <a:pPr algn="l">
              <a:buNone/>
            </a:pPr>
            <a:r>
              <a:rPr lang="en-US" sz="1550" b="1">
                <a:solidFill>
                  <a:srgbClr val="891019"/>
                </a:solidFill>
              </a:rPr>
              <a:t>Cursor returns to LWC</a:t>
            </a:r>
            <a:endParaRPr/>
          </a:p>
        </p:txBody>
      </p:sp>
      <p:sp>
        <p:nvSpPr>
          <p:cNvPr id="214" name="usage-code-214"/>
          <p:cNvSpPr txBox="1"/>
          <p:nvPr/>
        </p:nvSpPr>
        <p:spPr>
          <a:xfrm>
            <a:off x="4198291" y="4173500"/>
            <a:ext cx="3764966" cy="920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50000" rIns="50000" tIns="38000" bIns="75000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569CD6"/>
                </a:solidFill>
              </a:rPr>
              <a:t>@AuraEnabled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DCDCAA"/>
                </a:solidFill>
              </a:rPr>
              <a:t>public static Result load(...) {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result.cursor = cursor;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DCDCAA"/>
                </a:solidFill>
              </a:rPr>
              <a:t>  return result;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120"/>
              </a:spcAft>
              <a:buNone/>
            </a:pPr>
            <a:r>
              <a:rPr lang="en-US" sz="1150" typeface="Consolas">
                <a:solidFill>
                  <a:srgbClr val="569CD6"/>
                </a:solidFill>
              </a:rPr>
              <a:t>}</a:t>
            </a:r>
            <a:endParaRPr/>
          </a:p>
        </p:txBody>
      </p:sp>
      <p:sp>
        <p:nvSpPr>
          <p:cNvPr id="215" name="usage-info-215"/>
          <p:cNvSpPr txBox="1"/>
          <p:nvPr/>
        </p:nvSpPr>
        <p:spPr>
          <a:xfrm>
            <a:off x="4198291" y="5133500"/>
            <a:ext cx="3764966" cy="580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42000" rIns="42000" tIns="42000" bIns="4200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Cursors are Aura-serializable.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00"/>
              </a:spcBef>
              <a:spcAft>
                <a:spcPts val="8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Return on @AuraEnabled result.</a:t>
            </a:r>
            <a:endParaRPr/>
          </a:p>
        </p:txBody>
      </p:sp>
      <p:sp>
        <p:nvSpPr>
          <p:cNvPr id="216" name="usage-label-216"/>
          <p:cNvSpPr txBox="1"/>
          <p:nvPr/>
        </p:nvSpPr>
        <p:spPr>
          <a:xfrm>
            <a:off x="8058257" y="3913500"/>
            <a:ext cx="3764966" cy="260000"/>
          </a:xfrm>
          <a:prstGeom prst="rect">
            <a:avLst/>
          </a:prstGeom>
          <a:noFill/>
          <a:ln>
            <a:noFill/>
          </a:ln>
        </p:spPr>
        <p:txBody>
          <a:bodyPr anchor="b" anchorCtr="0" wrap="none">
            <a:noAutofit/>
          </a:bodyPr>
          <a:lstStyle/>
          <a:p>
            <a:pPr algn="l">
              <a:buNone/>
            </a:pPr>
            <a:r>
              <a:rPr lang="en-US" sz="1550" b="1">
                <a:solidFill>
                  <a:srgbClr val="891019"/>
                </a:solidFill>
              </a:rPr>
              <a:t>Check for latest security changes</a:t>
            </a:r>
            <a:endParaRPr/>
          </a:p>
        </p:txBody>
      </p:sp>
      <p:sp>
        <p:nvSpPr>
          <p:cNvPr id="217" name="usage-code-217"/>
          <p:cNvSpPr txBox="1"/>
          <p:nvPr/>
        </p:nvSpPr>
        <p:spPr>
          <a:xfrm>
            <a:off x="8058257" y="4173500"/>
            <a:ext cx="3764966" cy="920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50000" rIns="50000" tIns="38000" bIns="75000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6A9955"/>
                </a:solidFill>
              </a:rPr>
              <a:t>apex&gt;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[SELECT Id FROM Account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WHERE Id IN :ids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WITH USER_MODE];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50" typeface="Consolas">
                <a:solidFill>
                  <a:srgbClr val="DCDCAA"/>
                </a:solidFill>
              </a:rPr>
              <a:t>cursor = Database.getCursor(</a:t>
            </a:r>
            <a:endParaRPr/>
          </a:p>
          <a:p>
            <a:pPr indent="0" lvl="0" marL="0" rtl="0" algn="l">
              <a:lnSpc>
                <a:spcPct val="98000"/>
              </a:lnSpc>
              <a:spcBef>
                <a:spcPts val="35"/>
              </a:spcBef>
              <a:spcAft>
                <a:spcPts val="120"/>
              </a:spcAft>
              <a:buNone/>
            </a:pPr>
            <a:r>
              <a:rPr lang="en-US" sz="1150" typeface="Consolas">
                <a:solidFill>
                  <a:srgbClr val="CE9178"/>
                </a:solidFill>
              </a:rPr>
              <a:t>  soql, AccessLevel.USER_MODE);</a:t>
            </a:r>
            <a:endParaRPr/>
          </a:p>
        </p:txBody>
      </p:sp>
      <p:sp>
        <p:nvSpPr>
          <p:cNvPr id="218" name="usage-info-218"/>
          <p:cNvSpPr txBox="1"/>
          <p:nvPr/>
        </p:nvSpPr>
        <p:spPr>
          <a:xfrm>
            <a:off x="8058257" y="5133500"/>
            <a:ext cx="3764966" cy="580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42000" rIns="42000" tIns="42000" bIns="4200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80"/>
              </a:spcBef>
              <a:spcAft>
                <a:spcPts val="80"/>
              </a:spcAft>
              <a:buNone/>
            </a:pPr>
            <a:r>
              <a:rPr lang="en-US" sz="1280">
                <a:solidFill>
                  <a:srgbClr val="444444"/>
                </a:solidFill>
              </a:rPr>
              <a:t>Fetch does not re-evaluate security, per Batch Apex. If critical requery changes.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Usage Best Practices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limits-table-shadow"/>
          <p:cNvSpPr/>
          <p:nvPr/>
        </p:nvSpPr>
        <p:spPr>
          <a:xfrm>
            <a:off x="338325" y="1346000"/>
            <a:ext cx="11484900" cy="32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2" name="limits-hdr-bg-0"/>
          <p:cNvSpPr/>
          <p:nvPr/>
        </p:nvSpPr>
        <p:spPr>
          <a:xfrm>
            <a:off x="338325" y="1346000"/>
            <a:ext cx="5972148" cy="420000"/>
          </a:xfrm>
          <a:prstGeom prst="rect">
            <a:avLst/>
          </a:prstGeom>
          <a:solidFill>
            <a:srgbClr val="8910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limits-hdr-0"/>
          <p:cNvSpPr txBox="1"/>
          <p:nvPr/>
        </p:nvSpPr>
        <p:spPr>
          <a:xfrm>
            <a:off x="338325" y="1346000"/>
            <a:ext cx="5972148" cy="42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4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>
                <a:solidFill>
                  <a:srgbClr val="FFFFFF"/>
                </a:solidFill>
              </a:rPr>
              <a:t>Limit</a:t>
            </a:r>
            <a:endParaRPr/>
          </a:p>
        </p:txBody>
      </p:sp>
      <p:sp>
        <p:nvSpPr>
          <p:cNvPr id="204" name="limits-hdr-bg-1"/>
          <p:cNvSpPr/>
          <p:nvPr/>
        </p:nvSpPr>
        <p:spPr>
          <a:xfrm>
            <a:off x="6310473" y="1346000"/>
            <a:ext cx="2756376" cy="42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limits-hdr-1"/>
          <p:cNvSpPr txBox="1"/>
          <p:nvPr/>
        </p:nvSpPr>
        <p:spPr>
          <a:xfrm>
            <a:off x="6310473" y="1346000"/>
            <a:ext cx="2756376" cy="42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>
                <a:solidFill>
                  <a:srgbClr val="FFFFFF"/>
                </a:solidFill>
              </a:rPr>
              <a:t>Pagination</a:t>
            </a:r>
            <a:endParaRPr/>
          </a:p>
        </p:txBody>
      </p:sp>
      <p:sp>
        <p:nvSpPr>
          <p:cNvPr id="206" name="limits-hdr-bg-2"/>
          <p:cNvSpPr/>
          <p:nvPr/>
        </p:nvSpPr>
        <p:spPr>
          <a:xfrm>
            <a:off x="9066849" y="1346000"/>
            <a:ext cx="2756376" cy="420000"/>
          </a:xfrm>
          <a:prstGeom prst="rect">
            <a:avLst/>
          </a:prstGeom>
          <a:solidFill>
            <a:srgbClr val="5A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limits-hdr-2"/>
          <p:cNvSpPr txBox="1"/>
          <p:nvPr/>
        </p:nvSpPr>
        <p:spPr>
          <a:xfrm>
            <a:off x="9066849" y="1346000"/>
            <a:ext cx="2756376" cy="42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>
                <a:solidFill>
                  <a:srgbClr val="FFFFFF"/>
                </a:solidFill>
              </a:rPr>
              <a:t>Standard</a:t>
            </a:r>
            <a:endParaRPr/>
          </a:p>
        </p:txBody>
      </p:sp>
      <p:sp>
        <p:nvSpPr>
          <p:cNvPr id="208" name="limits-section-208"/>
          <p:cNvSpPr/>
          <p:nvPr/>
        </p:nvSpPr>
        <p:spPr>
          <a:xfrm>
            <a:off x="338325" y="1766000"/>
            <a:ext cx="11484900" cy="285000"/>
          </a:xfrm>
          <a:prstGeom prst="rect">
            <a:avLst/>
          </a:prstGeom>
          <a:solidFill>
            <a:srgbClr val="E8ECF4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limits-section-text-209"/>
          <p:cNvSpPr txBox="1"/>
          <p:nvPr/>
        </p:nvSpPr>
        <p:spPr>
          <a:xfrm>
            <a:off x="338325" y="1766000"/>
            <a:ext cx="11484900" cy="28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8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891019"/>
                </a:solidFill>
              </a:rPr>
              <a:t>Per transaction (each Apex request)</a:t>
            </a:r>
            <a:endParaRPr/>
          </a:p>
        </p:txBody>
      </p:sp>
      <p:sp>
        <p:nvSpPr>
          <p:cNvPr id="210" name="limits-row-0-bg-0"/>
          <p:cNvSpPr/>
          <p:nvPr/>
        </p:nvSpPr>
        <p:spPr>
          <a:xfrm>
            <a:off x="338325" y="2051000"/>
            <a:ext cx="5972148" cy="335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limits-row-0-0"/>
          <p:cNvSpPr txBox="1"/>
          <p:nvPr/>
        </p:nvSpPr>
        <p:spPr>
          <a:xfrm>
            <a:off x="338325" y="2051000"/>
            <a:ext cx="5972148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4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>
                <a:solidFill>
                  <a:srgbClr val="333333"/>
                </a:solidFill>
              </a:rPr>
              <a:t>Cursor instances open</a:t>
            </a:r>
            <a:endParaRPr/>
          </a:p>
        </p:txBody>
      </p:sp>
      <p:sp>
        <p:nvSpPr>
          <p:cNvPr id="212" name="limits-row-0-bg-1"/>
          <p:cNvSpPr/>
          <p:nvPr/>
        </p:nvSpPr>
        <p:spPr>
          <a:xfrm>
            <a:off x="6310473" y="2051000"/>
            <a:ext cx="2756376" cy="335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limits-row-0-1"/>
          <p:cNvSpPr txBox="1"/>
          <p:nvPr/>
        </p:nvSpPr>
        <p:spPr>
          <a:xfrm>
            <a:off x="6310473" y="2051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50</a:t>
            </a:r>
            <a:endParaRPr/>
          </a:p>
        </p:txBody>
      </p:sp>
      <p:sp>
        <p:nvSpPr>
          <p:cNvPr id="214" name="limits-row-0-bg-2"/>
          <p:cNvSpPr/>
          <p:nvPr/>
        </p:nvSpPr>
        <p:spPr>
          <a:xfrm>
            <a:off x="9066849" y="2051000"/>
            <a:ext cx="2756376" cy="335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limits-row-0-2"/>
          <p:cNvSpPr txBox="1"/>
          <p:nvPr/>
        </p:nvSpPr>
        <p:spPr>
          <a:xfrm>
            <a:off x="9066849" y="2051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50</a:t>
            </a:r>
            <a:endParaRPr/>
          </a:p>
        </p:txBody>
      </p:sp>
      <p:sp>
        <p:nvSpPr>
          <p:cNvPr id="216" name="limits-row-1-bg-0"/>
          <p:cNvSpPr/>
          <p:nvPr/>
        </p:nvSpPr>
        <p:spPr>
          <a:xfrm>
            <a:off x="338325" y="2386000"/>
            <a:ext cx="5972148" cy="3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limits-row-1-0"/>
          <p:cNvSpPr txBox="1"/>
          <p:nvPr/>
        </p:nvSpPr>
        <p:spPr>
          <a:xfrm>
            <a:off x="338325" y="2386000"/>
            <a:ext cx="5972148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4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>
                <a:solidFill>
                  <a:srgbClr val="333333"/>
                </a:solidFill>
              </a:rPr>
              <a:t>Rows across all cursors in txn</a:t>
            </a:r>
            <a:endParaRPr/>
          </a:p>
        </p:txBody>
      </p:sp>
      <p:sp>
        <p:nvSpPr>
          <p:cNvPr id="218" name="limits-row-1-bg-1"/>
          <p:cNvSpPr/>
          <p:nvPr/>
        </p:nvSpPr>
        <p:spPr>
          <a:xfrm>
            <a:off x="6310473" y="2386000"/>
            <a:ext cx="2756376" cy="3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limits-row-1-1"/>
          <p:cNvSpPr txBox="1"/>
          <p:nvPr/>
        </p:nvSpPr>
        <p:spPr>
          <a:xfrm>
            <a:off x="6310473" y="2386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100,000</a:t>
            </a:r>
            <a:endParaRPr/>
          </a:p>
        </p:txBody>
      </p:sp>
      <p:sp>
        <p:nvSpPr>
          <p:cNvPr id="220" name="limits-row-1-bg-2"/>
          <p:cNvSpPr/>
          <p:nvPr/>
        </p:nvSpPr>
        <p:spPr>
          <a:xfrm>
            <a:off x="9066849" y="2386000"/>
            <a:ext cx="2756376" cy="3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limits-row-1-2"/>
          <p:cNvSpPr txBox="1"/>
          <p:nvPr/>
        </p:nvSpPr>
        <p:spPr>
          <a:xfrm>
            <a:off x="9066849" y="2386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50,000,000</a:t>
            </a:r>
            <a:endParaRPr/>
          </a:p>
        </p:txBody>
      </p:sp>
      <p:sp>
        <p:nvSpPr>
          <p:cNvPr id="222" name="limits-row-2-bg-0"/>
          <p:cNvSpPr/>
          <p:nvPr/>
        </p:nvSpPr>
        <p:spPr>
          <a:xfrm>
            <a:off x="338325" y="2721000"/>
            <a:ext cx="5972148" cy="335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3" name="limits-row-2-0"/>
          <p:cNvSpPr txBox="1"/>
          <p:nvPr/>
        </p:nvSpPr>
        <p:spPr>
          <a:xfrm>
            <a:off x="338325" y="2721000"/>
            <a:ext cx="5972148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4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>
                <a:solidFill>
                  <a:srgbClr val="333333"/>
                </a:solidFill>
              </a:rPr>
              <a:t>Fetch calls (shared)</a:t>
            </a:r>
            <a:endParaRPr/>
          </a:p>
        </p:txBody>
      </p:sp>
      <p:sp>
        <p:nvSpPr>
          <p:cNvPr id="224" name="limits-row-2-bg-1"/>
          <p:cNvSpPr/>
          <p:nvPr/>
        </p:nvSpPr>
        <p:spPr>
          <a:xfrm>
            <a:off x="6310473" y="2721000"/>
            <a:ext cx="2756376" cy="335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5" name="limits-row-2-1"/>
          <p:cNvSpPr txBox="1"/>
          <p:nvPr/>
        </p:nvSpPr>
        <p:spPr>
          <a:xfrm>
            <a:off x="6310473" y="2721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100</a:t>
            </a:r>
            <a:endParaRPr/>
          </a:p>
        </p:txBody>
      </p:sp>
      <p:sp>
        <p:nvSpPr>
          <p:cNvPr id="226" name="limits-row-2-bg-2"/>
          <p:cNvSpPr/>
          <p:nvPr/>
        </p:nvSpPr>
        <p:spPr>
          <a:xfrm>
            <a:off x="9066849" y="2721000"/>
            <a:ext cx="2756376" cy="335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limits-row-2-2"/>
          <p:cNvSpPr txBox="1"/>
          <p:nvPr/>
        </p:nvSpPr>
        <p:spPr>
          <a:xfrm>
            <a:off x="9066849" y="2721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100</a:t>
            </a:r>
            <a:endParaRPr/>
          </a:p>
        </p:txBody>
      </p:sp>
      <p:sp>
        <p:nvSpPr>
          <p:cNvPr id="228" name="limits-section-228"/>
          <p:cNvSpPr/>
          <p:nvPr/>
        </p:nvSpPr>
        <p:spPr>
          <a:xfrm>
            <a:off x="338325" y="3056000"/>
            <a:ext cx="11484900" cy="285000"/>
          </a:xfrm>
          <a:prstGeom prst="rect">
            <a:avLst/>
          </a:prstGeom>
          <a:solidFill>
            <a:srgbClr val="E8ECF4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9" name="limits-section-text-229"/>
          <p:cNvSpPr txBox="1"/>
          <p:nvPr/>
        </p:nvSpPr>
        <p:spPr>
          <a:xfrm>
            <a:off x="338325" y="3056000"/>
            <a:ext cx="11484900" cy="28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8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891019"/>
                </a:solidFill>
              </a:rPr>
              <a:t>Per pagination fetchPage call</a:t>
            </a:r>
            <a:endParaRPr/>
          </a:p>
        </p:txBody>
      </p:sp>
      <p:sp>
        <p:nvSpPr>
          <p:cNvPr id="230" name="limits-row-3-bg-0"/>
          <p:cNvSpPr/>
          <p:nvPr/>
        </p:nvSpPr>
        <p:spPr>
          <a:xfrm>
            <a:off x="338325" y="3341000"/>
            <a:ext cx="5972148" cy="3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limits-row-3-0"/>
          <p:cNvSpPr txBox="1"/>
          <p:nvPr/>
        </p:nvSpPr>
        <p:spPr>
          <a:xfrm>
            <a:off x="338325" y="3341000"/>
            <a:ext cx="5972148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4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>
                <a:solidFill>
                  <a:srgbClr val="333333"/>
                </a:solidFill>
              </a:rPr>
              <a:t>Max rows per page</a:t>
            </a:r>
            <a:endParaRPr/>
          </a:p>
        </p:txBody>
      </p:sp>
      <p:sp>
        <p:nvSpPr>
          <p:cNvPr id="232" name="limits-row-3-bg-1"/>
          <p:cNvSpPr/>
          <p:nvPr/>
        </p:nvSpPr>
        <p:spPr>
          <a:xfrm>
            <a:off x="6310473" y="3341000"/>
            <a:ext cx="2756376" cy="3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3" name="limits-row-3-1"/>
          <p:cNvSpPr txBox="1"/>
          <p:nvPr/>
        </p:nvSpPr>
        <p:spPr>
          <a:xfrm>
            <a:off x="6310473" y="3341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2,000</a:t>
            </a:r>
            <a:endParaRPr/>
          </a:p>
        </p:txBody>
      </p:sp>
      <p:sp>
        <p:nvSpPr>
          <p:cNvPr id="234" name="limits-row-3-bg-2"/>
          <p:cNvSpPr/>
          <p:nvPr/>
        </p:nvSpPr>
        <p:spPr>
          <a:xfrm>
            <a:off x="9066849" y="3341000"/>
            <a:ext cx="2756376" cy="3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5" name="limits-row-3-2"/>
          <p:cNvSpPr txBox="1"/>
          <p:nvPr/>
        </p:nvSpPr>
        <p:spPr>
          <a:xfrm>
            <a:off x="9066849" y="3341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—</a:t>
            </a:r>
            <a:endParaRPr/>
          </a:p>
        </p:txBody>
      </p:sp>
      <p:sp>
        <p:nvSpPr>
          <p:cNvPr id="236" name="limits-section-236"/>
          <p:cNvSpPr/>
          <p:nvPr/>
        </p:nvSpPr>
        <p:spPr>
          <a:xfrm>
            <a:off x="338325" y="3676000"/>
            <a:ext cx="11484900" cy="285000"/>
          </a:xfrm>
          <a:prstGeom prst="rect">
            <a:avLst/>
          </a:prstGeom>
          <a:solidFill>
            <a:srgbClr val="E8ECF4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7" name="limits-section-text-237"/>
          <p:cNvSpPr txBox="1"/>
          <p:nvPr/>
        </p:nvSpPr>
        <p:spPr>
          <a:xfrm>
            <a:off x="338325" y="3676000"/>
            <a:ext cx="11484900" cy="28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8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891019"/>
                </a:solidFill>
              </a:rPr>
              <a:t>Per org (rolling 24 hours)</a:t>
            </a:r>
            <a:endParaRPr/>
          </a:p>
        </p:txBody>
      </p:sp>
      <p:sp>
        <p:nvSpPr>
          <p:cNvPr id="238" name="limits-row-4-bg-0"/>
          <p:cNvSpPr/>
          <p:nvPr/>
        </p:nvSpPr>
        <p:spPr>
          <a:xfrm>
            <a:off x="338325" y="3961000"/>
            <a:ext cx="5972148" cy="335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9" name="limits-row-4-0"/>
          <p:cNvSpPr txBox="1"/>
          <p:nvPr/>
        </p:nvSpPr>
        <p:spPr>
          <a:xfrm>
            <a:off x="338325" y="3961000"/>
            <a:ext cx="5972148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4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>
                <a:solidFill>
                  <a:srgbClr val="333333"/>
                </a:solidFill>
              </a:rPr>
              <a:t>Cursor instances opened</a:t>
            </a:r>
            <a:endParaRPr/>
          </a:p>
        </p:txBody>
      </p:sp>
      <p:sp>
        <p:nvSpPr>
          <p:cNvPr id="240" name="limits-row-4-bg-1"/>
          <p:cNvSpPr/>
          <p:nvPr/>
        </p:nvSpPr>
        <p:spPr>
          <a:xfrm>
            <a:off x="6310473" y="3961000"/>
            <a:ext cx="2756376" cy="335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1" name="limits-row-4-1"/>
          <p:cNvSpPr txBox="1"/>
          <p:nvPr/>
        </p:nvSpPr>
        <p:spPr>
          <a:xfrm>
            <a:off x="6310473" y="3961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200,000</a:t>
            </a:r>
            <a:endParaRPr/>
          </a:p>
        </p:txBody>
      </p:sp>
      <p:sp>
        <p:nvSpPr>
          <p:cNvPr id="242" name="limits-row-4-bg-2"/>
          <p:cNvSpPr/>
          <p:nvPr/>
        </p:nvSpPr>
        <p:spPr>
          <a:xfrm>
            <a:off x="9066849" y="3961000"/>
            <a:ext cx="2756376" cy="335000"/>
          </a:xfrm>
          <a:prstGeom prst="rect">
            <a:avLst/>
          </a:prstGeom>
          <a:solidFill>
            <a:srgbClr val="F9FAFC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3" name="limits-row-4-2"/>
          <p:cNvSpPr txBox="1"/>
          <p:nvPr/>
        </p:nvSpPr>
        <p:spPr>
          <a:xfrm>
            <a:off x="9066849" y="3961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10,000</a:t>
            </a:r>
            <a:endParaRPr/>
          </a:p>
        </p:txBody>
      </p:sp>
      <p:sp>
        <p:nvSpPr>
          <p:cNvPr id="244" name="limits-row-5-bg-0"/>
          <p:cNvSpPr/>
          <p:nvPr/>
        </p:nvSpPr>
        <p:spPr>
          <a:xfrm>
            <a:off x="338325" y="4296000"/>
            <a:ext cx="5972148" cy="3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5" name="limits-row-5-0"/>
          <p:cNvSpPr txBox="1"/>
          <p:nvPr/>
        </p:nvSpPr>
        <p:spPr>
          <a:xfrm>
            <a:off x="338325" y="4296000"/>
            <a:ext cx="5972148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110000" rIns="40000" tIns="0" b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>
                <a:solidFill>
                  <a:srgbClr val="333333"/>
                </a:solidFill>
              </a:rPr>
              <a:t>New rows fetched (shared)</a:t>
            </a:r>
            <a:endParaRPr/>
          </a:p>
        </p:txBody>
      </p:sp>
      <p:sp>
        <p:nvSpPr>
          <p:cNvPr id="246" name="limits-row-5-bg-1"/>
          <p:cNvSpPr/>
          <p:nvPr/>
        </p:nvSpPr>
        <p:spPr>
          <a:xfrm>
            <a:off x="6310473" y="4296000"/>
            <a:ext cx="2756376" cy="3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7" name="limits-row-5-1"/>
          <p:cNvSpPr txBox="1"/>
          <p:nvPr/>
        </p:nvSpPr>
        <p:spPr>
          <a:xfrm>
            <a:off x="6310473" y="4296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100,000,000</a:t>
            </a:r>
            <a:endParaRPr/>
          </a:p>
        </p:txBody>
      </p:sp>
      <p:sp>
        <p:nvSpPr>
          <p:cNvPr id="248" name="limits-row-5-bg-2"/>
          <p:cNvSpPr/>
          <p:nvPr/>
        </p:nvSpPr>
        <p:spPr>
          <a:xfrm>
            <a:off x="9066849" y="4296000"/>
            <a:ext cx="2756376" cy="33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9" name="limits-row-5-2"/>
          <p:cNvSpPr txBox="1"/>
          <p:nvPr/>
        </p:nvSpPr>
        <p:spPr>
          <a:xfrm>
            <a:off x="9066849" y="4296000"/>
            <a:ext cx="2756376" cy="335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square" lIns="40000" rIns="40000" tIns="0" b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</a:rPr>
              <a:t>100,000,000</a:t>
            </a:r>
            <a:endParaRPr/>
          </a:p>
        </p:txBody>
      </p:sp>
      <p:sp>
        <p:nvSpPr>
          <p:cNvPr id="239" name="limits-info-panel"/>
          <p:cNvSpPr txBox="1"/>
          <p:nvPr/>
        </p:nvSpPr>
        <p:spPr>
          <a:xfrm>
            <a:off x="338325" y="4731000"/>
            <a:ext cx="11484900" cy="165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t" anchorCtr="0" wrap="square" lIns="115000" rIns="95000" tIns="95000" bIns="95000">
            <a:noAutofit/>
          </a:bodyPr>
          <a:lstStyle/>
          <a:p>
            <a:pPr indent="-285750" lvl="0" marL="457200" rtl="0" algn="l">
              <a:lnSpc>
                <a:spcPct val="112000"/>
              </a:lnSpc>
              <a:spcBef>
                <a:spcPts val="260"/>
              </a:spcBef>
              <a:spcAft>
                <a:spcPts val="0"/>
              </a:spcAft>
              <a:buClr>
                <a:srgbClr val="891019"/>
              </a:buClr>
              <a:buSzPts val="1500"/>
              <a:buChar char="•"/>
            </a:pPr>
            <a:r>
              <a:rPr lang="en-US" sz="1650"/>
              <a:t>Transaction limits apply to each Apex request; daily limits roll per org over 24 hours.</a:t>
            </a:r>
            <a:endParaRPr/>
          </a:p>
          <a:p>
            <a:pPr indent="-285750" lvl="0" marL="45720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Clr>
                <a:srgbClr val="891019"/>
              </a:buClr>
              <a:buSzPts val="1500"/>
              <a:buChar char="•"/>
            </a:pPr>
            <a:r>
              <a:rPr lang="en-US" sz="1650"/>
              <a:t>Fetch calls and daily row counts are shared across standard and pagination cursors.</a:t>
            </a:r>
            <a:endParaRPr/>
          </a:p>
          <a:p>
            <a:pPr indent="-285750" lvl="0" marL="457200" rtl="0" algn="l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Clr>
                <a:srgbClr val="891019"/>
              </a:buClr>
              <a:buSzPts val="1500"/>
              <a:buChar char="•"/>
            </a:pPr>
            <a:r>
              <a:rPr lang="en-US" sz="1650"/>
              <a:t>Cursors expire like API query cursors — see API Query Cursor Limits in Salesforce Help.</a:t>
            </a:r>
            <a:endParaRPr/>
          </a:p>
          <a:p>
            <a:pPr indent="-285750" lvl="0" marL="457200" rtl="0" algn="l">
              <a:lnSpc>
                <a:spcPct val="112000"/>
              </a:lnSpc>
              <a:spcBef>
                <a:spcPts val="150"/>
              </a:spcBef>
              <a:spcAft>
                <a:spcPts val="100"/>
              </a:spcAft>
              <a:buClr>
                <a:srgbClr val="891019"/>
              </a:buClr>
              <a:buSzPts val="1500"/>
              <a:buChar char="•"/>
            </a:pPr>
            <a:r>
              <a:rPr lang="en-US" sz="1650"/>
              <a:t>Aggregate, subselect and virtual object queries are not supported.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Limits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usecase-card-bg-201"/>
          <p:cNvSpPr/>
          <p:nvPr/>
        </p:nvSpPr>
        <p:spPr>
          <a:xfrm>
            <a:off x="338325" y="2741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2" name="usecase-emoji-202"/>
          <p:cNvSpPr txBox="1"/>
          <p:nvPr/>
        </p:nvSpPr>
        <p:spPr>
          <a:xfrm>
            <a:off x="428325" y="3131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☑️</a:t>
            </a:r>
            <a:endParaRPr/>
          </a:p>
        </p:txBody>
      </p:sp>
      <p:sp>
        <p:nvSpPr>
          <p:cNvPr id="203" name="usecase-content-203"/>
          <p:cNvSpPr txBox="1"/>
          <p:nvPr/>
        </p:nvSpPr>
        <p:spPr>
          <a:xfrm>
            <a:off x="858325" y="2826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4A6FA5"/>
                </a:solidFill>
              </a:rPr>
              <a:t>Records to Process Adjustment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Present records to process and let users deselect rows. Pass the cursor and row indexes to ignore into the job.</a:t>
            </a:r>
            <a:endParaRPr/>
          </a:p>
        </p:txBody>
      </p:sp>
      <p:sp>
        <p:nvSpPr>
          <p:cNvPr id="204" name="usecase-card-bg-204"/>
          <p:cNvSpPr/>
          <p:nvPr/>
        </p:nvSpPr>
        <p:spPr>
          <a:xfrm>
            <a:off x="6160775" y="2741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3FAF4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5" name="usecase-emoji-205"/>
          <p:cNvSpPr txBox="1"/>
          <p:nvPr/>
        </p:nvSpPr>
        <p:spPr>
          <a:xfrm>
            <a:off x="6250775" y="3131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🔁</a:t>
            </a:r>
            <a:endParaRPr/>
          </a:p>
        </p:txBody>
      </p:sp>
      <p:sp>
        <p:nvSpPr>
          <p:cNvPr id="206" name="usecase-content-206"/>
          <p:cNvSpPr txBox="1"/>
          <p:nvPr/>
        </p:nvSpPr>
        <p:spPr>
          <a:xfrm>
            <a:off x="6680775" y="2826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5A7A3A"/>
                </a:solidFill>
              </a:rPr>
              <a:t>Repeatable Datasets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Retry processing against the exact original record set.</a:t>
            </a:r>
            <a:endParaRPr/>
          </a:p>
        </p:txBody>
      </p:sp>
      <p:sp>
        <p:nvSpPr>
          <p:cNvPr id="207" name="usecase-card-bg-207"/>
          <p:cNvSpPr/>
          <p:nvPr/>
        </p:nvSpPr>
        <p:spPr>
          <a:xfrm>
            <a:off x="338325" y="3991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FF9F2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8" name="usecase-emoji-208"/>
          <p:cNvSpPr txBox="1"/>
          <p:nvPr/>
        </p:nvSpPr>
        <p:spPr>
          <a:xfrm>
            <a:off x="428325" y="4381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📸</a:t>
            </a:r>
            <a:endParaRPr/>
          </a:p>
        </p:txBody>
      </p:sp>
      <p:sp>
        <p:nvSpPr>
          <p:cNvPr id="209" name="usecase-content-209"/>
          <p:cNvSpPr txBox="1"/>
          <p:nvPr/>
        </p:nvSpPr>
        <p:spPr>
          <a:xfrm>
            <a:off x="858325" y="4076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C47A20"/>
                </a:solidFill>
              </a:rPr>
              <a:t>Point in Time Reporting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Snapshot a record-set selection for the user session.</a:t>
            </a:r>
            <a:endParaRPr/>
          </a:p>
        </p:txBody>
      </p:sp>
      <p:sp>
        <p:nvSpPr>
          <p:cNvPr id="210" name="usecase-card-bg-210"/>
          <p:cNvSpPr/>
          <p:nvPr/>
        </p:nvSpPr>
        <p:spPr>
          <a:xfrm>
            <a:off x="6160775" y="3991500"/>
            <a:ext cx="5662450" cy="112000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>
            <a:noFill/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1" name="usecase-emoji-211"/>
          <p:cNvSpPr txBox="1"/>
          <p:nvPr/>
        </p:nvSpPr>
        <p:spPr>
          <a:xfrm>
            <a:off x="6250775" y="43815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anchor="ctr" anchorCtr="1" wrap="none">
            <a:noAutofit/>
          </a:bodyPr>
          <a:lstStyle/>
          <a:p>
            <a:pPr algn="ctr">
              <a:buNone/>
            </a:pPr>
            <a:r>
              <a:rPr lang="en-US" sz="3200"/>
              <a:t>📋</a:t>
            </a:r>
            <a:endParaRPr/>
          </a:p>
        </p:txBody>
      </p:sp>
      <p:sp>
        <p:nvSpPr>
          <p:cNvPr id="212" name="usecase-content-212"/>
          <p:cNvSpPr txBox="1"/>
          <p:nvPr/>
        </p:nvSpPr>
        <p:spPr>
          <a:xfrm>
            <a:off x="6680775" y="4076500"/>
            <a:ext cx="5057450" cy="950000"/>
          </a:xfrm>
          <a:prstGeom prst="rect">
            <a:avLst/>
          </a:prstGeom>
          <a:noFill/>
          <a:ln>
            <a:noFill/>
          </a:ln>
        </p:spPr>
        <p:txBody>
          <a:bodyPr anchor="t" anchorCtr="0" wrap="square" lIns="27432" rIns="27432" tIns="0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50" b="1">
                <a:solidFill>
                  <a:srgbClr val="2E6DB4"/>
                </a:solidFill>
              </a:rPr>
              <a:t>Simple Queue</a:t>
            </a:r>
            <a:endParaRPr/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</a:rPr>
              <a:t>Create task records and delete when complete — until cursor rows reach zero.</a:t>
            </a:r>
            <a:endParaRPr/>
          </a:p>
        </p:txBody>
      </p:sp>
      <p:sp>
        <p:nvSpPr>
          <p:cNvPr id="118" name="usecases-subtitle"/>
          <p:cNvSpPr txBox="1"/>
          <p:nvPr/>
        </p:nvSpPr>
        <p:spPr>
          <a:xfrm>
            <a:off x="338325" y="995000"/>
            <a:ext cx="11484900" cy="15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Autofit/>
          </a:bodyPr>
          <a:lstStyle/>
          <a:p>
            <a:pPr algn="l">
              <a:buNone/>
            </a:pPr>
            <a:r>
              <a:rPr lang="en-US" sz="1500" i="1">
                <a:solidFill>
                  <a:srgbClr val="666666"/>
                </a:solidFill>
              </a:rPr>
              <a:t>Cursor patterns beyond the three demos</a:t>
            </a:r>
            <a:endParaRPr/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338327" y="90720"/>
            <a:ext cx="11515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1019"/>
              </a:buClr>
              <a:buSzPts val="3200"/>
              <a:buFont typeface="Arial"/>
              <a:buNone/>
            </a:pPr>
            <a:r>
              <a:rPr lang="en-US"/>
              <a:t>Other Use Cases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qa-github-qrcode" title="Session Resourc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8825" y="2700000"/>
            <a:ext cx="1750000" cy="1750000"/>
          </a:xfrm>
          <a:prstGeom prst="rect">
            <a:avLst/>
          </a:prstGeom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</p:pic>
      <p:sp>
        <p:nvSpPr>
          <p:cNvPr id="191" name="qa-github-caption"/>
          <p:cNvSpPr txBox="1"/>
          <p:nvPr/>
        </p:nvSpPr>
        <p:spPr>
          <a:xfrm>
            <a:off x="7538825" y="4540000"/>
            <a:ext cx="3050000" cy="4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91019"/>
            </a:solidFill>
          </a:ln>
          <a:effectLst>
            <a:outerShdw blurRad="50800" dist="31750" dir="2700000" algn="ctr" rotWithShape="0">
              <a:srgbClr val="000000">
                <a:alpha val="28000"/>
              </a:srgbClr>
            </a:outerShdw>
          </a:effectLst>
        </p:spPr>
        <p:txBody>
          <a:bodyPr anchor="ctr" anchorCtr="1" wrap="none" lIns="70000" rIns="70000" tIns="0" bIns="0">
            <a:noAutofit/>
          </a:bodyPr>
          <a:lstStyle/>
          <a:p>
            <a:pPr algn="ctr">
              <a:buNone/>
            </a:pPr>
            <a:r>
              <a:rPr lang="en-US" sz="1350" b="1">
                <a:solidFill>
                  <a:srgbClr val="891019"/>
                </a:solidFill>
                <a:hlinkClick r:id="rId5"/>
              </a:rPr>
              <a:t>View Session Resources</a:t>
            </a:r>
            <a:endParaRPr/>
          </a:p>
        </p:txBody>
      </p:sp>
      <p:sp>
        <p:nvSpPr>
          <p:cNvPr id="188" name="Google Shape;188;p22"/>
          <p:cNvSpPr txBox="1"/>
          <p:nvPr>
            <p:ph type="ctrTitle"/>
          </p:nvPr>
        </p:nvSpPr>
        <p:spPr>
          <a:xfrm>
            <a:off x="360362" y="2691891"/>
            <a:ext cx="109083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050F"/>
              </a:buClr>
              <a:buSzPts val="5400"/>
              <a:buFont typeface="Arial"/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412162" y="4374565"/>
            <a:ext cx="4722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-12065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>
                <a:solidFill>
                  <a:srgbClr val="800000"/>
                </a:solidFill>
              </a:rPr>
              <a:t>Andrew Fawcett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andy@andyinthecloud.com</a:t>
            </a:r>
            <a:r>
              <a:rPr lang="en-US" sz="1900">
                <a:solidFill>
                  <a:srgbClr val="800000"/>
                </a:solidFill>
              </a:rPr>
              <a:t> | LinkedIn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t/>
            </a:r>
            <a:endParaRPr sz="19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Char char="​"/>
            </a:pPr>
            <a:r>
              <a:t/>
            </a:r>
            <a:endParaRPr sz="16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Char char="​"/>
            </a:pPr>
            <a:r>
              <a:rPr lang="en-US" sz="1600">
                <a:solidFill>
                  <a:srgbClr val="800000"/>
                </a:solidFill>
              </a:rPr>
              <a:t>	</a:t>
            </a:r>
            <a:endParaRPr sz="1600">
              <a:solidFill>
                <a:srgbClr val="80000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ctrTitle"/>
          </p:nvPr>
        </p:nvSpPr>
        <p:spPr>
          <a:xfrm>
            <a:off x="360362" y="2691891"/>
            <a:ext cx="109083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050F"/>
              </a:buClr>
              <a:buSzPts val="54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412162" y="4374565"/>
            <a:ext cx="4722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0" wrap="square" tIns="0">
            <a:noAutofit/>
          </a:bodyPr>
          <a:lstStyle/>
          <a:p>
            <a:pPr indent="-12065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>
                <a:solidFill>
                  <a:srgbClr val="800000"/>
                </a:solidFill>
              </a:rPr>
              <a:t>Andrew Fawcett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andy@andyinthecloud.com</a:t>
            </a:r>
            <a:r>
              <a:rPr lang="en-US" sz="1900">
                <a:solidFill>
                  <a:srgbClr val="800000"/>
                </a:solidFill>
              </a:rPr>
              <a:t> | LinkedIn</a:t>
            </a:r>
            <a:endParaRPr sz="1900">
              <a:solidFill>
                <a:srgbClr val="800000"/>
              </a:solidFill>
            </a:endParaRPr>
          </a:p>
          <a:p>
            <a:pPr indent="-1206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Char char="​"/>
            </a:pPr>
            <a:r>
              <a:t/>
            </a:r>
            <a:endParaRPr sz="19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Char char="​"/>
            </a:pPr>
            <a:r>
              <a:t/>
            </a:r>
            <a:endParaRPr sz="1600">
              <a:solidFill>
                <a:srgbClr val="800000"/>
              </a:solidFill>
            </a:endParaRPr>
          </a:p>
          <a:p>
            <a:pPr indent="-10160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Char char="​"/>
            </a:pPr>
            <a:r>
              <a:rPr lang="en-US" sz="1600">
                <a:solidFill>
                  <a:srgbClr val="800000"/>
                </a:solidFill>
              </a:rPr>
              <a:t>	</a:t>
            </a:r>
            <a:endParaRPr sz="1600">
              <a:solidFill>
                <a:srgbClr val="800000"/>
              </a:solidFill>
            </a:endParaRPr>
          </a:p>
          <a:p>
            <a:pPr indent="-120650" lvl="0" marL="0" rtl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900"/>
              <a:buChar char="​"/>
            </a:pPr>
            <a:r>
              <a:t/>
            </a:r>
            <a:endParaRPr sz="1900">
              <a:solidFill>
                <a:srgbClr val="80000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alesforce 2014 Interim">
      <a:dk1>
        <a:srgbClr val="262626"/>
      </a:dk1>
      <a:lt1>
        <a:srgbClr val="FFFFFF"/>
      </a:lt1>
      <a:dk2>
        <a:srgbClr val="003C4D"/>
      </a:dk2>
      <a:lt2>
        <a:srgbClr val="D9E0E2"/>
      </a:lt2>
      <a:accent1>
        <a:srgbClr val="00A1E0"/>
      </a:accent1>
      <a:accent2>
        <a:srgbClr val="7C868D"/>
      </a:accent2>
      <a:accent3>
        <a:srgbClr val="008675"/>
      </a:accent3>
      <a:accent4>
        <a:srgbClr val="5C068C"/>
      </a:accent4>
      <a:accent5>
        <a:srgbClr val="E98300"/>
      </a:accent5>
      <a:accent6>
        <a:srgbClr val="F1C300"/>
      </a:accent6>
      <a:hlink>
        <a:srgbClr val="0075A4"/>
      </a:hlink>
      <a:folHlink>
        <a:srgbClr val="9430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ondon's Calling">
  <a:themeElements>
    <a:clrScheme name="Salesforce Color Pallet - June 2015 2">
      <a:dk1>
        <a:srgbClr val="1C1C1C"/>
      </a:dk1>
      <a:lt1>
        <a:srgbClr val="FFFFFF"/>
      </a:lt1>
      <a:dk2>
        <a:srgbClr val="19325C"/>
      </a:dk2>
      <a:lt2>
        <a:srgbClr val="D0D9DE"/>
      </a:lt2>
      <a:accent1>
        <a:srgbClr val="00A1E0"/>
      </a:accent1>
      <a:accent2>
        <a:srgbClr val="7C868D"/>
      </a:accent2>
      <a:accent3>
        <a:srgbClr val="00B2A9"/>
      </a:accent3>
      <a:accent4>
        <a:srgbClr val="963CBD"/>
      </a:accent4>
      <a:accent5>
        <a:srgbClr val="ED8B00"/>
      </a:accent5>
      <a:accent6>
        <a:srgbClr val="FFC72C"/>
      </a:accent6>
      <a:hlink>
        <a:srgbClr val="001871"/>
      </a:hlink>
      <a:folHlink>
        <a:srgbClr val="963C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